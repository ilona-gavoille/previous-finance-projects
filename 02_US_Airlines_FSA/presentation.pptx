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257" r:id="rId3"/>
    <p:sldId id="258" r:id="rId4"/>
    <p:sldId id="259" r:id="rId5"/>
    <p:sldId id="311" r:id="rId6"/>
    <p:sldId id="285" r:id="rId7"/>
    <p:sldId id="312" r:id="rId8"/>
    <p:sldId id="314" r:id="rId9"/>
    <p:sldId id="315" r:id="rId10"/>
    <p:sldId id="316" r:id="rId11"/>
    <p:sldId id="317" r:id="rId12"/>
    <p:sldId id="318" r:id="rId13"/>
    <p:sldId id="319" r:id="rId14"/>
    <p:sldId id="320" r:id="rId15"/>
    <p:sldId id="321" r:id="rId16"/>
    <p:sldId id="322" r:id="rId17"/>
    <p:sldId id="323" r:id="rId18"/>
    <p:sldId id="325" r:id="rId19"/>
    <p:sldId id="326" r:id="rId20"/>
    <p:sldId id="328" r:id="rId21"/>
    <p:sldId id="329" r:id="rId22"/>
    <p:sldId id="330" r:id="rId23"/>
    <p:sldId id="333" r:id="rId24"/>
    <p:sldId id="335" r:id="rId25"/>
    <p:sldId id="336" r:id="rId26"/>
    <p:sldId id="339" r:id="rId27"/>
    <p:sldId id="341" r:id="rId28"/>
    <p:sldId id="342" r:id="rId29"/>
    <p:sldId id="344" r:id="rId30"/>
    <p:sldId id="346" r:id="rId31"/>
    <p:sldId id="347" r:id="rId32"/>
    <p:sldId id="348" r:id="rId33"/>
    <p:sldId id="350" r:id="rId34"/>
    <p:sldId id="351" r:id="rId35"/>
    <p:sldId id="353" r:id="rId36"/>
    <p:sldId id="354" r:id="rId37"/>
    <p:sldId id="355" r:id="rId38"/>
    <p:sldId id="309" r:id="rId39"/>
  </p:sldIdLst>
  <p:sldSz cx="12192000" cy="6858000"/>
  <p:notesSz cx="6858000" cy="9144000"/>
  <p:embeddedFontLst>
    <p:embeddedFont>
      <p:font typeface="Montserrat" panose="00000500000000000000" pitchFamily="2"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
      <p:font typeface="Open Sans SemiBold" panose="020B070603080402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23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ECC1C5-D464-4648-8D76-6208FC65826C}">
  <a:tblStyle styleId="{87ECC1C5-D464-4648-8D76-6208FC65826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49" autoAdjust="0"/>
    <p:restoredTop sz="74652" autoAdjust="0"/>
  </p:normalViewPr>
  <p:slideViewPr>
    <p:cSldViewPr snapToGrid="0">
      <p:cViewPr>
        <p:scale>
          <a:sx n="66" d="100"/>
          <a:sy n="66" d="100"/>
        </p:scale>
        <p:origin x="1158" y="36"/>
      </p:cViewPr>
      <p:guideLst>
        <p:guide orient="horz" pos="2160"/>
        <p:guide pos="288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e904caf41a_1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3e904caf41a_1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industry has evolved rapidly—from the early 1910s. This evolution wasn't just about better planes; it was about moving from simple transport to a multi-billion-dollar global infrastructure.</a:t>
            </a:r>
            <a:br>
              <a:rPr lang="en-US" dirty="0"/>
            </a:br>
            <a:br>
              <a:rPr lang="en-US" dirty="0"/>
            </a:br>
            <a:r>
              <a:rPr lang="en-US" dirty="0"/>
              <a:t>Today, the global airline industry operates on three distinct tiers: </a:t>
            </a:r>
            <a:r>
              <a:rPr lang="en-US" b="1" dirty="0"/>
              <a:t>International giants</a:t>
            </a:r>
            <a:r>
              <a:rPr lang="en-US" dirty="0"/>
              <a:t>, </a:t>
            </a:r>
            <a:r>
              <a:rPr lang="en-US" b="1" dirty="0"/>
              <a:t>National networks</a:t>
            </a:r>
            <a:r>
              <a:rPr lang="en-US" dirty="0"/>
              <a:t>, and </a:t>
            </a:r>
            <a:r>
              <a:rPr lang="en-US" b="1" dirty="0"/>
              <a:t>Regional carriers</a:t>
            </a:r>
            <a:r>
              <a:rPr lang="en-US" dirty="0"/>
              <a:t>. But regardless of the size, they all face the same core challenge: </a:t>
            </a:r>
            <a:r>
              <a:rPr lang="en-US" b="1" dirty="0"/>
              <a:t>High Capital Intensity.</a:t>
            </a:r>
            <a:r>
              <a:rPr lang="en-US" dirty="0"/>
              <a:t> Whether it is a big carrier or a smaller regional carrier, the cost to build and maintain these fleets is immense, and this </a:t>
            </a:r>
            <a:r>
              <a:rPr lang="en-US" dirty="0" err="1"/>
              <a:t>attributs</a:t>
            </a:r>
            <a:r>
              <a:rPr lang="en-US" dirty="0"/>
              <a:t> specific o our industry will impact our ratios as well</a:t>
            </a:r>
            <a:endParaRPr dirty="0"/>
          </a:p>
        </p:txBody>
      </p:sp>
      <p:sp>
        <p:nvSpPr>
          <p:cNvPr id="92" name="Google Shape;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e904caf41a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First </a:t>
            </a:r>
            <a:r>
              <a:rPr lang="fr-FR" dirty="0" err="1"/>
              <a:t>amercian</a:t>
            </a:r>
            <a:r>
              <a:rPr lang="fr-FR" dirty="0"/>
              <a:t>, delta and </a:t>
            </a:r>
            <a:r>
              <a:rPr lang="fr-FR" dirty="0" err="1"/>
              <a:t>united</a:t>
            </a:r>
            <a:r>
              <a:rPr lang="fr-FR" dirty="0"/>
              <a:t> are part of the 4 </a:t>
            </a:r>
            <a:r>
              <a:rPr lang="fr-FR" dirty="0" err="1"/>
              <a:t>biggest</a:t>
            </a:r>
            <a:r>
              <a:rPr lang="fr-FR" dirty="0"/>
              <a:t> </a:t>
            </a:r>
            <a:r>
              <a:rPr lang="fr-FR" dirty="0" err="1"/>
              <a:t>airlines</a:t>
            </a:r>
            <a:r>
              <a:rPr lang="fr-FR" dirty="0"/>
              <a:t> in the US, </a:t>
            </a:r>
            <a:r>
              <a:rPr lang="fr-FR" dirty="0" err="1"/>
              <a:t>with</a:t>
            </a:r>
            <a:r>
              <a:rPr lang="fr-FR" dirty="0"/>
              <a:t> </a:t>
            </a:r>
            <a:r>
              <a:rPr lang="fr-FR" dirty="0" err="1"/>
              <a:t>Soutwhest</a:t>
            </a:r>
            <a:r>
              <a:rPr lang="fr-FR" dirty="0"/>
              <a:t> as the 4th. They are massive </a:t>
            </a:r>
            <a:r>
              <a:rPr lang="fr-FR" dirty="0" err="1"/>
              <a:t>domestic</a:t>
            </a:r>
            <a:r>
              <a:rPr lang="fr-FR" dirty="0"/>
              <a:t> and international network carriers, </a:t>
            </a:r>
            <a:r>
              <a:rPr lang="fr-FR" dirty="0" err="1"/>
              <a:t>with</a:t>
            </a:r>
            <a:r>
              <a:rPr lang="fr-FR" dirty="0"/>
              <a:t> </a:t>
            </a:r>
            <a:r>
              <a:rPr lang="fr-FR" dirty="0" err="1"/>
              <a:t>around</a:t>
            </a:r>
            <a:r>
              <a:rPr lang="fr-FR" dirty="0"/>
              <a:t> 1000 </a:t>
            </a:r>
            <a:r>
              <a:rPr lang="fr-FR" dirty="0" err="1"/>
              <a:t>thousands</a:t>
            </a:r>
            <a:r>
              <a:rPr lang="fr-FR" dirty="0"/>
              <a:t> </a:t>
            </a:r>
            <a:r>
              <a:rPr lang="fr-FR" dirty="0" err="1"/>
              <a:t>aircraft</a:t>
            </a:r>
            <a:r>
              <a:rPr lang="fr-FR" dirty="0"/>
              <a:t> </a:t>
            </a:r>
            <a:r>
              <a:rPr lang="fr-FR" dirty="0" err="1"/>
              <a:t>each</a:t>
            </a: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r>
              <a:rPr lang="fr-FR" dirty="0"/>
              <a:t>Southwest is the </a:t>
            </a:r>
            <a:r>
              <a:rPr lang="fr-FR" dirty="0" err="1"/>
              <a:t>efifiency</a:t>
            </a:r>
            <a:r>
              <a:rPr lang="fr-FR" dirty="0"/>
              <a:t> master </a:t>
            </a:r>
            <a:r>
              <a:rPr lang="en-US" dirty="0"/>
              <a:t>., with their low-cost model, part of the big floor</a:t>
            </a:r>
          </a:p>
          <a:p>
            <a:pPr marL="0" lvl="0" indent="0" algn="l" rtl="0">
              <a:spcBef>
                <a:spcPts val="0"/>
              </a:spcBef>
              <a:spcAft>
                <a:spcPts val="0"/>
              </a:spcAft>
              <a:buNone/>
            </a:pPr>
            <a:r>
              <a:rPr lang="en-US" dirty="0"/>
              <a:t>The 4 of them represent more than 75% of the US </a:t>
            </a:r>
            <a:r>
              <a:rPr lang="fr-FR" dirty="0" err="1"/>
              <a:t>domestic</a:t>
            </a:r>
            <a:r>
              <a:rPr lang="fr-FR" dirty="0"/>
              <a:t> </a:t>
            </a:r>
            <a:r>
              <a:rPr lang="fr-FR" dirty="0" err="1"/>
              <a:t>airline</a:t>
            </a:r>
            <a:r>
              <a:rPr lang="fr-FR" dirty="0"/>
              <a:t> </a:t>
            </a:r>
            <a:r>
              <a:rPr lang="fr-FR" dirty="0" err="1"/>
              <a:t>capacity</a:t>
            </a: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r>
              <a:rPr lang="en-US" dirty="0"/>
              <a:t>Alaska Airlines (ALK): The Regional Stabilizer</a:t>
            </a:r>
            <a:endParaRPr dirty="0"/>
          </a:p>
        </p:txBody>
      </p:sp>
      <p:sp>
        <p:nvSpPr>
          <p:cNvPr id="120" name="Google Shape;120;g3e904caf41a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e904caf41a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The Financial DNA:</a:t>
            </a:r>
            <a:r>
              <a:rPr lang="en-US" dirty="0"/>
              <a:t> JetBlue occupies a difficult middle ground. They have high fixed costs but lack the massive scale of the "Big Three" or the ultra-low costs of the budget carriers</a:t>
            </a:r>
          </a:p>
          <a:p>
            <a:pPr marL="0" lvl="0" indent="0" algn="l" rtl="0">
              <a:spcBef>
                <a:spcPts val="0"/>
              </a:spcBef>
              <a:spcAft>
                <a:spcPts val="0"/>
              </a:spcAft>
              <a:buNone/>
            </a:pPr>
            <a:endParaRPr lang="en-US" dirty="0"/>
          </a:p>
          <a:p>
            <a:r>
              <a:rPr lang="en-US" b="1" dirty="0"/>
              <a:t>Allegiant Air (ALGT): </a:t>
            </a:r>
            <a:r>
              <a:rPr lang="en-US" dirty="0"/>
              <a:t>The "niche" volume carrier., also have hospitality service focusing on leisure passengers with low-cost </a:t>
            </a:r>
            <a:r>
              <a:rPr lang="en-US" dirty="0" err="1"/>
              <a:t>modlek</a:t>
            </a:r>
            <a:endParaRPr lang="en-US" dirty="0"/>
          </a:p>
          <a:p>
            <a:endParaRPr lang="en-US" dirty="0"/>
          </a:p>
          <a:p>
            <a:endParaRPr lang="en-US" dirty="0"/>
          </a:p>
          <a:p>
            <a:endParaRPr lang="en-US" dirty="0"/>
          </a:p>
          <a:p>
            <a:r>
              <a:rPr lang="en-US" b="1" dirty="0"/>
              <a:t>Frontier (ULCC): The Ultra-Low-Cost Fighter</a:t>
            </a:r>
            <a:endParaRPr lang="en-US" dirty="0"/>
          </a:p>
          <a:p>
            <a:r>
              <a:rPr lang="en-US" dirty="0"/>
              <a:t>A pure-play low-cost carrier.</a:t>
            </a:r>
          </a:p>
          <a:p>
            <a:r>
              <a:rPr lang="en-US"/>
              <a:t>They </a:t>
            </a:r>
            <a:r>
              <a:rPr lang="en-US" dirty="0"/>
              <a:t>live and die by volume.</a:t>
            </a:r>
          </a:p>
          <a:p>
            <a:endParaRPr lang="en-US" dirty="0"/>
          </a:p>
          <a:p>
            <a:pPr marL="0" lvl="0" indent="0" algn="l" rtl="0">
              <a:spcBef>
                <a:spcPts val="0"/>
              </a:spcBef>
              <a:spcAft>
                <a:spcPts val="0"/>
              </a:spcAft>
              <a:buNone/>
            </a:pPr>
            <a:endParaRPr dirty="0"/>
          </a:p>
        </p:txBody>
      </p:sp>
      <p:sp>
        <p:nvSpPr>
          <p:cNvPr id="131" name="Google Shape;131;g3e904caf41a_1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8D0D305-5257-4EDA-51E4-146339B0F7AE}"/>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7C30D759-E2F4-65EC-5932-114946C2E8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dirty="0" err="1"/>
              <a:t>Let’s</a:t>
            </a:r>
            <a:r>
              <a:rPr lang="fr-FR" dirty="0"/>
              <a:t> start </a:t>
            </a:r>
            <a:r>
              <a:rPr lang="fr-FR" dirty="0" err="1"/>
              <a:t>with</a:t>
            </a:r>
            <a:r>
              <a:rPr lang="fr-FR" dirty="0"/>
              <a:t> the short-</a:t>
            </a:r>
            <a:r>
              <a:rPr lang="fr-FR" dirty="0" err="1"/>
              <a:t>term</a:t>
            </a:r>
            <a:r>
              <a:rPr lang="fr-FR" dirty="0"/>
              <a:t> </a:t>
            </a:r>
            <a:r>
              <a:rPr lang="fr-FR" dirty="0" err="1"/>
              <a:t>liquidity</a:t>
            </a:r>
            <a:r>
              <a:rPr lang="fr-FR" dirty="0"/>
              <a:t> ratios</a:t>
            </a:r>
          </a:p>
          <a:p>
            <a:pPr marL="171450" lvl="0" indent="-171450" algn="l" rtl="0">
              <a:spcBef>
                <a:spcPts val="0"/>
              </a:spcBef>
              <a:spcAft>
                <a:spcPts val="0"/>
              </a:spcAft>
            </a:pPr>
            <a:r>
              <a:rPr lang="fr-FR" dirty="0"/>
              <a:t>The </a:t>
            </a:r>
            <a:r>
              <a:rPr lang="fr-FR" dirty="0" err="1"/>
              <a:t>working</a:t>
            </a:r>
            <a:r>
              <a:rPr lang="fr-FR" dirty="0"/>
              <a:t> capital is the </a:t>
            </a:r>
            <a:r>
              <a:rPr lang="en-US" dirty="0"/>
              <a:t>difference between a company’s current assets and current liabilities. It shows how much short-term cash a company has to run its daily operations .</a:t>
            </a:r>
            <a:r>
              <a:rPr lang="fr-FR" dirty="0" err="1"/>
              <a:t>so</a:t>
            </a:r>
            <a:r>
              <a:rPr lang="fr-FR" dirty="0"/>
              <a:t> it is </a:t>
            </a:r>
            <a:r>
              <a:rPr lang="fr-FR" dirty="0" err="1"/>
              <a:t>preferreabily</a:t>
            </a:r>
            <a:r>
              <a:rPr lang="fr-FR" dirty="0"/>
              <a:t> positive</a:t>
            </a:r>
          </a:p>
          <a:p>
            <a:pPr marL="171450" lvl="0" indent="-171450" algn="l" rtl="0">
              <a:spcBef>
                <a:spcPts val="0"/>
              </a:spcBef>
              <a:spcAft>
                <a:spcPts val="0"/>
              </a:spcAft>
            </a:pPr>
            <a:r>
              <a:rPr lang="fr-FR" dirty="0" err="1"/>
              <a:t>Paradoxically</a:t>
            </a:r>
            <a:r>
              <a:rPr lang="fr-FR" dirty="0"/>
              <a:t> </a:t>
            </a:r>
            <a:r>
              <a:rPr lang="fr-FR" dirty="0" err="1"/>
              <a:t>here</a:t>
            </a:r>
            <a:r>
              <a:rPr lang="fr-FR" dirty="0"/>
              <a:t>, the BAD portfolio </a:t>
            </a:r>
            <a:r>
              <a:rPr lang="fr-FR" dirty="0" err="1"/>
              <a:t>with</a:t>
            </a:r>
            <a:r>
              <a:rPr lang="fr-FR" dirty="0"/>
              <a:t> </a:t>
            </a:r>
            <a:r>
              <a:rPr lang="fr-FR" dirty="0" err="1"/>
              <a:t>lower</a:t>
            </a:r>
            <a:r>
              <a:rPr lang="fr-FR" dirty="0"/>
              <a:t> </a:t>
            </a:r>
            <a:r>
              <a:rPr lang="fr-FR" dirty="0" err="1"/>
              <a:t>working</a:t>
            </a:r>
            <a:r>
              <a:rPr lang="fr-FR" dirty="0"/>
              <a:t> capital </a:t>
            </a:r>
            <a:r>
              <a:rPr lang="fr-FR" dirty="0" err="1"/>
              <a:t>concistently</a:t>
            </a:r>
            <a:r>
              <a:rPr lang="fr-FR" dirty="0"/>
              <a:t> </a:t>
            </a:r>
            <a:r>
              <a:rPr lang="fr-FR" dirty="0" err="1"/>
              <a:t>outperforms</a:t>
            </a:r>
            <a:r>
              <a:rPr lang="fr-FR" dirty="0"/>
              <a:t> the GOOD portfolio over the 24 </a:t>
            </a:r>
            <a:r>
              <a:rPr lang="fr-FR" dirty="0" err="1"/>
              <a:t>months</a:t>
            </a:r>
            <a:endParaRPr lang="fr-FR" dirty="0"/>
          </a:p>
          <a:p>
            <a:pPr marL="171450" lvl="0" indent="-171450" algn="l" rtl="0">
              <a:spcBef>
                <a:spcPts val="0"/>
              </a:spcBef>
              <a:spcAft>
                <a:spcPts val="0"/>
              </a:spcAft>
            </a:pPr>
            <a:r>
              <a:rPr lang="fr-FR" dirty="0"/>
              <a:t>This inversion </a:t>
            </a:r>
            <a:r>
              <a:rPr lang="fr-FR" dirty="0" err="1"/>
              <a:t>happens</a:t>
            </a:r>
            <a:r>
              <a:rPr lang="fr-FR" dirty="0"/>
              <a:t> because </a:t>
            </a:r>
            <a:r>
              <a:rPr lang="fr-FR" dirty="0" err="1"/>
              <a:t>working</a:t>
            </a:r>
            <a:r>
              <a:rPr lang="fr-FR" dirty="0"/>
              <a:t> capital is </a:t>
            </a:r>
            <a:r>
              <a:rPr lang="fr-FR" dirty="0" err="1"/>
              <a:t>mesured</a:t>
            </a:r>
            <a:r>
              <a:rPr lang="fr-FR" dirty="0"/>
              <a:t> in </a:t>
            </a:r>
            <a:r>
              <a:rPr lang="fr-FR" dirty="0" err="1"/>
              <a:t>raw</a:t>
            </a:r>
            <a:r>
              <a:rPr lang="fr-FR" dirty="0"/>
              <a:t> dollar </a:t>
            </a:r>
            <a:r>
              <a:rPr lang="fr-FR" dirty="0" err="1"/>
              <a:t>amounts</a:t>
            </a:r>
            <a:r>
              <a:rPr lang="fr-FR" dirty="0"/>
              <a:t>. SO </a:t>
            </a:r>
            <a:r>
              <a:rPr lang="fr-FR" dirty="0" err="1"/>
              <a:t>huge</a:t>
            </a:r>
            <a:r>
              <a:rPr lang="fr-FR" dirty="0"/>
              <a:t> </a:t>
            </a:r>
            <a:r>
              <a:rPr lang="fr-FR" dirty="0" err="1"/>
              <a:t>legacy</a:t>
            </a:r>
            <a:r>
              <a:rPr lang="fr-FR" dirty="0"/>
              <a:t> </a:t>
            </a:r>
            <a:r>
              <a:rPr lang="fr-FR" dirty="0" err="1"/>
              <a:t>airlines</a:t>
            </a:r>
            <a:r>
              <a:rPr lang="fr-FR" dirty="0"/>
              <a:t> like delta or </a:t>
            </a:r>
            <a:r>
              <a:rPr lang="fr-FR" dirty="0" err="1"/>
              <a:t>american</a:t>
            </a:r>
            <a:r>
              <a:rPr lang="fr-FR" dirty="0"/>
              <a:t> can </a:t>
            </a:r>
            <a:r>
              <a:rPr lang="fr-FR" dirty="0" err="1"/>
              <a:t>distort</a:t>
            </a:r>
            <a:r>
              <a:rPr lang="fr-FR" dirty="0"/>
              <a:t> the </a:t>
            </a:r>
            <a:r>
              <a:rPr lang="fr-FR" dirty="0" err="1"/>
              <a:t>numbers</a:t>
            </a:r>
            <a:r>
              <a:rPr lang="fr-FR" dirty="0"/>
              <a:t> </a:t>
            </a:r>
            <a:r>
              <a:rPr lang="fr-FR" dirty="0" err="1"/>
              <a:t>just</a:t>
            </a:r>
            <a:r>
              <a:rPr lang="fr-FR" dirty="0"/>
              <a:t> because </a:t>
            </a:r>
            <a:r>
              <a:rPr lang="fr-FR" dirty="0" err="1"/>
              <a:t>they</a:t>
            </a:r>
            <a:r>
              <a:rPr lang="fr-FR" dirty="0"/>
              <a:t> </a:t>
            </a:r>
            <a:r>
              <a:rPr lang="fr-FR" dirty="0" err="1"/>
              <a:t>operate</a:t>
            </a:r>
            <a:r>
              <a:rPr lang="fr-FR" dirty="0"/>
              <a:t> at a </a:t>
            </a:r>
            <a:r>
              <a:rPr lang="fr-FR" dirty="0" err="1"/>
              <a:t>much</a:t>
            </a:r>
            <a:r>
              <a:rPr lang="fr-FR" dirty="0"/>
              <a:t> </a:t>
            </a:r>
            <a:r>
              <a:rPr lang="fr-FR" dirty="0" err="1"/>
              <a:t>larger</a:t>
            </a:r>
            <a:r>
              <a:rPr lang="fr-FR" dirty="0"/>
              <a:t> </a:t>
            </a:r>
            <a:r>
              <a:rPr lang="fr-FR" dirty="0" err="1"/>
              <a:t>scale</a:t>
            </a:r>
            <a:endParaRPr dirty="0"/>
          </a:p>
        </p:txBody>
      </p:sp>
      <p:sp>
        <p:nvSpPr>
          <p:cNvPr id="142" name="Google Shape;142;g3e904caf41a_1_72:notes">
            <a:extLst>
              <a:ext uri="{FF2B5EF4-FFF2-40B4-BE49-F238E27FC236}">
                <a16:creationId xmlns:a16="http://schemas.microsoft.com/office/drawing/2014/main" id="{E1237780-0DAE-40E5-97FB-67B0948D97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635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9A454AB-5D6D-62A6-BA80-A56C98CF5BF0}"/>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30DEAA89-50F8-3D62-C12F-87AD878BC6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dirty="0"/>
              <a:t>That is </a:t>
            </a:r>
            <a:r>
              <a:rPr lang="fr-FR" dirty="0" err="1"/>
              <a:t>why</a:t>
            </a:r>
            <a:r>
              <a:rPr lang="fr-FR" dirty="0"/>
              <a:t>, </a:t>
            </a:r>
            <a:r>
              <a:rPr lang="fr-FR" dirty="0" err="1"/>
              <a:t>we</a:t>
            </a:r>
            <a:r>
              <a:rPr lang="fr-FR" dirty="0"/>
              <a:t> look at the Working Capital Ratio, which is </a:t>
            </a:r>
            <a:r>
              <a:rPr lang="fr-FR" dirty="0" err="1"/>
              <a:t>working</a:t>
            </a:r>
            <a:r>
              <a:rPr lang="fr-FR" dirty="0"/>
              <a:t> capital </a:t>
            </a:r>
            <a:r>
              <a:rPr lang="fr-FR" dirty="0" err="1"/>
              <a:t>divided</a:t>
            </a:r>
            <a:r>
              <a:rPr lang="fr-FR" dirty="0"/>
              <a:t> by Total Assets, in order to </a:t>
            </a:r>
            <a:r>
              <a:rPr lang="fr-FR" dirty="0" err="1"/>
              <a:t>eliminate</a:t>
            </a:r>
            <a:r>
              <a:rPr lang="fr-FR" dirty="0"/>
              <a:t> this size </a:t>
            </a:r>
            <a:r>
              <a:rPr lang="fr-FR" dirty="0" err="1"/>
              <a:t>bias</a:t>
            </a:r>
            <a:r>
              <a:rPr lang="fr-FR" dirty="0"/>
              <a:t>.</a:t>
            </a:r>
          </a:p>
          <a:p>
            <a:pPr marL="171450" lvl="0" indent="-171450" algn="l" rtl="0">
              <a:spcBef>
                <a:spcPts val="0"/>
              </a:spcBef>
              <a:spcAft>
                <a:spcPts val="0"/>
              </a:spcAft>
            </a:pPr>
            <a:r>
              <a:rPr lang="fr-FR" dirty="0"/>
              <a:t>So </a:t>
            </a:r>
            <a:r>
              <a:rPr lang="fr-FR" dirty="0" err="1"/>
              <a:t>we</a:t>
            </a:r>
            <a:r>
              <a:rPr lang="fr-FR" dirty="0"/>
              <a:t> can </a:t>
            </a:r>
            <a:r>
              <a:rPr lang="fr-FR" dirty="0" err="1"/>
              <a:t>see</a:t>
            </a:r>
            <a:r>
              <a:rPr lang="fr-FR" dirty="0"/>
              <a:t> a </a:t>
            </a:r>
            <a:r>
              <a:rPr lang="fr-FR" dirty="0" err="1"/>
              <a:t>clear</a:t>
            </a:r>
            <a:r>
              <a:rPr lang="fr-FR" dirty="0"/>
              <a:t> </a:t>
            </a:r>
            <a:r>
              <a:rPr lang="fr-FR" dirty="0" err="1"/>
              <a:t>difference</a:t>
            </a:r>
            <a:r>
              <a:rPr lang="fr-FR" dirty="0"/>
              <a:t> </a:t>
            </a:r>
            <a:r>
              <a:rPr lang="fr-FR" dirty="0" err="1"/>
              <a:t>now</a:t>
            </a:r>
            <a:r>
              <a:rPr lang="fr-FR" dirty="0"/>
              <a:t>, </a:t>
            </a:r>
            <a:r>
              <a:rPr lang="fr-FR" dirty="0" err="1"/>
              <a:t>since</a:t>
            </a:r>
            <a:r>
              <a:rPr lang="fr-FR" dirty="0"/>
              <a:t> GOOD portfolio </a:t>
            </a:r>
            <a:r>
              <a:rPr lang="fr-FR" dirty="0" err="1"/>
              <a:t>clearly</a:t>
            </a:r>
            <a:r>
              <a:rPr lang="fr-FR" dirty="0"/>
              <a:t> </a:t>
            </a:r>
            <a:r>
              <a:rPr lang="fr-FR" dirty="0" err="1"/>
              <a:t>outperfoms</a:t>
            </a:r>
            <a:r>
              <a:rPr lang="fr-FR" dirty="0"/>
              <a:t> the BAD portfolio, </a:t>
            </a:r>
            <a:r>
              <a:rPr lang="fr-FR" dirty="0" err="1"/>
              <a:t>especially</a:t>
            </a:r>
            <a:r>
              <a:rPr lang="fr-FR" dirty="0"/>
              <a:t> </a:t>
            </a:r>
            <a:r>
              <a:rPr lang="fr-FR" dirty="0" err="1"/>
              <a:t>after</a:t>
            </a:r>
            <a:r>
              <a:rPr lang="fr-FR" dirty="0"/>
              <a:t> the </a:t>
            </a:r>
            <a:r>
              <a:rPr lang="fr-FR" dirty="0" err="1"/>
              <a:t>month</a:t>
            </a:r>
            <a:r>
              <a:rPr lang="fr-FR" dirty="0"/>
              <a:t> 14</a:t>
            </a:r>
          </a:p>
          <a:p>
            <a:pPr marL="171450" lvl="0" indent="-171450" algn="l" rtl="0">
              <a:spcBef>
                <a:spcPts val="0"/>
              </a:spcBef>
              <a:spcAft>
                <a:spcPts val="0"/>
              </a:spcAft>
            </a:pPr>
            <a:r>
              <a:rPr lang="fr-FR" dirty="0"/>
              <a:t>So it </a:t>
            </a:r>
            <a:r>
              <a:rPr lang="fr-FR" dirty="0" err="1"/>
              <a:t>proves</a:t>
            </a:r>
            <a:r>
              <a:rPr lang="fr-FR" dirty="0"/>
              <a:t> that </a:t>
            </a:r>
            <a:r>
              <a:rPr lang="fr-FR" dirty="0" err="1"/>
              <a:t>liquidity</a:t>
            </a:r>
            <a:r>
              <a:rPr lang="fr-FR" dirty="0"/>
              <a:t> is a factor that drives </a:t>
            </a:r>
            <a:r>
              <a:rPr lang="fr-FR" dirty="0" err="1"/>
              <a:t>superior</a:t>
            </a:r>
            <a:r>
              <a:rPr lang="fr-FR" dirty="0"/>
              <a:t> </a:t>
            </a:r>
            <a:r>
              <a:rPr lang="fr-FR" dirty="0" err="1"/>
              <a:t>returns</a:t>
            </a:r>
            <a:r>
              <a:rPr lang="fr-FR" dirty="0"/>
              <a:t>, more on the long run</a:t>
            </a:r>
            <a:endParaRPr dirty="0"/>
          </a:p>
        </p:txBody>
      </p:sp>
      <p:sp>
        <p:nvSpPr>
          <p:cNvPr id="142" name="Google Shape;142;g3e904caf41a_1_72:notes">
            <a:extLst>
              <a:ext uri="{FF2B5EF4-FFF2-40B4-BE49-F238E27FC236}">
                <a16:creationId xmlns:a16="http://schemas.microsoft.com/office/drawing/2014/main" id="{E2327CCD-953B-C74E-F51E-3D0AE1BF62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9124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715F8F3-C086-E7D7-C958-F5EC0BAA57D1}"/>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9EF9A955-8186-F848-63DB-AA7D692B9C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dirty="0"/>
              <a:t>And </a:t>
            </a:r>
            <a:r>
              <a:rPr lang="fr-FR" dirty="0" err="1"/>
              <a:t>looking</a:t>
            </a:r>
            <a:r>
              <a:rPr lang="fr-FR" dirty="0"/>
              <a:t> at the Industry </a:t>
            </a:r>
            <a:r>
              <a:rPr lang="fr-FR" dirty="0" err="1"/>
              <a:t>Average</a:t>
            </a:r>
            <a:r>
              <a:rPr lang="fr-FR" dirty="0"/>
              <a:t>, </a:t>
            </a:r>
            <a:r>
              <a:rPr lang="fr-FR" dirty="0" err="1"/>
              <a:t>here</a:t>
            </a:r>
            <a:r>
              <a:rPr lang="fr-FR" dirty="0"/>
              <a:t> in green, it </a:t>
            </a:r>
            <a:r>
              <a:rPr lang="fr-FR" dirty="0" err="1"/>
              <a:t>seems</a:t>
            </a:r>
            <a:r>
              <a:rPr lang="fr-FR" dirty="0"/>
              <a:t> that </a:t>
            </a:r>
            <a:r>
              <a:rPr lang="fr-FR" dirty="0" err="1"/>
              <a:t>airlines</a:t>
            </a:r>
            <a:r>
              <a:rPr lang="fr-FR" dirty="0"/>
              <a:t> </a:t>
            </a:r>
            <a:r>
              <a:rPr lang="fr-FR" dirty="0" err="1"/>
              <a:t>with</a:t>
            </a:r>
            <a:r>
              <a:rPr lang="fr-FR" dirty="0"/>
              <a:t> </a:t>
            </a:r>
            <a:r>
              <a:rPr lang="fr-FR" dirty="0" err="1"/>
              <a:t>strong</a:t>
            </a:r>
            <a:r>
              <a:rPr lang="fr-FR" dirty="0"/>
              <a:t> </a:t>
            </a:r>
            <a:r>
              <a:rPr lang="fr-FR" dirty="0" err="1"/>
              <a:t>working</a:t>
            </a:r>
            <a:r>
              <a:rPr lang="fr-FR" dirty="0"/>
              <a:t> capital </a:t>
            </a:r>
            <a:r>
              <a:rPr lang="fr-FR" dirty="0" err="1"/>
              <a:t>closely</a:t>
            </a:r>
            <a:r>
              <a:rPr lang="fr-FR" dirty="0"/>
              <a:t> </a:t>
            </a:r>
            <a:r>
              <a:rPr lang="fr-FR" dirty="0" err="1"/>
              <a:t>track</a:t>
            </a:r>
            <a:r>
              <a:rPr lang="fr-FR" dirty="0"/>
              <a:t> or </a:t>
            </a:r>
            <a:r>
              <a:rPr lang="fr-FR" dirty="0" err="1"/>
              <a:t>sometimes</a:t>
            </a:r>
            <a:r>
              <a:rPr lang="fr-FR" dirty="0"/>
              <a:t> </a:t>
            </a:r>
            <a:r>
              <a:rPr lang="fr-FR" dirty="0" err="1"/>
              <a:t>even</a:t>
            </a:r>
            <a:r>
              <a:rPr lang="fr-FR" dirty="0"/>
              <a:t> beat the </a:t>
            </a:r>
            <a:r>
              <a:rPr lang="fr-FR" dirty="0" err="1"/>
              <a:t>the</a:t>
            </a:r>
            <a:r>
              <a:rPr lang="fr-FR" dirty="0"/>
              <a:t> Industry </a:t>
            </a:r>
            <a:r>
              <a:rPr lang="fr-FR" dirty="0" err="1"/>
              <a:t>Average</a:t>
            </a:r>
            <a:r>
              <a:rPr lang="fr-FR" dirty="0"/>
              <a:t>, </a:t>
            </a:r>
            <a:r>
              <a:rPr lang="fr-FR" dirty="0" err="1"/>
              <a:t>while</a:t>
            </a:r>
            <a:r>
              <a:rPr lang="fr-FR" dirty="0"/>
              <a:t> the BAD group </a:t>
            </a:r>
            <a:r>
              <a:rPr lang="fr-FR" dirty="0" err="1"/>
              <a:t>stays</a:t>
            </a:r>
            <a:r>
              <a:rPr lang="fr-FR" dirty="0"/>
              <a:t> </a:t>
            </a:r>
            <a:r>
              <a:rPr lang="fr-FR" dirty="0" err="1"/>
              <a:t>clearly</a:t>
            </a:r>
            <a:r>
              <a:rPr lang="fr-FR" dirty="0"/>
              <a:t> </a:t>
            </a:r>
            <a:r>
              <a:rPr lang="fr-FR" dirty="0" err="1"/>
              <a:t>behind</a:t>
            </a:r>
            <a:r>
              <a:rPr lang="fr-FR" dirty="0"/>
              <a:t>/</a:t>
            </a:r>
            <a:r>
              <a:rPr lang="fr-FR" dirty="0" err="1"/>
              <a:t>under</a:t>
            </a:r>
            <a:r>
              <a:rPr lang="fr-FR" dirty="0"/>
              <a:t> the </a:t>
            </a:r>
            <a:r>
              <a:rPr lang="fr-FR" dirty="0" err="1"/>
              <a:t>market</a:t>
            </a:r>
            <a:endParaRPr dirty="0"/>
          </a:p>
        </p:txBody>
      </p:sp>
      <p:sp>
        <p:nvSpPr>
          <p:cNvPr id="142" name="Google Shape;142;g3e904caf41a_1_72:notes">
            <a:extLst>
              <a:ext uri="{FF2B5EF4-FFF2-40B4-BE49-F238E27FC236}">
                <a16:creationId xmlns:a16="http://schemas.microsoft.com/office/drawing/2014/main" id="{EA70EF25-EC51-6BDA-4E76-18222BB16B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5488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2EE1BDE-A1B1-9E20-613E-C99F3FEA6679}"/>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698902E0-C595-1245-254E-79299DA66E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dirty="0"/>
              <a:t>So </a:t>
            </a:r>
            <a:r>
              <a:rPr lang="fr-FR" dirty="0" err="1"/>
              <a:t>current</a:t>
            </a:r>
            <a:r>
              <a:rPr lang="fr-FR" dirty="0"/>
              <a:t> Ratio </a:t>
            </a:r>
            <a:r>
              <a:rPr lang="fr-FR" dirty="0" err="1"/>
              <a:t>evaluates</a:t>
            </a:r>
            <a:r>
              <a:rPr lang="fr-FR" dirty="0"/>
              <a:t> </a:t>
            </a:r>
            <a:r>
              <a:rPr lang="fr-FR" dirty="0" err="1"/>
              <a:t>whether</a:t>
            </a:r>
            <a:r>
              <a:rPr lang="fr-FR" dirty="0"/>
              <a:t> a </a:t>
            </a:r>
            <a:r>
              <a:rPr lang="fr-FR" dirty="0" err="1"/>
              <a:t>company</a:t>
            </a:r>
            <a:r>
              <a:rPr lang="fr-FR" dirty="0"/>
              <a:t> can cover </a:t>
            </a:r>
            <a:r>
              <a:rPr lang="fr-FR" dirty="0" err="1"/>
              <a:t>its</a:t>
            </a:r>
            <a:r>
              <a:rPr lang="fr-FR" dirty="0"/>
              <a:t> short-ter obligations </a:t>
            </a:r>
            <a:r>
              <a:rPr lang="fr-FR" dirty="0" err="1"/>
              <a:t>with</a:t>
            </a:r>
            <a:r>
              <a:rPr lang="fr-FR" dirty="0"/>
              <a:t> </a:t>
            </a:r>
            <a:r>
              <a:rPr lang="fr-FR" dirty="0" err="1"/>
              <a:t>its</a:t>
            </a:r>
            <a:r>
              <a:rPr lang="fr-FR" dirty="0"/>
              <a:t> short-</a:t>
            </a:r>
            <a:r>
              <a:rPr lang="fr-FR" dirty="0" err="1"/>
              <a:t>term</a:t>
            </a:r>
            <a:r>
              <a:rPr lang="fr-FR" dirty="0"/>
              <a:t> </a:t>
            </a:r>
            <a:r>
              <a:rPr lang="fr-FR" dirty="0" err="1"/>
              <a:t>resources</a:t>
            </a:r>
            <a:r>
              <a:rPr lang="fr-FR" dirty="0"/>
              <a:t>.</a:t>
            </a:r>
          </a:p>
          <a:p>
            <a:pPr marL="171450" lvl="0" indent="-171450" algn="l" rtl="0">
              <a:spcBef>
                <a:spcPts val="0"/>
              </a:spcBef>
              <a:spcAft>
                <a:spcPts val="0"/>
              </a:spcAft>
            </a:pPr>
            <a:r>
              <a:rPr lang="fr-FR" dirty="0"/>
              <a:t>In the </a:t>
            </a:r>
            <a:r>
              <a:rPr lang="fr-FR" dirty="0" err="1"/>
              <a:t>airline</a:t>
            </a:r>
            <a:r>
              <a:rPr lang="fr-FR" dirty="0"/>
              <a:t> </a:t>
            </a:r>
            <a:r>
              <a:rPr lang="fr-FR" dirty="0" err="1"/>
              <a:t>industry</a:t>
            </a:r>
            <a:r>
              <a:rPr lang="fr-FR" dirty="0"/>
              <a:t>, this ratio is </a:t>
            </a:r>
            <a:r>
              <a:rPr lang="fr-FR" dirty="0" err="1"/>
              <a:t>usually</a:t>
            </a:r>
            <a:r>
              <a:rPr lang="fr-FR" dirty="0"/>
              <a:t> </a:t>
            </a:r>
            <a:r>
              <a:rPr lang="fr-FR" dirty="0" err="1"/>
              <a:t>very</a:t>
            </a:r>
            <a:r>
              <a:rPr lang="fr-FR" dirty="0"/>
              <a:t> </a:t>
            </a:r>
            <a:r>
              <a:rPr lang="fr-FR" dirty="0" err="1"/>
              <a:t>low</a:t>
            </a:r>
            <a:r>
              <a:rPr lang="fr-FR" dirty="0"/>
              <a:t>, </a:t>
            </a:r>
            <a:r>
              <a:rPr lang="fr-FR" dirty="0" err="1"/>
              <a:t>often</a:t>
            </a:r>
            <a:r>
              <a:rPr lang="fr-FR" dirty="0"/>
              <a:t> </a:t>
            </a:r>
            <a:r>
              <a:rPr lang="fr-FR" dirty="0" err="1"/>
              <a:t>below</a:t>
            </a:r>
            <a:r>
              <a:rPr lang="fr-FR" dirty="0"/>
              <a:t> 1, because </a:t>
            </a:r>
            <a:r>
              <a:rPr lang="fr-FR" dirty="0" err="1"/>
              <a:t>passengers</a:t>
            </a:r>
            <a:r>
              <a:rPr lang="fr-FR" dirty="0"/>
              <a:t> pay for tickets </a:t>
            </a:r>
            <a:r>
              <a:rPr lang="fr-FR" dirty="0" err="1"/>
              <a:t>months</a:t>
            </a:r>
            <a:r>
              <a:rPr lang="fr-FR" dirty="0"/>
              <a:t> in </a:t>
            </a:r>
            <a:r>
              <a:rPr lang="fr-FR" dirty="0" err="1"/>
              <a:t>advance</a:t>
            </a:r>
            <a:r>
              <a:rPr lang="fr-FR" dirty="0"/>
              <a:t>, </a:t>
            </a:r>
            <a:r>
              <a:rPr lang="fr-FR" dirty="0" err="1"/>
              <a:t>so</a:t>
            </a:r>
            <a:r>
              <a:rPr lang="fr-FR" dirty="0"/>
              <a:t> it </a:t>
            </a:r>
            <a:r>
              <a:rPr lang="fr-FR" dirty="0" err="1"/>
              <a:t>generates</a:t>
            </a:r>
            <a:r>
              <a:rPr lang="fr-FR" dirty="0"/>
              <a:t> a lot of short-</a:t>
            </a:r>
            <a:r>
              <a:rPr lang="fr-FR" dirty="0" err="1"/>
              <a:t>term</a:t>
            </a:r>
            <a:r>
              <a:rPr lang="fr-FR" dirty="0"/>
              <a:t> </a:t>
            </a:r>
            <a:r>
              <a:rPr lang="fr-FR" dirty="0" err="1"/>
              <a:t>liabilities</a:t>
            </a:r>
            <a:r>
              <a:rPr lang="fr-FR" dirty="0"/>
              <a:t> </a:t>
            </a:r>
            <a:r>
              <a:rPr lang="fr-FR" dirty="0" err="1"/>
              <a:t>until</a:t>
            </a:r>
            <a:r>
              <a:rPr lang="fr-FR" dirty="0"/>
              <a:t> planes </a:t>
            </a:r>
            <a:r>
              <a:rPr lang="fr-FR" dirty="0" err="1"/>
              <a:t>actually</a:t>
            </a:r>
            <a:r>
              <a:rPr lang="fr-FR" dirty="0"/>
              <a:t> </a:t>
            </a:r>
            <a:r>
              <a:rPr lang="fr-FR" dirty="0" err="1"/>
              <a:t>fly</a:t>
            </a:r>
            <a:endParaRPr lang="fr-FR" dirty="0"/>
          </a:p>
          <a:p>
            <a:pPr marL="171450" lvl="0" indent="-171450" algn="l" rtl="0">
              <a:spcBef>
                <a:spcPts val="0"/>
              </a:spcBef>
              <a:spcAft>
                <a:spcPts val="0"/>
              </a:spcAft>
            </a:pPr>
            <a:r>
              <a:rPr lang="fr-FR" dirty="0"/>
              <a:t>As a </a:t>
            </a:r>
            <a:r>
              <a:rPr lang="fr-FR" dirty="0" err="1"/>
              <a:t>result</a:t>
            </a:r>
            <a:r>
              <a:rPr lang="fr-FR" dirty="0"/>
              <a:t>, </a:t>
            </a:r>
            <a:r>
              <a:rPr lang="fr-FR" dirty="0" err="1"/>
              <a:t>returns</a:t>
            </a:r>
            <a:r>
              <a:rPr lang="fr-FR" dirty="0"/>
              <a:t> can be </a:t>
            </a:r>
            <a:r>
              <a:rPr lang="fr-FR" dirty="0" err="1"/>
              <a:t>very</a:t>
            </a:r>
            <a:r>
              <a:rPr lang="fr-FR" dirty="0"/>
              <a:t> </a:t>
            </a:r>
            <a:r>
              <a:rPr lang="fr-FR" dirty="0" err="1"/>
              <a:t>low</a:t>
            </a:r>
            <a:r>
              <a:rPr lang="fr-FR" dirty="0"/>
              <a:t>, </a:t>
            </a:r>
            <a:r>
              <a:rPr lang="fr-FR" dirty="0" err="1"/>
              <a:t>even</a:t>
            </a:r>
            <a:r>
              <a:rPr lang="fr-FR" dirty="0"/>
              <a:t> </a:t>
            </a:r>
            <a:r>
              <a:rPr lang="fr-FR" dirty="0" err="1"/>
              <a:t>below</a:t>
            </a:r>
            <a:r>
              <a:rPr lang="fr-FR" dirty="0"/>
              <a:t> 0, as </a:t>
            </a:r>
            <a:r>
              <a:rPr lang="fr-FR" dirty="0" err="1"/>
              <a:t>we</a:t>
            </a:r>
            <a:r>
              <a:rPr lang="fr-FR" dirty="0"/>
              <a:t> can </a:t>
            </a:r>
            <a:r>
              <a:rPr lang="fr-FR" dirty="0" err="1"/>
              <a:t>see</a:t>
            </a:r>
            <a:r>
              <a:rPr lang="fr-FR" dirty="0"/>
              <a:t> in </a:t>
            </a:r>
            <a:r>
              <a:rPr lang="fr-FR" dirty="0" err="1"/>
              <a:t>month</a:t>
            </a:r>
            <a:r>
              <a:rPr lang="fr-FR" dirty="0"/>
              <a:t> 6, 15, 19, because when </a:t>
            </a:r>
            <a:r>
              <a:rPr lang="fr-FR" dirty="0" err="1"/>
              <a:t>prices</a:t>
            </a:r>
            <a:r>
              <a:rPr lang="fr-FR" dirty="0"/>
              <a:t> </a:t>
            </a:r>
            <a:r>
              <a:rPr lang="fr-FR" dirty="0" err="1"/>
              <a:t>suddenly</a:t>
            </a:r>
            <a:r>
              <a:rPr lang="fr-FR" dirty="0"/>
              <a:t> </a:t>
            </a:r>
            <a:r>
              <a:rPr lang="fr-FR" dirty="0" err="1"/>
              <a:t>increase</a:t>
            </a:r>
            <a:r>
              <a:rPr lang="fr-FR" dirty="0"/>
              <a:t>, because of inflation or </a:t>
            </a:r>
            <a:r>
              <a:rPr lang="fr-FR" dirty="0" err="1"/>
              <a:t>macroeconomics</a:t>
            </a:r>
            <a:r>
              <a:rPr lang="fr-FR" dirty="0"/>
              <a:t> </a:t>
            </a:r>
            <a:r>
              <a:rPr lang="fr-FR" dirty="0" err="1"/>
              <a:t>events</a:t>
            </a:r>
            <a:r>
              <a:rPr lang="fr-FR" dirty="0"/>
              <a:t> like the </a:t>
            </a:r>
            <a:r>
              <a:rPr lang="fr-FR" dirty="0" err="1"/>
              <a:t>war</a:t>
            </a:r>
            <a:r>
              <a:rPr lang="fr-FR" dirty="0"/>
              <a:t> in Iran, or when </a:t>
            </a:r>
            <a:r>
              <a:rPr lang="fr-FR" dirty="0" err="1"/>
              <a:t>demand</a:t>
            </a:r>
            <a:r>
              <a:rPr lang="fr-FR" dirty="0"/>
              <a:t> slows down, </a:t>
            </a:r>
            <a:r>
              <a:rPr lang="fr-FR" dirty="0" err="1"/>
              <a:t>airlines</a:t>
            </a:r>
            <a:r>
              <a:rPr lang="fr-FR" dirty="0"/>
              <a:t> have to use more cash, </a:t>
            </a:r>
            <a:r>
              <a:rPr lang="fr-FR" dirty="0" err="1"/>
              <a:t>so</a:t>
            </a:r>
            <a:r>
              <a:rPr lang="fr-FR" dirty="0"/>
              <a:t> it </a:t>
            </a:r>
            <a:r>
              <a:rPr lang="fr-FR" dirty="0" err="1"/>
              <a:t>draggs</a:t>
            </a:r>
            <a:r>
              <a:rPr lang="fr-FR" dirty="0"/>
              <a:t> down stock </a:t>
            </a:r>
            <a:r>
              <a:rPr lang="fr-FR" dirty="0" err="1"/>
              <a:t>returns</a:t>
            </a:r>
            <a:endParaRPr lang="fr-FR" dirty="0"/>
          </a:p>
          <a:p>
            <a:pPr marL="171450" lvl="0" indent="-171450" algn="l" rtl="0">
              <a:spcBef>
                <a:spcPts val="0"/>
              </a:spcBef>
              <a:spcAft>
                <a:spcPts val="0"/>
              </a:spcAft>
            </a:pPr>
            <a:r>
              <a:rPr lang="fr-FR" dirty="0"/>
              <a:t>But Even SO, the GOOD group </a:t>
            </a:r>
            <a:r>
              <a:rPr lang="fr-FR" dirty="0" err="1"/>
              <a:t>clearly</a:t>
            </a:r>
            <a:r>
              <a:rPr lang="fr-FR" dirty="0"/>
              <a:t> </a:t>
            </a:r>
            <a:r>
              <a:rPr lang="fr-FR" dirty="0" err="1"/>
              <a:t>wins</a:t>
            </a:r>
            <a:r>
              <a:rPr lang="fr-FR" dirty="0"/>
              <a:t> in the long run, as </a:t>
            </a:r>
            <a:r>
              <a:rPr lang="fr-FR" dirty="0" err="1"/>
              <a:t>we</a:t>
            </a:r>
            <a:r>
              <a:rPr lang="fr-FR" dirty="0"/>
              <a:t> can </a:t>
            </a:r>
            <a:r>
              <a:rPr lang="fr-FR" dirty="0" err="1"/>
              <a:t>see</a:t>
            </a:r>
            <a:r>
              <a:rPr lang="fr-FR" dirty="0"/>
              <a:t> in the </a:t>
            </a:r>
            <a:r>
              <a:rPr lang="fr-FR" dirty="0" err="1"/>
              <a:t>yellow</a:t>
            </a:r>
            <a:r>
              <a:rPr lang="fr-FR" dirty="0"/>
              <a:t> </a:t>
            </a:r>
            <a:r>
              <a:rPr lang="fr-FR" dirty="0" err="1"/>
              <a:t>circle</a:t>
            </a:r>
            <a:r>
              <a:rPr lang="fr-FR" dirty="0"/>
              <a:t>, because a </a:t>
            </a:r>
            <a:r>
              <a:rPr lang="fr-FR" dirty="0" err="1"/>
              <a:t>stronger</a:t>
            </a:r>
            <a:r>
              <a:rPr lang="fr-FR" dirty="0"/>
              <a:t>/</a:t>
            </a:r>
            <a:r>
              <a:rPr lang="fr-FR" dirty="0" err="1"/>
              <a:t>higher</a:t>
            </a:r>
            <a:r>
              <a:rPr lang="fr-FR" dirty="0"/>
              <a:t> </a:t>
            </a:r>
            <a:r>
              <a:rPr lang="fr-FR" dirty="0" err="1"/>
              <a:t>current</a:t>
            </a:r>
            <a:r>
              <a:rPr lang="fr-FR" dirty="0"/>
              <a:t> ratio </a:t>
            </a:r>
            <a:r>
              <a:rPr lang="fr-FR" dirty="0" err="1"/>
              <a:t>acts</a:t>
            </a:r>
            <a:r>
              <a:rPr lang="fr-FR" dirty="0"/>
              <a:t> as a </a:t>
            </a:r>
            <a:r>
              <a:rPr lang="fr-FR" dirty="0" err="1"/>
              <a:t>safety</a:t>
            </a:r>
            <a:r>
              <a:rPr lang="fr-FR" dirty="0"/>
              <a:t> </a:t>
            </a:r>
            <a:r>
              <a:rPr lang="fr-FR" dirty="0" err="1"/>
              <a:t>cushion</a:t>
            </a:r>
            <a:r>
              <a:rPr lang="fr-FR" dirty="0"/>
              <a:t> </a:t>
            </a:r>
            <a:r>
              <a:rPr lang="fr-FR" dirty="0" err="1"/>
              <a:t>againts</a:t>
            </a:r>
            <a:r>
              <a:rPr lang="fr-FR" dirty="0"/>
              <a:t> </a:t>
            </a:r>
            <a:r>
              <a:rPr lang="fr-FR" dirty="0" err="1"/>
              <a:t>fixed</a:t>
            </a:r>
            <a:r>
              <a:rPr lang="fr-FR" dirty="0"/>
              <a:t> </a:t>
            </a:r>
            <a:r>
              <a:rPr lang="fr-FR" dirty="0" err="1"/>
              <a:t>operational</a:t>
            </a:r>
            <a:r>
              <a:rPr lang="fr-FR" dirty="0"/>
              <a:t> </a:t>
            </a:r>
            <a:r>
              <a:rPr lang="fr-FR" dirty="0" err="1"/>
              <a:t>costs</a:t>
            </a:r>
            <a:r>
              <a:rPr lang="fr-FR" dirty="0"/>
              <a:t>, </a:t>
            </a:r>
            <a:r>
              <a:rPr lang="fr-FR" dirty="0" err="1"/>
              <a:t>so</a:t>
            </a:r>
            <a:r>
              <a:rPr lang="fr-FR" dirty="0"/>
              <a:t> </a:t>
            </a:r>
            <a:r>
              <a:rPr lang="fr-FR" dirty="0" err="1"/>
              <a:t>investors</a:t>
            </a:r>
            <a:r>
              <a:rPr lang="fr-FR" dirty="0"/>
              <a:t> </a:t>
            </a:r>
            <a:r>
              <a:rPr lang="fr-FR" dirty="0" err="1"/>
              <a:t>clearly</a:t>
            </a:r>
            <a:r>
              <a:rPr lang="fr-FR" dirty="0"/>
              <a:t> </a:t>
            </a:r>
            <a:r>
              <a:rPr lang="fr-FR" dirty="0" err="1"/>
              <a:t>preferred</a:t>
            </a:r>
            <a:r>
              <a:rPr lang="fr-FR" dirty="0"/>
              <a:t> that </a:t>
            </a:r>
            <a:r>
              <a:rPr lang="fr-FR" dirty="0" err="1"/>
              <a:t>stability</a:t>
            </a:r>
            <a:endParaRPr lang="fr-FR" dirty="0"/>
          </a:p>
          <a:p>
            <a:pPr marL="171450" lvl="0" indent="-171450" algn="l" rtl="0">
              <a:spcBef>
                <a:spcPts val="0"/>
              </a:spcBef>
              <a:spcAft>
                <a:spcPts val="0"/>
              </a:spcAft>
            </a:pPr>
            <a:r>
              <a:rPr lang="fr-FR" dirty="0" err="1"/>
              <a:t>Besides</a:t>
            </a:r>
            <a:r>
              <a:rPr lang="fr-FR" dirty="0"/>
              <a:t>, </a:t>
            </a:r>
            <a:r>
              <a:rPr lang="fr-FR" dirty="0" err="1"/>
              <a:t>looking</a:t>
            </a:r>
            <a:r>
              <a:rPr lang="fr-FR" dirty="0"/>
              <a:t> at the </a:t>
            </a:r>
            <a:r>
              <a:rPr lang="fr-FR" dirty="0" err="1"/>
              <a:t>ranking</a:t>
            </a:r>
            <a:r>
              <a:rPr lang="fr-FR" dirty="0"/>
              <a:t>, </a:t>
            </a:r>
            <a:r>
              <a:rPr lang="fr-FR" dirty="0" err="1"/>
              <a:t>there</a:t>
            </a:r>
            <a:r>
              <a:rPr lang="fr-FR" dirty="0"/>
              <a:t> is no </a:t>
            </a:r>
            <a:r>
              <a:rPr lang="fr-FR" dirty="0" err="1"/>
              <a:t>actual</a:t>
            </a:r>
            <a:r>
              <a:rPr lang="fr-FR" dirty="0"/>
              <a:t> </a:t>
            </a:r>
            <a:r>
              <a:rPr lang="fr-FR" dirty="0" err="1"/>
              <a:t>correlation</a:t>
            </a:r>
            <a:r>
              <a:rPr lang="fr-FR" dirty="0"/>
              <a:t>, for </a:t>
            </a:r>
            <a:r>
              <a:rPr lang="fr-FR" dirty="0" err="1"/>
              <a:t>example</a:t>
            </a:r>
            <a:r>
              <a:rPr lang="fr-FR" dirty="0"/>
              <a:t> Ultra low-cost like </a:t>
            </a:r>
            <a:r>
              <a:rPr lang="fr-FR" dirty="0" err="1"/>
              <a:t>frontier</a:t>
            </a:r>
            <a:r>
              <a:rPr lang="fr-FR" dirty="0"/>
              <a:t> and a </a:t>
            </a:r>
            <a:r>
              <a:rPr lang="fr-FR" dirty="0" err="1"/>
              <a:t>giant</a:t>
            </a:r>
            <a:r>
              <a:rPr lang="fr-FR" dirty="0"/>
              <a:t> delta are </a:t>
            </a:r>
            <a:r>
              <a:rPr lang="fr-FR" dirty="0" err="1"/>
              <a:t>ranked</a:t>
            </a:r>
            <a:r>
              <a:rPr lang="fr-FR" dirty="0"/>
              <a:t> at the </a:t>
            </a:r>
            <a:r>
              <a:rPr lang="fr-FR" dirty="0" err="1"/>
              <a:t>bottom</a:t>
            </a:r>
            <a:r>
              <a:rPr lang="fr-FR" dirty="0"/>
              <a:t> </a:t>
            </a:r>
            <a:r>
              <a:rPr lang="fr-FR" dirty="0" err="1"/>
              <a:t>while</a:t>
            </a:r>
            <a:r>
              <a:rPr lang="fr-FR" dirty="0"/>
              <a:t> a big carrier like Southwest and </a:t>
            </a:r>
            <a:r>
              <a:rPr lang="fr-FR" dirty="0" err="1"/>
              <a:t>Allegiant</a:t>
            </a:r>
            <a:r>
              <a:rPr lang="fr-FR" dirty="0"/>
              <a:t> on the top, </a:t>
            </a:r>
            <a:r>
              <a:rPr lang="fr-FR" dirty="0" err="1"/>
              <a:t>so</a:t>
            </a:r>
            <a:r>
              <a:rPr lang="fr-FR" dirty="0"/>
              <a:t> it is more about </a:t>
            </a:r>
            <a:r>
              <a:rPr lang="fr-FR" dirty="0" err="1"/>
              <a:t>individual</a:t>
            </a:r>
            <a:r>
              <a:rPr lang="fr-FR" dirty="0"/>
              <a:t> management </a:t>
            </a:r>
            <a:r>
              <a:rPr lang="fr-FR" dirty="0" err="1"/>
              <a:t>strategy</a:t>
            </a:r>
            <a:r>
              <a:rPr lang="fr-FR" dirty="0"/>
              <a:t>, </a:t>
            </a:r>
            <a:r>
              <a:rPr lang="fr-FR" dirty="0" err="1"/>
              <a:t>company’s</a:t>
            </a:r>
            <a:r>
              <a:rPr lang="fr-FR" dirty="0"/>
              <a:t> </a:t>
            </a:r>
            <a:r>
              <a:rPr lang="fr-FR" dirty="0" err="1"/>
              <a:t>philosophy</a:t>
            </a:r>
            <a:r>
              <a:rPr lang="fr-FR" dirty="0"/>
              <a:t> </a:t>
            </a:r>
            <a:r>
              <a:rPr lang="fr-FR" dirty="0" err="1"/>
              <a:t>than</a:t>
            </a:r>
            <a:r>
              <a:rPr lang="fr-FR" dirty="0"/>
              <a:t> </a:t>
            </a:r>
            <a:r>
              <a:rPr lang="fr-FR" dirty="0" err="1"/>
              <a:t>just</a:t>
            </a:r>
            <a:r>
              <a:rPr lang="fr-FR" dirty="0"/>
              <a:t> business model</a:t>
            </a:r>
            <a:endParaRPr dirty="0"/>
          </a:p>
        </p:txBody>
      </p:sp>
      <p:sp>
        <p:nvSpPr>
          <p:cNvPr id="142" name="Google Shape;142;g3e904caf41a_1_72:notes">
            <a:extLst>
              <a:ext uri="{FF2B5EF4-FFF2-40B4-BE49-F238E27FC236}">
                <a16:creationId xmlns:a16="http://schemas.microsoft.com/office/drawing/2014/main" id="{6946C5D1-9797-FECF-F303-3061B86CFD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8342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46C5EAB-8B19-81E4-8D46-9294213E68FD}"/>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F860FBB4-8282-B1C8-C655-F7BEF20FB5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 index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outperforms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GOOD and BAD groups,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so</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means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market generally </a:t>
            </a:r>
            <a:r>
              <a:rPr lang="en-US" dirty="0" err="1"/>
              <a:t>preferres</a:t>
            </a:r>
            <a:r>
              <a:rPr lang="en-US" dirty="0"/>
              <a:t> balanced, optimized industry averages over extremes groups</a:t>
            </a:r>
            <a:endParaRPr dirty="0"/>
          </a:p>
        </p:txBody>
      </p:sp>
      <p:sp>
        <p:nvSpPr>
          <p:cNvPr id="142" name="Google Shape;142;g3e904caf41a_1_72:notes">
            <a:extLst>
              <a:ext uri="{FF2B5EF4-FFF2-40B4-BE49-F238E27FC236}">
                <a16:creationId xmlns:a16="http://schemas.microsoft.com/office/drawing/2014/main" id="{7B1E1625-FF72-37E2-FAB3-268941D835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685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3BD5319-510C-46FD-A31D-9F2E816B719E}"/>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A913338A-22F7-1A4C-D3DB-72F6B3C080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fr-FR" dirty="0"/>
              <a:t>Moving on to the Acid-test ratio, this </a:t>
            </a:r>
            <a:r>
              <a:rPr lang="fr-FR" dirty="0" err="1"/>
              <a:t>metric</a:t>
            </a:r>
            <a:r>
              <a:rPr lang="fr-FR" dirty="0"/>
              <a:t> is </a:t>
            </a:r>
            <a:r>
              <a:rPr lang="fr-FR" dirty="0" err="1"/>
              <a:t>similar</a:t>
            </a:r>
            <a:r>
              <a:rPr lang="fr-FR" dirty="0"/>
              <a:t> to </a:t>
            </a:r>
            <a:r>
              <a:rPr lang="fr-FR" dirty="0" err="1"/>
              <a:t>current</a:t>
            </a:r>
            <a:r>
              <a:rPr lang="fr-FR" dirty="0"/>
              <a:t> ratio but it </a:t>
            </a:r>
            <a:r>
              <a:rPr lang="fr-FR" dirty="0" err="1"/>
              <a:t>ecludes</a:t>
            </a:r>
            <a:r>
              <a:rPr lang="fr-FR" dirty="0"/>
              <a:t> </a:t>
            </a:r>
            <a:r>
              <a:rPr lang="fr-FR" dirty="0" err="1"/>
              <a:t>inventory</a:t>
            </a:r>
            <a:r>
              <a:rPr lang="fr-FR" dirty="0"/>
              <a:t> and </a:t>
            </a:r>
            <a:r>
              <a:rPr lang="fr-FR" dirty="0" err="1"/>
              <a:t>focuses</a:t>
            </a:r>
            <a:r>
              <a:rPr lang="fr-FR" dirty="0"/>
              <a:t> only on cash and </a:t>
            </a:r>
            <a:r>
              <a:rPr lang="fr-FR" dirty="0" err="1"/>
              <a:t>receivable</a:t>
            </a:r>
            <a:endParaRPr lang="fr-FR" dirty="0"/>
          </a:p>
          <a:p>
            <a:pPr marL="171450" lvl="0" indent="-171450" algn="l" rtl="0">
              <a:spcBef>
                <a:spcPts val="0"/>
              </a:spcBef>
              <a:spcAft>
                <a:spcPts val="0"/>
              </a:spcAft>
              <a:buFont typeface="Arial" panose="020B0604020202020204" pitchFamily="34" charset="0"/>
              <a:buChar char="•"/>
            </a:pPr>
            <a:r>
              <a:rPr lang="en-US" dirty="0"/>
              <a:t>This is especially important in the airline industry, where inventory and aircraft parts cannot be sold quickly to cover short-term debt</a:t>
            </a:r>
          </a:p>
          <a:p>
            <a:pPr marL="171450" lvl="0" indent="-171450" algn="l" rtl="0">
              <a:spcBef>
                <a:spcPts val="0"/>
              </a:spcBef>
              <a:spcAft>
                <a:spcPts val="0"/>
              </a:spcAft>
              <a:buFont typeface="Arial" panose="020B0604020202020204" pitchFamily="34" charset="0"/>
              <a:buChar char="•"/>
            </a:pPr>
            <a:r>
              <a:rPr lang="en-US" dirty="0"/>
              <a:t>Rankings and results are nearly identical to the Current ratio we just discussed</a:t>
            </a:r>
          </a:p>
          <a:p>
            <a:pPr marL="171450" lvl="0" indent="-171450" algn="l" rtl="0">
              <a:spcBef>
                <a:spcPts val="0"/>
              </a:spcBef>
              <a:spcAft>
                <a:spcPts val="0"/>
              </a:spcAft>
              <a:buFont typeface="Arial" panose="020B0604020202020204" pitchFamily="34" charset="0"/>
              <a:buChar char="•"/>
            </a:pPr>
            <a:endParaRPr dirty="0"/>
          </a:p>
        </p:txBody>
      </p:sp>
      <p:sp>
        <p:nvSpPr>
          <p:cNvPr id="142" name="Google Shape;142;g3e904caf41a_1_72:notes">
            <a:extLst>
              <a:ext uri="{FF2B5EF4-FFF2-40B4-BE49-F238E27FC236}">
                <a16:creationId xmlns:a16="http://schemas.microsoft.com/office/drawing/2014/main" id="{B07196B3-D4EB-F22A-AADB-521BA770D9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5336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9F18EE0-D794-1DEB-5AAD-7490821E66EF}"/>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C3010466-E65C-C742-C04C-7A399BD0A2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Ultimately, this confirms our previous takeaway—immediate market returns are noisy, but having high-quality, instant cash liquidity is what secures long-term structural resilience against industry turbulence</a:t>
            </a:r>
            <a:endParaRPr dirty="0"/>
          </a:p>
        </p:txBody>
      </p:sp>
      <p:sp>
        <p:nvSpPr>
          <p:cNvPr id="142" name="Google Shape;142;g3e904caf41a_1_72:notes">
            <a:extLst>
              <a:ext uri="{FF2B5EF4-FFF2-40B4-BE49-F238E27FC236}">
                <a16:creationId xmlns:a16="http://schemas.microsoft.com/office/drawing/2014/main" id="{D2AA172D-2E34-B50F-1808-566905AED2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9047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A080B86-033B-CA55-0897-799FA8849FFF}"/>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4B2C65DB-9740-23C8-8EB5-263C6B59EF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dirty="0"/>
              <a:t>Accounts Receivable Turnover measures how many times per year an airline collects its outstanding credit accounts from travel agencies, corporate clients, and cargo partners.</a:t>
            </a:r>
          </a:p>
          <a:p>
            <a:pPr marL="171450" lvl="0" indent="-171450" algn="l" rtl="0">
              <a:spcBef>
                <a:spcPts val="0"/>
              </a:spcBef>
              <a:spcAft>
                <a:spcPts val="0"/>
              </a:spcAft>
            </a:pPr>
            <a:r>
              <a:rPr lang="en-US" dirty="0"/>
              <a:t>Usually, from our textbook, it is better to have a high turnover, but here the BAD group with lower turnover </a:t>
            </a:r>
            <a:r>
              <a:rPr lang="en-US" dirty="0" err="1"/>
              <a:t>completly</a:t>
            </a:r>
            <a:r>
              <a:rPr lang="en-US" dirty="0"/>
              <a:t>  outperforms the GOOD group, and by almost 40% cumulative returns around month 22, why is that?</a:t>
            </a:r>
          </a:p>
          <a:p>
            <a:pPr marL="171450" lvl="0" indent="-171450" algn="l" rtl="0">
              <a:spcBef>
                <a:spcPts val="0"/>
              </a:spcBef>
              <a:spcAft>
                <a:spcPts val="0"/>
              </a:spcAft>
            </a:pPr>
            <a:r>
              <a:rPr lang="en-US" dirty="0"/>
              <a:t>This happens because of the difference in between the business model of airlines.</a:t>
            </a:r>
          </a:p>
          <a:p>
            <a:pPr marL="171450" lvl="0" indent="-171450" algn="l" rtl="0">
              <a:spcBef>
                <a:spcPts val="0"/>
              </a:spcBef>
              <a:spcAft>
                <a:spcPts val="0"/>
              </a:spcAft>
            </a:pPr>
            <a:r>
              <a:rPr lang="en-US" dirty="0"/>
              <a:t> Looking at The ultra low-cost carrier Frontier, which is ranked 1</a:t>
            </a:r>
            <a:r>
              <a:rPr lang="en-US" baseline="30000" dirty="0"/>
              <a:t>st</a:t>
            </a:r>
            <a:r>
              <a:rPr lang="en-US" dirty="0"/>
              <a:t>, this </a:t>
            </a:r>
            <a:r>
              <a:rPr lang="en-US" dirty="0" err="1"/>
              <a:t>ariline</a:t>
            </a:r>
            <a:r>
              <a:rPr lang="en-US" dirty="0"/>
              <a:t> requires instant cash at booking to operate, whereas legacy giant like DELTA or Southwest are ranked bottom because they are able to </a:t>
            </a:r>
            <a:r>
              <a:rPr lang="en-US" dirty="0" err="1"/>
              <a:t>extand</a:t>
            </a:r>
            <a:r>
              <a:rPr lang="en-US" dirty="0"/>
              <a:t> flexible credit to </a:t>
            </a:r>
            <a:r>
              <a:rPr lang="en-US" dirty="0" err="1"/>
              <a:t>highvalue</a:t>
            </a:r>
            <a:r>
              <a:rPr lang="en-US" dirty="0"/>
              <a:t> corporate travel accounts</a:t>
            </a:r>
          </a:p>
          <a:p>
            <a:r>
              <a:rPr lang="en-US" dirty="0"/>
              <a:t>For investors, a </a:t>
            </a:r>
            <a:r>
              <a:rPr lang="en-US" b="1" dirty="0"/>
              <a:t>high turnover ratio</a:t>
            </a:r>
            <a:r>
              <a:rPr lang="en-US" dirty="0"/>
              <a:t> usually means the airline relies more on short-term, low-margin leisure travelers.</a:t>
            </a:r>
          </a:p>
          <a:p>
            <a:r>
              <a:rPr lang="en-US" dirty="0"/>
              <a:t>A </a:t>
            </a:r>
            <a:r>
              <a:rPr lang="en-US" b="1" dirty="0"/>
              <a:t>lower turnover ratio</a:t>
            </a:r>
            <a:r>
              <a:rPr lang="en-US" dirty="0"/>
              <a:t> suggests more stable, higher-value corporate customers, which can lead to stronger and more consistent long-term returns.</a:t>
            </a:r>
          </a:p>
          <a:p>
            <a:pPr marL="171450" lvl="0" indent="-171450" algn="l" rtl="0">
              <a:spcBef>
                <a:spcPts val="0"/>
              </a:spcBef>
              <a:spcAft>
                <a:spcPts val="0"/>
              </a:spcAft>
            </a:pPr>
            <a:endParaRPr dirty="0"/>
          </a:p>
        </p:txBody>
      </p:sp>
      <p:sp>
        <p:nvSpPr>
          <p:cNvPr id="142" name="Google Shape;142;g3e904caf41a_1_72:notes">
            <a:extLst>
              <a:ext uri="{FF2B5EF4-FFF2-40B4-BE49-F238E27FC236}">
                <a16:creationId xmlns:a16="http://schemas.microsoft.com/office/drawing/2014/main" id="{05AC1DE5-AB63-0916-FB82-C592DCDFFE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9909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9130A24-1EAE-BE6A-CE43-7A1BD628318D}"/>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5F66CBB4-D5EF-BFD5-AED0-53499FFB43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BAD group line is following the Industry Index, so it proves </a:t>
            </a:r>
            <a:r>
              <a:rPr lang="en-US" dirty="0" err="1"/>
              <a:t>taht</a:t>
            </a:r>
            <a:r>
              <a:rPr lang="en-US" dirty="0"/>
              <a:t> that extending credit to secure sticky corporate revenue is the standard, a driver for airline performance.</a:t>
            </a:r>
            <a:endParaRPr dirty="0"/>
          </a:p>
        </p:txBody>
      </p:sp>
      <p:sp>
        <p:nvSpPr>
          <p:cNvPr id="142" name="Google Shape;142;g3e904caf41a_1_72:notes">
            <a:extLst>
              <a:ext uri="{FF2B5EF4-FFF2-40B4-BE49-F238E27FC236}">
                <a16:creationId xmlns:a16="http://schemas.microsoft.com/office/drawing/2014/main" id="{313AE867-A805-A68D-765A-36A83A0F5C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7881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5F8ADD0-CA53-CB4A-17E3-00E602FFDFB8}"/>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0318F063-DAB1-7B89-13A7-55534A1331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Now </a:t>
            </a:r>
            <a:r>
              <a:rPr lang="fr-FR" dirty="0" err="1"/>
              <a:t>looking</a:t>
            </a:r>
            <a:r>
              <a:rPr lang="fr-FR" dirty="0"/>
              <a:t> at the </a:t>
            </a:r>
            <a:r>
              <a:rPr lang="fr-FR" dirty="0" err="1"/>
              <a:t>Average</a:t>
            </a:r>
            <a:r>
              <a:rPr lang="fr-FR" dirty="0"/>
              <a:t> Collection </a:t>
            </a:r>
            <a:r>
              <a:rPr lang="fr-FR" dirty="0" err="1"/>
              <a:t>Period</a:t>
            </a:r>
            <a:r>
              <a:rPr lang="fr-FR" dirty="0"/>
              <a:t>, </a:t>
            </a:r>
            <a:r>
              <a:rPr lang="fr-FR" dirty="0" err="1"/>
              <a:t>so</a:t>
            </a:r>
            <a:r>
              <a:rPr lang="fr-FR" dirty="0"/>
              <a:t> </a:t>
            </a:r>
            <a:r>
              <a:rPr lang="fr-FR" dirty="0" err="1"/>
              <a:t>we</a:t>
            </a:r>
            <a:r>
              <a:rPr lang="fr-FR" dirty="0"/>
              <a:t> are changing </a:t>
            </a:r>
            <a:r>
              <a:rPr lang="fr-FR" dirty="0" err="1"/>
              <a:t>account</a:t>
            </a:r>
            <a:r>
              <a:rPr lang="fr-FR" dirty="0"/>
              <a:t> </a:t>
            </a:r>
            <a:r>
              <a:rPr lang="fr-FR" dirty="0" err="1"/>
              <a:t>recveiable</a:t>
            </a:r>
            <a:r>
              <a:rPr lang="fr-FR" dirty="0"/>
              <a:t> turnover </a:t>
            </a:r>
            <a:r>
              <a:rPr lang="fr-FR" dirty="0" err="1"/>
              <a:t>into</a:t>
            </a:r>
            <a:r>
              <a:rPr lang="fr-FR" dirty="0"/>
              <a:t> </a:t>
            </a:r>
            <a:r>
              <a:rPr lang="fr-FR" dirty="0" err="1"/>
              <a:t>actual</a:t>
            </a:r>
            <a:r>
              <a:rPr lang="fr-FR" dirty="0"/>
              <a:t> </a:t>
            </a:r>
            <a:r>
              <a:rPr lang="fr-FR" dirty="0" err="1"/>
              <a:t>numbers</a:t>
            </a:r>
            <a:r>
              <a:rPr lang="fr-FR" dirty="0"/>
              <a:t> of </a:t>
            </a:r>
            <a:r>
              <a:rPr lang="fr-FR" dirty="0" err="1"/>
              <a:t>days</a:t>
            </a:r>
            <a:endParaRPr lang="fr-FR" dirty="0"/>
          </a:p>
          <a:p>
            <a:pPr marL="171450" lvl="0" indent="-171450" algn="l" rtl="0">
              <a:spcBef>
                <a:spcPts val="0"/>
              </a:spcBef>
              <a:spcAft>
                <a:spcPts val="0"/>
              </a:spcAft>
              <a:buFont typeface="Arial" panose="020B0604020202020204" pitchFamily="34" charset="0"/>
              <a:buChar char="•"/>
            </a:pPr>
            <a:r>
              <a:rPr lang="fr-FR" dirty="0" err="1"/>
              <a:t>Rankings</a:t>
            </a:r>
            <a:r>
              <a:rPr lang="fr-FR" dirty="0"/>
              <a:t> has not </a:t>
            </a:r>
            <a:r>
              <a:rPr lang="fr-FR" dirty="0" err="1"/>
              <a:t>changed</a:t>
            </a:r>
            <a:r>
              <a:rPr lang="fr-FR" dirty="0"/>
              <a:t> and graph is </a:t>
            </a:r>
            <a:r>
              <a:rPr lang="fr-FR" dirty="0" err="1"/>
              <a:t>almost</a:t>
            </a:r>
            <a:r>
              <a:rPr lang="fr-FR" dirty="0"/>
              <a:t> </a:t>
            </a:r>
            <a:r>
              <a:rPr lang="fr-FR" dirty="0" err="1"/>
              <a:t>identical</a:t>
            </a:r>
            <a:r>
              <a:rPr lang="fr-FR" dirty="0"/>
              <a:t>, </a:t>
            </a:r>
            <a:r>
              <a:rPr lang="fr-FR" dirty="0" err="1"/>
              <a:t>so</a:t>
            </a:r>
            <a:r>
              <a:rPr lang="fr-FR" dirty="0"/>
              <a:t> conclusion is the </a:t>
            </a:r>
            <a:r>
              <a:rPr lang="fr-FR" dirty="0" err="1"/>
              <a:t>same</a:t>
            </a:r>
            <a:endParaRPr lang="fr-FR" dirty="0"/>
          </a:p>
        </p:txBody>
      </p:sp>
      <p:sp>
        <p:nvSpPr>
          <p:cNvPr id="142" name="Google Shape;142;g3e904caf41a_1_72:notes">
            <a:extLst>
              <a:ext uri="{FF2B5EF4-FFF2-40B4-BE49-F238E27FC236}">
                <a16:creationId xmlns:a16="http://schemas.microsoft.com/office/drawing/2014/main" id="{016EC019-69E5-5E25-DA38-0EA796B2DE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1158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E40FFC0-E1BA-82F3-01A0-3C94557A3D1A}"/>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49018A05-CDFA-AABC-3712-C4A67A15A6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Now with the Industry average, this tells us that investors clearly prefer the stable </a:t>
            </a:r>
            <a:r>
              <a:rPr lang="en-US" dirty="0" err="1"/>
              <a:t>coportae</a:t>
            </a:r>
            <a:r>
              <a:rPr lang="en-US" dirty="0"/>
              <a:t> revenue of legacy airlines like delta or southwest, over the low-margin model of ultra low </a:t>
            </a:r>
            <a:r>
              <a:rPr lang="en-US" dirty="0" err="1"/>
              <a:t>caost</a:t>
            </a:r>
            <a:r>
              <a:rPr lang="en-US" dirty="0"/>
              <a:t> carriers.</a:t>
            </a:r>
          </a:p>
          <a:p>
            <a:pPr marL="0" lvl="0" indent="0" algn="l" rtl="0">
              <a:spcBef>
                <a:spcPts val="0"/>
              </a:spcBef>
              <a:spcAft>
                <a:spcPts val="0"/>
              </a:spcAft>
              <a:buNone/>
            </a:pPr>
            <a:endParaRPr dirty="0"/>
          </a:p>
        </p:txBody>
      </p:sp>
      <p:sp>
        <p:nvSpPr>
          <p:cNvPr id="142" name="Google Shape;142;g3e904caf41a_1_72:notes">
            <a:extLst>
              <a:ext uri="{FF2B5EF4-FFF2-40B4-BE49-F238E27FC236}">
                <a16:creationId xmlns:a16="http://schemas.microsoft.com/office/drawing/2014/main" id="{6B5C9302-31AF-2ADB-10E9-86EE387ACF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3656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54DD6F4-6449-5C0D-E834-C18D3E1E89C2}"/>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2419699B-0C5B-EFF2-7F4C-7F617D087A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dirty="0"/>
              <a:t>Moving on to Inventory Turnover, in the </a:t>
            </a:r>
            <a:r>
              <a:rPr lang="fr-FR" dirty="0" err="1"/>
              <a:t>airline</a:t>
            </a:r>
            <a:r>
              <a:rPr lang="fr-FR" dirty="0"/>
              <a:t> </a:t>
            </a:r>
            <a:r>
              <a:rPr lang="fr-FR" dirty="0" err="1"/>
              <a:t>industry</a:t>
            </a:r>
            <a:r>
              <a:rPr lang="fr-FR" dirty="0"/>
              <a:t>, </a:t>
            </a:r>
            <a:r>
              <a:rPr lang="fr-FR" dirty="0" err="1"/>
              <a:t>inventory</a:t>
            </a:r>
            <a:r>
              <a:rPr lang="fr-FR" dirty="0"/>
              <a:t> </a:t>
            </a:r>
            <a:r>
              <a:rPr lang="fr-FR" dirty="0" err="1"/>
              <a:t>consists</a:t>
            </a:r>
            <a:r>
              <a:rPr lang="fr-FR" dirty="0"/>
              <a:t> </a:t>
            </a:r>
            <a:r>
              <a:rPr lang="fr-FR" dirty="0" err="1"/>
              <a:t>almost</a:t>
            </a:r>
            <a:r>
              <a:rPr lang="fr-FR" dirty="0"/>
              <a:t> </a:t>
            </a:r>
            <a:r>
              <a:rPr lang="fr-FR" dirty="0" err="1"/>
              <a:t>entirely</a:t>
            </a:r>
            <a:r>
              <a:rPr lang="fr-FR" dirty="0"/>
              <a:t> of </a:t>
            </a:r>
            <a:r>
              <a:rPr lang="fr-FR" dirty="0" err="1"/>
              <a:t>aircraft</a:t>
            </a:r>
            <a:r>
              <a:rPr lang="fr-FR" dirty="0"/>
              <a:t> </a:t>
            </a:r>
            <a:r>
              <a:rPr lang="fr-FR" dirty="0" err="1"/>
              <a:t>spare</a:t>
            </a:r>
            <a:r>
              <a:rPr lang="fr-FR" dirty="0"/>
              <a:t> parts, maintenance components, and other supplies.</a:t>
            </a:r>
          </a:p>
          <a:p>
            <a:pPr marL="171450" lvl="0" indent="-171450" algn="l" rtl="0">
              <a:spcBef>
                <a:spcPts val="0"/>
              </a:spcBef>
              <a:spcAft>
                <a:spcPts val="0"/>
              </a:spcAft>
            </a:pPr>
            <a:r>
              <a:rPr lang="fr-FR" dirty="0"/>
              <a:t>A high </a:t>
            </a:r>
            <a:r>
              <a:rPr lang="fr-FR" dirty="0" err="1"/>
              <a:t>turniver</a:t>
            </a:r>
            <a:r>
              <a:rPr lang="fr-FR" dirty="0"/>
              <a:t> </a:t>
            </a:r>
            <a:r>
              <a:rPr lang="fr-FR" dirty="0" err="1"/>
              <a:t>means</a:t>
            </a:r>
            <a:r>
              <a:rPr lang="fr-FR" dirty="0"/>
              <a:t> </a:t>
            </a:r>
            <a:r>
              <a:rPr lang="fr-FR" dirty="0" err="1"/>
              <a:t>they</a:t>
            </a:r>
            <a:r>
              <a:rPr lang="fr-FR" dirty="0"/>
              <a:t> </a:t>
            </a:r>
            <a:r>
              <a:rPr lang="fr-FR" dirty="0" err="1"/>
              <a:t>keep</a:t>
            </a:r>
            <a:r>
              <a:rPr lang="fr-FR" dirty="0"/>
              <a:t> </a:t>
            </a:r>
            <a:r>
              <a:rPr lang="fr-FR" dirty="0" err="1"/>
              <a:t>very</a:t>
            </a:r>
            <a:r>
              <a:rPr lang="fr-FR" dirty="0"/>
              <a:t> </a:t>
            </a:r>
            <a:r>
              <a:rPr lang="fr-FR" dirty="0" err="1"/>
              <a:t>little</a:t>
            </a:r>
            <a:r>
              <a:rPr lang="fr-FR" dirty="0"/>
              <a:t> stocks on hand, and use it fast, </a:t>
            </a:r>
            <a:r>
              <a:rPr lang="fr-FR" dirty="0" err="1"/>
              <a:t>while</a:t>
            </a:r>
            <a:r>
              <a:rPr lang="fr-FR" dirty="0"/>
              <a:t> a </a:t>
            </a:r>
            <a:r>
              <a:rPr lang="fr-FR" dirty="0" err="1"/>
              <a:t>low</a:t>
            </a:r>
            <a:r>
              <a:rPr lang="fr-FR" dirty="0"/>
              <a:t> </a:t>
            </a:r>
            <a:r>
              <a:rPr lang="fr-FR" dirty="0" err="1"/>
              <a:t>turnoevr</a:t>
            </a:r>
            <a:r>
              <a:rPr lang="fr-FR" dirty="0"/>
              <a:t> </a:t>
            </a:r>
            <a:r>
              <a:rPr lang="fr-FR" dirty="0" err="1"/>
              <a:t>means</a:t>
            </a:r>
            <a:r>
              <a:rPr lang="fr-FR" dirty="0"/>
              <a:t> </a:t>
            </a:r>
            <a:r>
              <a:rPr lang="fr-FR" dirty="0" err="1"/>
              <a:t>they</a:t>
            </a:r>
            <a:r>
              <a:rPr lang="fr-FR" dirty="0"/>
              <a:t> </a:t>
            </a:r>
            <a:r>
              <a:rPr lang="fr-FR" dirty="0" err="1"/>
              <a:t>hold</a:t>
            </a:r>
            <a:r>
              <a:rPr lang="fr-FR" dirty="0"/>
              <a:t> onto a large </a:t>
            </a:r>
            <a:r>
              <a:rPr lang="fr-FR" dirty="0" err="1"/>
              <a:t>amount</a:t>
            </a:r>
            <a:r>
              <a:rPr lang="fr-FR" dirty="0"/>
              <a:t> of stock for a long time </a:t>
            </a:r>
            <a:r>
              <a:rPr lang="fr-FR" dirty="0" err="1"/>
              <a:t>before</a:t>
            </a:r>
            <a:r>
              <a:rPr lang="fr-FR" dirty="0"/>
              <a:t> </a:t>
            </a:r>
            <a:r>
              <a:rPr lang="fr-FR" dirty="0" err="1"/>
              <a:t>using</a:t>
            </a:r>
            <a:r>
              <a:rPr lang="fr-FR" dirty="0"/>
              <a:t> it</a:t>
            </a:r>
          </a:p>
          <a:p>
            <a:pPr marL="171450" lvl="0" indent="-171450" algn="l" rtl="0">
              <a:spcBef>
                <a:spcPts val="0"/>
              </a:spcBef>
              <a:spcAft>
                <a:spcPts val="0"/>
              </a:spcAft>
            </a:pPr>
            <a:r>
              <a:rPr lang="fr-FR" dirty="0" err="1"/>
              <a:t>Usually</a:t>
            </a:r>
            <a:r>
              <a:rPr lang="fr-FR" dirty="0"/>
              <a:t>, high turnover is good, but </a:t>
            </a:r>
            <a:r>
              <a:rPr lang="fr-FR" dirty="0" err="1"/>
              <a:t>here</a:t>
            </a:r>
            <a:r>
              <a:rPr lang="fr-FR" dirty="0"/>
              <a:t> it shows the exact opposite </a:t>
            </a:r>
            <a:r>
              <a:rPr lang="fr-FR" dirty="0" err="1"/>
              <a:t>with</a:t>
            </a:r>
            <a:r>
              <a:rPr lang="fr-FR" dirty="0"/>
              <a:t> BAD group </a:t>
            </a:r>
            <a:r>
              <a:rPr lang="fr-FR" dirty="0" err="1"/>
              <a:t>doing</a:t>
            </a:r>
            <a:r>
              <a:rPr lang="fr-FR" dirty="0"/>
              <a:t> </a:t>
            </a:r>
            <a:r>
              <a:rPr lang="fr-FR" dirty="0" err="1"/>
              <a:t>better</a:t>
            </a:r>
            <a:r>
              <a:rPr lang="fr-FR" dirty="0"/>
              <a:t> </a:t>
            </a:r>
            <a:r>
              <a:rPr lang="fr-FR" dirty="0" err="1"/>
              <a:t>than</a:t>
            </a:r>
            <a:r>
              <a:rPr lang="fr-FR" dirty="0"/>
              <a:t> GOOD group on the long run, </a:t>
            </a:r>
          </a:p>
          <a:p>
            <a:pPr marL="171450" lvl="0" indent="-171450" algn="l" rtl="0">
              <a:spcBef>
                <a:spcPts val="0"/>
              </a:spcBef>
              <a:spcAft>
                <a:spcPts val="0"/>
              </a:spcAft>
            </a:pPr>
            <a:r>
              <a:rPr lang="en-US" dirty="0"/>
              <a:t>As a result, the market still prefer the safety cushion of slower inventory turnover because investors want airlines to keep their operations running smoothly wit enough spare parts to handle repairs quickly, without cancelling or delaying flights</a:t>
            </a:r>
          </a:p>
          <a:p>
            <a:pPr marL="171450" lvl="0" indent="-171450" algn="l" rtl="0">
              <a:spcBef>
                <a:spcPts val="0"/>
              </a:spcBef>
              <a:spcAft>
                <a:spcPts val="0"/>
              </a:spcAft>
            </a:pPr>
            <a:endParaRPr lang="fr-FR" dirty="0"/>
          </a:p>
        </p:txBody>
      </p:sp>
      <p:sp>
        <p:nvSpPr>
          <p:cNvPr id="142" name="Google Shape;142;g3e904caf41a_1_72:notes">
            <a:extLst>
              <a:ext uri="{FF2B5EF4-FFF2-40B4-BE49-F238E27FC236}">
                <a16:creationId xmlns:a16="http://schemas.microsoft.com/office/drawing/2014/main" id="{42C6DE4E-862F-9095-A101-D2F33D4CE4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2500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9EE2483-DB9E-7719-859D-7091263E789B}"/>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B8F8DA5F-2C82-DA8E-B982-9215CBF7E2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i="1" dirty="0"/>
              <a:t>both</a:t>
            </a:r>
            <a:r>
              <a:rPr lang="en-US" dirty="0"/>
              <a:t> GOOD and BAD are completely crushed by the green </a:t>
            </a:r>
            <a:r>
              <a:rPr lang="en-US" b="1" dirty="0"/>
              <a:t>Industry Average</a:t>
            </a:r>
            <a:r>
              <a:rPr lang="en-US" dirty="0"/>
              <a:t> line, which stays firmly positive.</a:t>
            </a:r>
          </a:p>
          <a:p>
            <a:pPr marL="171450" lvl="0" indent="-171450" algn="l" rtl="0">
              <a:spcBef>
                <a:spcPts val="0"/>
              </a:spcBef>
              <a:spcAft>
                <a:spcPts val="0"/>
              </a:spcAft>
            </a:pPr>
            <a:r>
              <a:rPr lang="en-US" dirty="0"/>
              <a:t>This happens because if you choose very fast turnover, it means that you gave almost no safety stocks in case of maintenance or repair necessity, but you choose very slow turnover it means you keep huge quantity of stocks, which burns cash</a:t>
            </a:r>
          </a:p>
          <a:p>
            <a:pPr marL="171450" lvl="0" indent="-171450" algn="l" rtl="0">
              <a:spcBef>
                <a:spcPts val="0"/>
              </a:spcBef>
              <a:spcAft>
                <a:spcPts val="0"/>
              </a:spcAft>
            </a:pPr>
            <a:r>
              <a:rPr lang="en-US" dirty="0"/>
              <a:t>As a result, balancing inventory management is the key</a:t>
            </a:r>
          </a:p>
        </p:txBody>
      </p:sp>
      <p:sp>
        <p:nvSpPr>
          <p:cNvPr id="142" name="Google Shape;142;g3e904caf41a_1_72:notes">
            <a:extLst>
              <a:ext uri="{FF2B5EF4-FFF2-40B4-BE49-F238E27FC236}">
                <a16:creationId xmlns:a16="http://schemas.microsoft.com/office/drawing/2014/main" id="{B001280A-9E6A-AD6A-F233-72557FB40A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4692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CBC2C03-CB2B-8A23-839A-D47B84936197}"/>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A4AB3344-E2F9-6BB0-82C4-10845365A9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And following that logic, the </a:t>
            </a:r>
            <a:r>
              <a:rPr lang="en-US" dirty="0" err="1"/>
              <a:t>avaergae</a:t>
            </a:r>
            <a:r>
              <a:rPr lang="en-US" dirty="0"/>
              <a:t> sale period turns the annual turnover into exact numbers of days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Again it shows us that the best inventory strategy is one that minimizes time spent sitting in a hangar, while still keeping just enough operational buffer to ensure the daily flight schedule remains perfectly protected."</a:t>
            </a:r>
          </a:p>
          <a:p>
            <a:pPr marL="0" lvl="0" indent="0" algn="l" rtl="0">
              <a:spcBef>
                <a:spcPts val="0"/>
              </a:spcBef>
              <a:spcAft>
                <a:spcPts val="0"/>
              </a:spcAft>
              <a:buNone/>
            </a:pPr>
            <a:endParaRPr dirty="0"/>
          </a:p>
        </p:txBody>
      </p:sp>
      <p:sp>
        <p:nvSpPr>
          <p:cNvPr id="142" name="Google Shape;142;g3e904caf41a_1_72:notes">
            <a:extLst>
              <a:ext uri="{FF2B5EF4-FFF2-40B4-BE49-F238E27FC236}">
                <a16:creationId xmlns:a16="http://schemas.microsoft.com/office/drawing/2014/main" id="{E62C5C9B-7818-81C8-32FB-65E2445E55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2117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06A15C3-CFCD-B510-6A64-B177F634F003}"/>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E3EC7332-0784-4B7D-3891-AC56846CB4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dirty="0"/>
              <a:t>Now we arrive at the Operating Cycle, which brings everything we have said before</a:t>
            </a:r>
          </a:p>
          <a:p>
            <a:pPr marL="171450" lvl="0" indent="-171450" algn="l" rtl="0">
              <a:spcBef>
                <a:spcPts val="0"/>
              </a:spcBef>
              <a:spcAft>
                <a:spcPts val="0"/>
              </a:spcAft>
            </a:pPr>
            <a:r>
              <a:rPr lang="en-US" dirty="0"/>
              <a:t>This ratio tell us how fast an airlines can turn asset into cash</a:t>
            </a:r>
          </a:p>
          <a:p>
            <a:pPr marL="171450" lvl="0" indent="-171450" algn="l" rtl="0">
              <a:spcBef>
                <a:spcPts val="0"/>
              </a:spcBef>
              <a:spcAft>
                <a:spcPts val="0"/>
              </a:spcAft>
            </a:pPr>
            <a:r>
              <a:rPr lang="fr-FR" dirty="0"/>
              <a:t>Once </a:t>
            </a:r>
            <a:r>
              <a:rPr lang="fr-FR" dirty="0" err="1"/>
              <a:t>Again</a:t>
            </a:r>
            <a:r>
              <a:rPr lang="fr-FR" dirty="0"/>
              <a:t> the BAD groups </a:t>
            </a:r>
            <a:r>
              <a:rPr lang="fr-FR" dirty="0" err="1"/>
              <a:t>outperfomrs</a:t>
            </a:r>
            <a:r>
              <a:rPr lang="fr-FR" dirty="0"/>
              <a:t> the GOOD group, which </a:t>
            </a:r>
            <a:r>
              <a:rPr lang="fr-FR" dirty="0" err="1"/>
              <a:t>reach</a:t>
            </a:r>
            <a:r>
              <a:rPr lang="fr-FR" dirty="0"/>
              <a:t> </a:t>
            </a:r>
            <a:r>
              <a:rPr lang="fr-FR" dirty="0" err="1"/>
              <a:t>negative</a:t>
            </a:r>
            <a:r>
              <a:rPr lang="fr-FR" dirty="0"/>
              <a:t> 40% </a:t>
            </a:r>
            <a:r>
              <a:rPr lang="fr-FR" dirty="0" err="1"/>
              <a:t>returns</a:t>
            </a:r>
            <a:endParaRPr lang="fr-FR" dirty="0"/>
          </a:p>
          <a:p>
            <a:r>
              <a:rPr lang="en-US" dirty="0"/>
              <a:t>Ultra-low-cost carriers like Frontier (ULCC) and Allegiant (ALGT) rank at the top because they hold very little inventory and collect cash quickly. However, this makes them more vulnerable to maintenance delays and keeps them focused on lower-margin leisure passengers.</a:t>
            </a:r>
          </a:p>
          <a:p>
            <a:r>
              <a:rPr lang="en-US" dirty="0"/>
              <a:t>On the other hand, legacy airlines like American Airlines (AAL) and Delta (DAL) rank lower because they keep large spare-parts inventories and offer more flexible payment terms to corporate customers.</a:t>
            </a:r>
          </a:p>
          <a:p>
            <a:pPr marL="158750" indent="0">
              <a:buNone/>
            </a:pPr>
            <a:r>
              <a:rPr lang="en-US" dirty="0">
                <a:sym typeface="Wingdings" panose="05000000000000000000" pitchFamily="2" charset="2"/>
              </a:rPr>
              <a:t> </a:t>
            </a:r>
            <a:r>
              <a:rPr lang="en-US" dirty="0"/>
              <a:t> this proves that in the airline industry, an ultra-fast operating cycle is actually a sign of structural vulnerability. That’s why investors prefer slower operating cycle of big carriers</a:t>
            </a:r>
          </a:p>
        </p:txBody>
      </p:sp>
      <p:sp>
        <p:nvSpPr>
          <p:cNvPr id="142" name="Google Shape;142;g3e904caf41a_1_72:notes">
            <a:extLst>
              <a:ext uri="{FF2B5EF4-FFF2-40B4-BE49-F238E27FC236}">
                <a16:creationId xmlns:a16="http://schemas.microsoft.com/office/drawing/2014/main" id="{DB9A52A2-DCA3-02A6-403F-B15665C98D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7370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B53482A-8BA1-291B-2259-3FC2117B4F67}"/>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C42197C0-7A90-DD37-4ABA-CBE4CCA7CA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To conclude our efficiency ratio analysis, if operating cycle shows us how far airlines can turn assets into cash, now total asset shows how much revenue an airline generates for every dollar invested in its assets,</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 but if we look at the value table asset turnover for each </a:t>
            </a:r>
            <a:r>
              <a:rPr lang="en-US" dirty="0" err="1"/>
              <a:t>companys</a:t>
            </a:r>
            <a:r>
              <a:rPr lang="en-US" dirty="0"/>
              <a:t> is under 1, which means for $1 of asset, it generates less than $1</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Why are these numbers so low? Because airlines are among the most capital-intensive businesses. Their balance sheets are severely weighed down by massive, fixed assets like </a:t>
            </a:r>
            <a:r>
              <a:rPr lang="en-US" dirty="0" err="1"/>
              <a:t>aircrafst</a:t>
            </a:r>
            <a:r>
              <a:rPr lang="en-US" dirty="0"/>
              <a:t>, engines, </a:t>
            </a:r>
            <a:r>
              <a:rPr lang="en-US" dirty="0" err="1"/>
              <a:t>quipment</a:t>
            </a:r>
            <a:r>
              <a:rPr lang="en-US" dirty="0"/>
              <a:t>. Because of that it grads the entire ratio down mathematically</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This aspect of the airlines industry </a:t>
            </a:r>
            <a:r>
              <a:rPr lang="en-US" dirty="0" err="1"/>
              <a:t>als</a:t>
            </a:r>
            <a:r>
              <a:rPr lang="en-US" dirty="0"/>
              <a:t> explain the negative </a:t>
            </a:r>
            <a:r>
              <a:rPr lang="en-US" dirty="0" err="1"/>
              <a:t>retuns</a:t>
            </a:r>
            <a:r>
              <a:rPr lang="en-US" dirty="0"/>
              <a:t> here,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When an airline sits in the “BAD” with very low asset turnover (like Allegiant in the 0.40–0.50 range), it means a large portion of its fleet is not being used efficiently. They are not generating enough revenue.</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On the other hand, GOOD” extreme by stretching a small or aging fleet creates operational problems like delays, maintenance constraints, and scheduling issues.</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dirty="0"/>
              <a:t>n both cases, profitability suffers, which is why returns can end up negative at the extremes.</a:t>
            </a:r>
          </a:p>
        </p:txBody>
      </p:sp>
      <p:sp>
        <p:nvSpPr>
          <p:cNvPr id="142" name="Google Shape;142;g3e904caf41a_1_72:notes">
            <a:extLst>
              <a:ext uri="{FF2B5EF4-FFF2-40B4-BE49-F238E27FC236}">
                <a16:creationId xmlns:a16="http://schemas.microsoft.com/office/drawing/2014/main" id="{9BA3DDAE-290A-5C22-1452-924E947E3D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13771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1832FCC-89C7-FFB4-7F1F-090660F67BBD}"/>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BF9DCC08-F059-868C-5734-705DB19821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At the end of the </a:t>
            </a:r>
            <a:r>
              <a:rPr lang="fr-FR" dirty="0" err="1"/>
              <a:t>day</a:t>
            </a:r>
            <a:r>
              <a:rPr lang="fr-FR" dirty="0"/>
              <a:t>, </a:t>
            </a:r>
            <a:r>
              <a:rPr lang="fr-FR" dirty="0" err="1"/>
              <a:t>investors</a:t>
            </a:r>
            <a:r>
              <a:rPr lang="fr-FR" dirty="0"/>
              <a:t> </a:t>
            </a:r>
            <a:r>
              <a:rPr lang="fr-FR" dirty="0" err="1"/>
              <a:t>penalize</a:t>
            </a:r>
            <a:r>
              <a:rPr lang="fr-FR" dirty="0"/>
              <a:t> both </a:t>
            </a:r>
            <a:r>
              <a:rPr lang="fr-FR" dirty="0" err="1"/>
              <a:t>extrem</a:t>
            </a:r>
            <a:r>
              <a:rPr lang="fr-FR" dirty="0"/>
              <a:t> </a:t>
            </a:r>
            <a:r>
              <a:rPr lang="fr-FR" dirty="0" err="1"/>
              <a:t>strategies</a:t>
            </a:r>
            <a:r>
              <a:rPr lang="fr-FR" dirty="0"/>
              <a:t>, </a:t>
            </a:r>
            <a:r>
              <a:rPr lang="fr-FR" dirty="0" err="1"/>
              <a:t>they</a:t>
            </a:r>
            <a:r>
              <a:rPr lang="fr-FR" dirty="0"/>
              <a:t> </a:t>
            </a:r>
            <a:r>
              <a:rPr lang="fr-FR" dirty="0" err="1"/>
              <a:t>reward</a:t>
            </a:r>
            <a:r>
              <a:rPr lang="fr-FR" dirty="0"/>
              <a:t> </a:t>
            </a:r>
            <a:r>
              <a:rPr lang="fr-FR" dirty="0" err="1"/>
              <a:t>those</a:t>
            </a:r>
            <a:r>
              <a:rPr lang="fr-FR" dirty="0"/>
              <a:t> who </a:t>
            </a:r>
            <a:r>
              <a:rPr lang="en-US" dirty="0"/>
              <a:t>matching fleet capacity better with consumer demand to maximize revenue without drowning in fixed-asset overhead."</a:t>
            </a:r>
            <a:endParaRPr dirty="0"/>
          </a:p>
        </p:txBody>
      </p:sp>
      <p:sp>
        <p:nvSpPr>
          <p:cNvPr id="142" name="Google Shape;142;g3e904caf41a_1_72:notes">
            <a:extLst>
              <a:ext uri="{FF2B5EF4-FFF2-40B4-BE49-F238E27FC236}">
                <a16:creationId xmlns:a16="http://schemas.microsoft.com/office/drawing/2014/main" id="{CB2D363C-E144-E397-DDDD-3FF2CEB33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74406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F404DD1-0054-E58F-5608-4DF85B2A89DD}"/>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EF2D9A19-E8DC-4A7F-32B1-C7AE60D052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Okay </a:t>
            </a:r>
            <a:r>
              <a:rPr lang="fr-FR" dirty="0" err="1"/>
              <a:t>now</a:t>
            </a:r>
            <a:r>
              <a:rPr lang="fr-FR" dirty="0"/>
              <a:t> </a:t>
            </a:r>
            <a:r>
              <a:rPr lang="fr-FR" dirty="0" err="1"/>
              <a:t>let’s</a:t>
            </a:r>
            <a:r>
              <a:rPr lang="fr-FR" dirty="0"/>
              <a:t> move on </a:t>
            </a:r>
            <a:r>
              <a:rPr lang="fr-FR" dirty="0" err="1"/>
              <a:t>with</a:t>
            </a:r>
            <a:r>
              <a:rPr lang="fr-FR" dirty="0"/>
              <a:t> the </a:t>
            </a:r>
            <a:r>
              <a:rPr lang="fr-FR" dirty="0" err="1"/>
              <a:t>leverae</a:t>
            </a:r>
            <a:r>
              <a:rPr lang="fr-FR" dirty="0"/>
              <a:t> ratios, </a:t>
            </a:r>
            <a:r>
              <a:rPr lang="fr-FR" dirty="0" err="1"/>
              <a:t>starting</a:t>
            </a:r>
            <a:r>
              <a:rPr lang="fr-FR" dirty="0"/>
              <a:t> </a:t>
            </a:r>
            <a:r>
              <a:rPr lang="fr-FR" dirty="0" err="1"/>
              <a:t>with</a:t>
            </a:r>
            <a:r>
              <a:rPr lang="fr-FR" dirty="0"/>
              <a:t> times </a:t>
            </a:r>
            <a:r>
              <a:rPr lang="fr-FR" dirty="0" err="1"/>
              <a:t>interest</a:t>
            </a:r>
            <a:r>
              <a:rPr lang="fr-FR" dirty="0"/>
              <a:t> </a:t>
            </a:r>
            <a:r>
              <a:rPr lang="fr-FR" dirty="0" err="1"/>
              <a:t>earned</a:t>
            </a:r>
            <a:r>
              <a:rPr lang="fr-FR" dirty="0"/>
              <a:t>, which </a:t>
            </a:r>
            <a:r>
              <a:rPr lang="fr-FR" dirty="0" err="1"/>
              <a:t>evaluates</a:t>
            </a:r>
            <a:r>
              <a:rPr lang="fr-FR" dirty="0"/>
              <a:t> </a:t>
            </a:r>
            <a:r>
              <a:rPr lang="fr-FR" dirty="0" err="1"/>
              <a:t>solvency</a:t>
            </a:r>
            <a:r>
              <a:rPr lang="fr-FR" dirty="0"/>
              <a:t> by </a:t>
            </a:r>
            <a:r>
              <a:rPr lang="fr-FR" dirty="0" err="1"/>
              <a:t>calculating</a:t>
            </a:r>
            <a:r>
              <a:rPr lang="fr-FR" dirty="0"/>
              <a:t> how </a:t>
            </a:r>
            <a:r>
              <a:rPr lang="fr-FR" dirty="0" err="1"/>
              <a:t>many</a:t>
            </a:r>
            <a:r>
              <a:rPr lang="fr-FR" dirty="0"/>
              <a:t> times over an </a:t>
            </a:r>
            <a:r>
              <a:rPr lang="fr-FR" dirty="0" err="1"/>
              <a:t>airline</a:t>
            </a:r>
            <a:r>
              <a:rPr lang="fr-FR" dirty="0"/>
              <a:t> operating profit can cover </a:t>
            </a:r>
            <a:r>
              <a:rPr lang="fr-FR" dirty="0" err="1"/>
              <a:t>its</a:t>
            </a:r>
            <a:r>
              <a:rPr lang="fr-FR" dirty="0"/>
              <a:t> </a:t>
            </a:r>
            <a:r>
              <a:rPr lang="fr-FR" dirty="0" err="1"/>
              <a:t>fixed</a:t>
            </a:r>
            <a:r>
              <a:rPr lang="fr-FR" dirty="0"/>
              <a:t> </a:t>
            </a:r>
            <a:r>
              <a:rPr lang="fr-FR" dirty="0" err="1"/>
              <a:t>interest</a:t>
            </a:r>
            <a:r>
              <a:rPr lang="fr-FR" dirty="0"/>
              <a:t> </a:t>
            </a:r>
            <a:r>
              <a:rPr lang="fr-FR" dirty="0" err="1"/>
              <a:t>expenses</a:t>
            </a:r>
            <a:endParaRPr lang="fr-FR" dirty="0"/>
          </a:p>
          <a:p>
            <a:pPr marL="0" lvl="0" indent="0" algn="l" rtl="0">
              <a:spcBef>
                <a:spcPts val="0"/>
              </a:spcBef>
              <a:spcAft>
                <a:spcPts val="0"/>
              </a:spcAft>
              <a:buNone/>
            </a:pPr>
            <a:endParaRPr lang="fr-FR" dirty="0"/>
          </a:p>
          <a:p>
            <a:pPr marL="171450" lvl="0" indent="-171450" algn="l" rtl="0">
              <a:spcBef>
                <a:spcPts val="0"/>
              </a:spcBef>
              <a:spcAft>
                <a:spcPts val="0"/>
              </a:spcAft>
            </a:pPr>
            <a:r>
              <a:rPr lang="fr-FR" dirty="0" err="1"/>
              <a:t>Looking</a:t>
            </a:r>
            <a:r>
              <a:rPr lang="fr-FR" dirty="0"/>
              <a:t> at the value, </a:t>
            </a:r>
            <a:r>
              <a:rPr lang="fr-FR" dirty="0" err="1"/>
              <a:t>many</a:t>
            </a:r>
            <a:r>
              <a:rPr lang="fr-FR" dirty="0"/>
              <a:t> ratios are </a:t>
            </a:r>
            <a:r>
              <a:rPr lang="fr-FR" dirty="0" err="1"/>
              <a:t>dangerously</a:t>
            </a:r>
            <a:r>
              <a:rPr lang="fr-FR" dirty="0"/>
              <a:t> </a:t>
            </a:r>
            <a:r>
              <a:rPr lang="fr-FR" dirty="0" err="1"/>
              <a:t>low</a:t>
            </a:r>
            <a:r>
              <a:rPr lang="fr-FR" dirty="0"/>
              <a:t>, but </a:t>
            </a:r>
            <a:r>
              <a:rPr lang="fr-FR" dirty="0" err="1"/>
              <a:t>we</a:t>
            </a:r>
            <a:r>
              <a:rPr lang="fr-FR" dirty="0"/>
              <a:t> </a:t>
            </a:r>
            <a:r>
              <a:rPr lang="fr-FR" dirty="0" err="1"/>
              <a:t>see</a:t>
            </a:r>
            <a:r>
              <a:rPr lang="fr-FR" dirty="0"/>
              <a:t> multiple </a:t>
            </a:r>
            <a:r>
              <a:rPr lang="fr-FR" dirty="0" err="1"/>
              <a:t>negative</a:t>
            </a:r>
            <a:r>
              <a:rPr lang="fr-FR" dirty="0"/>
              <a:t> values </a:t>
            </a:r>
            <a:r>
              <a:rPr lang="fr-FR" dirty="0" err="1"/>
              <a:t>too</a:t>
            </a:r>
            <a:r>
              <a:rPr lang="fr-FR" dirty="0"/>
              <a:t> </a:t>
            </a:r>
            <a:r>
              <a:rPr lang="fr-FR" dirty="0" err="1"/>
              <a:t>such</a:t>
            </a:r>
            <a:r>
              <a:rPr lang="fr-FR" dirty="0"/>
              <a:t> as Frontier </a:t>
            </a:r>
            <a:r>
              <a:rPr lang="fr-FR" dirty="0" err="1"/>
              <a:t>with</a:t>
            </a:r>
            <a:r>
              <a:rPr lang="fr-FR" dirty="0"/>
              <a:t> -3.24 in 2025, and </a:t>
            </a:r>
            <a:r>
              <a:rPr lang="fr-FR" dirty="0" err="1"/>
              <a:t>even</a:t>
            </a:r>
            <a:r>
              <a:rPr lang="fr-FR" dirty="0"/>
              <a:t> </a:t>
            </a:r>
            <a:r>
              <a:rPr lang="fr-FR" dirty="0" err="1"/>
              <a:t>Jeetblue</a:t>
            </a:r>
            <a:r>
              <a:rPr lang="fr-FR" dirty="0"/>
              <a:t> for consécutives </a:t>
            </a:r>
            <a:r>
              <a:rPr lang="fr-FR" dirty="0" err="1"/>
              <a:t>years</a:t>
            </a:r>
            <a:r>
              <a:rPr lang="fr-FR" dirty="0"/>
              <a:t>.  </a:t>
            </a:r>
            <a:r>
              <a:rPr lang="fr-FR" dirty="0" err="1"/>
              <a:t>Usually</a:t>
            </a:r>
            <a:r>
              <a:rPr lang="fr-FR" dirty="0"/>
              <a:t> in </a:t>
            </a:r>
            <a:r>
              <a:rPr lang="fr-FR" dirty="0" err="1"/>
              <a:t>textbook</a:t>
            </a:r>
            <a:r>
              <a:rPr lang="fr-FR" dirty="0"/>
              <a:t>, </a:t>
            </a:r>
            <a:r>
              <a:rPr lang="fr-FR" dirty="0" err="1"/>
              <a:t>solvency</a:t>
            </a:r>
            <a:r>
              <a:rPr lang="fr-FR" dirty="0"/>
              <a:t> </a:t>
            </a:r>
            <a:r>
              <a:rPr lang="fr-FR" dirty="0" err="1"/>
              <a:t>risk</a:t>
            </a:r>
            <a:r>
              <a:rPr lang="fr-FR" dirty="0"/>
              <a:t> like that is </a:t>
            </a:r>
            <a:r>
              <a:rPr lang="fr-FR" dirty="0" err="1"/>
              <a:t>agressively</a:t>
            </a:r>
            <a:r>
              <a:rPr lang="fr-FR" dirty="0"/>
              <a:t> </a:t>
            </a:r>
            <a:r>
              <a:rPr lang="fr-FR" dirty="0" err="1"/>
              <a:t>punished</a:t>
            </a:r>
            <a:r>
              <a:rPr lang="fr-FR" dirty="0"/>
              <a:t> by the </a:t>
            </a:r>
            <a:r>
              <a:rPr lang="fr-FR" dirty="0" err="1"/>
              <a:t>market</a:t>
            </a:r>
            <a:r>
              <a:rPr lang="fr-FR" dirty="0"/>
              <a:t>, and </a:t>
            </a:r>
            <a:r>
              <a:rPr lang="fr-FR" dirty="0" err="1"/>
              <a:t>we</a:t>
            </a:r>
            <a:r>
              <a:rPr lang="fr-FR" dirty="0"/>
              <a:t> can </a:t>
            </a:r>
            <a:r>
              <a:rPr lang="fr-FR" dirty="0" err="1"/>
              <a:t>see</a:t>
            </a:r>
            <a:r>
              <a:rPr lang="fr-FR" dirty="0"/>
              <a:t> it </a:t>
            </a:r>
            <a:r>
              <a:rPr lang="fr-FR" dirty="0" err="1"/>
              <a:t>here</a:t>
            </a:r>
            <a:r>
              <a:rPr lang="fr-FR" dirty="0"/>
              <a:t> </a:t>
            </a:r>
            <a:r>
              <a:rPr lang="fr-FR" dirty="0" err="1"/>
              <a:t>with</a:t>
            </a:r>
            <a:r>
              <a:rPr lang="fr-FR" dirty="0"/>
              <a:t> the </a:t>
            </a:r>
            <a:r>
              <a:rPr lang="fr-FR" dirty="0" err="1"/>
              <a:t>blue</a:t>
            </a:r>
            <a:r>
              <a:rPr lang="fr-FR" dirty="0"/>
              <a:t> line </a:t>
            </a:r>
            <a:r>
              <a:rPr lang="fr-FR" dirty="0" err="1"/>
              <a:t>showing</a:t>
            </a:r>
            <a:r>
              <a:rPr lang="fr-FR" dirty="0"/>
              <a:t> </a:t>
            </a:r>
            <a:r>
              <a:rPr lang="fr-FR" dirty="0" err="1"/>
              <a:t>retuns</a:t>
            </a:r>
            <a:r>
              <a:rPr lang="fr-FR" dirty="0"/>
              <a:t> </a:t>
            </a:r>
            <a:r>
              <a:rPr lang="fr-FR" dirty="0" err="1"/>
              <a:t>reaching</a:t>
            </a:r>
            <a:r>
              <a:rPr lang="fr-FR" dirty="0"/>
              <a:t> </a:t>
            </a:r>
            <a:r>
              <a:rPr lang="fr-FR" dirty="0" err="1"/>
              <a:t>negative</a:t>
            </a:r>
            <a:r>
              <a:rPr lang="fr-FR" dirty="0"/>
              <a:t> 40%</a:t>
            </a:r>
          </a:p>
          <a:p>
            <a:pPr marL="171450" lvl="0" indent="-171450" algn="l" rtl="0">
              <a:spcBef>
                <a:spcPts val="0"/>
              </a:spcBef>
              <a:spcAft>
                <a:spcPts val="0"/>
              </a:spcAft>
            </a:pPr>
            <a:r>
              <a:rPr lang="fr-FR" dirty="0" err="1"/>
              <a:t>Here</a:t>
            </a:r>
            <a:r>
              <a:rPr lang="fr-FR" dirty="0"/>
              <a:t> low-cost </a:t>
            </a:r>
            <a:r>
              <a:rPr lang="fr-FR" dirty="0" err="1"/>
              <a:t>models</a:t>
            </a:r>
            <a:r>
              <a:rPr lang="fr-FR" dirty="0"/>
              <a:t> like </a:t>
            </a:r>
            <a:r>
              <a:rPr lang="fr-FR" dirty="0" err="1"/>
              <a:t>frontier</a:t>
            </a:r>
            <a:r>
              <a:rPr lang="fr-FR" dirty="0"/>
              <a:t> and </a:t>
            </a:r>
            <a:r>
              <a:rPr lang="fr-FR" dirty="0" err="1"/>
              <a:t>jetblue</a:t>
            </a:r>
            <a:r>
              <a:rPr lang="fr-FR" dirty="0"/>
              <a:t> are </a:t>
            </a:r>
            <a:r>
              <a:rPr lang="fr-FR" dirty="0" err="1"/>
              <a:t>failing</a:t>
            </a:r>
            <a:r>
              <a:rPr lang="fr-FR" dirty="0"/>
              <a:t> to </a:t>
            </a:r>
            <a:r>
              <a:rPr lang="fr-FR" dirty="0" err="1"/>
              <a:t>generate</a:t>
            </a:r>
            <a:r>
              <a:rPr lang="fr-FR" dirty="0"/>
              <a:t> positive </a:t>
            </a:r>
            <a:r>
              <a:rPr lang="fr-FR" dirty="0" err="1"/>
              <a:t>operting</a:t>
            </a:r>
            <a:r>
              <a:rPr lang="fr-FR" dirty="0"/>
              <a:t> profit to cover their obligations, </a:t>
            </a:r>
            <a:r>
              <a:rPr lang="fr-FR" dirty="0" err="1"/>
              <a:t>proving</a:t>
            </a:r>
            <a:r>
              <a:rPr lang="fr-FR" dirty="0"/>
              <a:t> that this model is </a:t>
            </a:r>
            <a:r>
              <a:rPr lang="fr-FR" dirty="0" err="1"/>
              <a:t>unable</a:t>
            </a:r>
            <a:r>
              <a:rPr lang="fr-FR" dirty="0"/>
              <a:t> to </a:t>
            </a:r>
            <a:r>
              <a:rPr lang="fr-FR" dirty="0" err="1"/>
              <a:t>absorb</a:t>
            </a:r>
            <a:r>
              <a:rPr lang="fr-FR" dirty="0"/>
              <a:t> </a:t>
            </a:r>
            <a:r>
              <a:rPr lang="fr-FR" dirty="0" err="1"/>
              <a:t>rising</a:t>
            </a:r>
            <a:r>
              <a:rPr lang="fr-FR" dirty="0"/>
              <a:t> </a:t>
            </a:r>
            <a:r>
              <a:rPr lang="fr-FR" dirty="0" err="1"/>
              <a:t>fixed</a:t>
            </a:r>
            <a:r>
              <a:rPr lang="fr-FR" dirty="0"/>
              <a:t> </a:t>
            </a:r>
            <a:r>
              <a:rPr lang="fr-FR" dirty="0" err="1"/>
              <a:t>costs</a:t>
            </a:r>
            <a:r>
              <a:rPr lang="fr-FR" dirty="0"/>
              <a:t>, </a:t>
            </a:r>
            <a:r>
              <a:rPr lang="fr-FR" dirty="0" err="1"/>
              <a:t>thereby</a:t>
            </a:r>
            <a:r>
              <a:rPr lang="fr-FR" dirty="0"/>
              <a:t> </a:t>
            </a:r>
            <a:r>
              <a:rPr lang="fr-FR" dirty="0" err="1"/>
              <a:t>impacting</a:t>
            </a:r>
            <a:r>
              <a:rPr lang="fr-FR" dirty="0"/>
              <a:t> their </a:t>
            </a:r>
            <a:r>
              <a:rPr lang="fr-FR" dirty="0" err="1"/>
              <a:t>profitability</a:t>
            </a:r>
            <a:endParaRPr lang="fr-FR" dirty="0"/>
          </a:p>
          <a:p>
            <a:pPr marL="171450" lvl="0" indent="-171450" algn="l" rtl="0">
              <a:spcBef>
                <a:spcPts val="0"/>
              </a:spcBef>
              <a:spcAft>
                <a:spcPts val="0"/>
              </a:spcAft>
            </a:pPr>
            <a:r>
              <a:rPr lang="fr-FR" dirty="0"/>
              <a:t>On the </a:t>
            </a:r>
            <a:r>
              <a:rPr lang="fr-FR" dirty="0" err="1"/>
              <a:t>oposite</a:t>
            </a:r>
            <a:r>
              <a:rPr lang="fr-FR" dirty="0"/>
              <a:t> Delta is </a:t>
            </a:r>
            <a:r>
              <a:rPr lang="fr-FR" dirty="0" err="1"/>
              <a:t>performing</a:t>
            </a:r>
            <a:r>
              <a:rPr lang="fr-FR" dirty="0"/>
              <a:t> at the top </a:t>
            </a:r>
            <a:r>
              <a:rPr lang="fr-FR" dirty="0" err="1"/>
              <a:t>being</a:t>
            </a:r>
            <a:r>
              <a:rPr lang="fr-FR" dirty="0"/>
              <a:t> able to pay </a:t>
            </a:r>
            <a:r>
              <a:rPr lang="fr-FR" dirty="0" err="1"/>
              <a:t>confortably</a:t>
            </a:r>
            <a:r>
              <a:rPr lang="fr-FR" dirty="0"/>
              <a:t> </a:t>
            </a:r>
            <a:r>
              <a:rPr lang="fr-FR" dirty="0" err="1"/>
              <a:t>its</a:t>
            </a:r>
            <a:r>
              <a:rPr lang="fr-FR" dirty="0"/>
              <a:t> </a:t>
            </a:r>
            <a:r>
              <a:rPr lang="fr-FR" dirty="0" err="1"/>
              <a:t>dept</a:t>
            </a:r>
            <a:r>
              <a:rPr lang="fr-FR" dirty="0"/>
              <a:t> </a:t>
            </a:r>
            <a:r>
              <a:rPr lang="fr-FR" dirty="0" err="1"/>
              <a:t>eight</a:t>
            </a:r>
            <a:r>
              <a:rPr lang="fr-FR" dirty="0"/>
              <a:t> time over. </a:t>
            </a:r>
          </a:p>
          <a:p>
            <a:pPr marL="0" lvl="0" indent="0" algn="l" rtl="0">
              <a:spcBef>
                <a:spcPts val="0"/>
              </a:spcBef>
              <a:spcAft>
                <a:spcPts val="0"/>
              </a:spcAft>
              <a:buNone/>
            </a:pPr>
            <a:r>
              <a:rPr lang="en-US" dirty="0"/>
              <a:t>- the market has zero tolerance for solvency issues. A high, positive Times Interest Earned ratio is an absolute prerequisite for corporate survival, and investors heavily rewarded carriers like Delta </a:t>
            </a:r>
            <a:endParaRPr dirty="0"/>
          </a:p>
        </p:txBody>
      </p:sp>
      <p:sp>
        <p:nvSpPr>
          <p:cNvPr id="142" name="Google Shape;142;g3e904caf41a_1_72:notes">
            <a:extLst>
              <a:ext uri="{FF2B5EF4-FFF2-40B4-BE49-F238E27FC236}">
                <a16:creationId xmlns:a16="http://schemas.microsoft.com/office/drawing/2014/main" id="{0312381C-CF5C-B1A5-9CC5-8C47F1A4D4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8893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DB2D7A9-7F0A-4B79-0B16-B53719A66AFC}"/>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17A5C066-6B47-EE23-40AB-4E40CFAE78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fr-FR" dirty="0"/>
              <a:t>Now </a:t>
            </a:r>
            <a:r>
              <a:rPr lang="fr-FR" dirty="0" err="1"/>
              <a:t>we</a:t>
            </a:r>
            <a:r>
              <a:rPr lang="fr-FR" dirty="0"/>
              <a:t> look at the </a:t>
            </a:r>
            <a:r>
              <a:rPr lang="fr-FR" dirty="0" err="1"/>
              <a:t>debt</a:t>
            </a:r>
            <a:r>
              <a:rPr lang="fr-FR" dirty="0"/>
              <a:t> to </a:t>
            </a:r>
            <a:r>
              <a:rPr lang="fr-FR" dirty="0" err="1"/>
              <a:t>equity</a:t>
            </a:r>
            <a:r>
              <a:rPr lang="fr-FR" dirty="0"/>
              <a:t> </a:t>
            </a:r>
            <a:r>
              <a:rPr lang="fr-FR" dirty="0" err="1"/>
              <a:t>raito</a:t>
            </a:r>
            <a:r>
              <a:rPr lang="fr-FR" dirty="0"/>
              <a:t>. </a:t>
            </a:r>
            <a:r>
              <a:rPr lang="en-US" dirty="0"/>
              <a:t>This metric measures how much debt an airline uses compared to the shareholders’ equity financing the company. </a:t>
            </a:r>
          </a:p>
          <a:p>
            <a:pPr marL="171450" lvl="0" indent="-171450" algn="l" rtl="0">
              <a:spcBef>
                <a:spcPts val="0"/>
              </a:spcBef>
              <a:spcAft>
                <a:spcPts val="0"/>
              </a:spcAft>
            </a:pPr>
            <a:r>
              <a:rPr lang="en-US" b="1" dirty="0"/>
              <a:t>Rank 1 represents the highest Debt-to-Equity ratios</a:t>
            </a:r>
            <a:r>
              <a:rPr lang="en-US" dirty="0"/>
              <a:t>, and the graph reveals a fascinating trend: the market heavily rewards high financial leverage</a:t>
            </a:r>
          </a:p>
          <a:p>
            <a:pPr marL="171450" lvl="0" indent="-171450" algn="l" rtl="0">
              <a:spcBef>
                <a:spcPts val="0"/>
              </a:spcBef>
              <a:spcAft>
                <a:spcPts val="0"/>
              </a:spcAft>
            </a:pPr>
            <a:r>
              <a:rPr lang="en-US" dirty="0"/>
              <a:t>Looking at the performance: : The GOOD group that </a:t>
            </a:r>
            <a:r>
              <a:rPr lang="en-US" dirty="0" err="1"/>
              <a:t>showcare</a:t>
            </a:r>
            <a:r>
              <a:rPr lang="en-US" dirty="0"/>
              <a:t> big carrier like DELTA and United, reaches a dominant 50%  cumulative return. </a:t>
            </a:r>
          </a:p>
          <a:p>
            <a:pPr marL="171450" lvl="0" indent="-171450" algn="l" rtl="0">
              <a:spcBef>
                <a:spcPts val="0"/>
              </a:spcBef>
              <a:spcAft>
                <a:spcPts val="0"/>
              </a:spcAft>
            </a:pPr>
            <a:r>
              <a:rPr lang="en-US" dirty="0"/>
              <a:t>In the Case of Delta it is understandable when they can pay their interest eight times over</a:t>
            </a:r>
          </a:p>
          <a:p>
            <a:pPr marL="171450" lvl="0" indent="-171450" algn="l" rtl="0">
              <a:spcBef>
                <a:spcPts val="0"/>
              </a:spcBef>
              <a:spcAft>
                <a:spcPts val="0"/>
              </a:spcAft>
            </a:pPr>
            <a:r>
              <a:rPr lang="en-US" dirty="0"/>
              <a:t>n a capital-intensive industry, debt is the primary fuel for growth, as long as the airline has the strong revenue to back it up</a:t>
            </a:r>
          </a:p>
        </p:txBody>
      </p:sp>
      <p:sp>
        <p:nvSpPr>
          <p:cNvPr id="142" name="Google Shape;142;g3e904caf41a_1_72:notes">
            <a:extLst>
              <a:ext uri="{FF2B5EF4-FFF2-40B4-BE49-F238E27FC236}">
                <a16:creationId xmlns:a16="http://schemas.microsoft.com/office/drawing/2014/main" id="{AAA24ADD-33D0-113F-5C55-1CFAE6F6DE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8394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72D9D22-0860-1E82-AE7C-2CD7213C3B43}"/>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11685C39-F4E4-5753-78C8-98767F5DC0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err="1"/>
              <a:t>Equity</a:t>
            </a:r>
            <a:r>
              <a:rPr lang="fr-FR" dirty="0"/>
              <a:t> Multiplier </a:t>
            </a:r>
            <a:r>
              <a:rPr lang="fr-FR" dirty="0" err="1"/>
              <a:t>measure</a:t>
            </a:r>
            <a:r>
              <a:rPr lang="fr-FR" dirty="0"/>
              <a:t> how </a:t>
            </a:r>
            <a:r>
              <a:rPr lang="fr-FR" dirty="0" err="1"/>
              <a:t>much</a:t>
            </a:r>
            <a:r>
              <a:rPr lang="fr-FR" dirty="0"/>
              <a:t> of an </a:t>
            </a:r>
            <a:r>
              <a:rPr lang="fr-FR" dirty="0" err="1"/>
              <a:t>airline’s</a:t>
            </a:r>
            <a:r>
              <a:rPr lang="fr-FR" dirty="0"/>
              <a:t> </a:t>
            </a:r>
            <a:r>
              <a:rPr lang="fr-FR" dirty="0" err="1"/>
              <a:t>asser</a:t>
            </a:r>
            <a:r>
              <a:rPr lang="fr-FR" dirty="0"/>
              <a:t> are </a:t>
            </a:r>
            <a:r>
              <a:rPr lang="fr-FR" dirty="0" err="1"/>
              <a:t>backed</a:t>
            </a:r>
            <a:r>
              <a:rPr lang="fr-FR" dirty="0"/>
              <a:t> by </a:t>
            </a:r>
            <a:r>
              <a:rPr lang="fr-FR" dirty="0" err="1"/>
              <a:t>its</a:t>
            </a:r>
            <a:r>
              <a:rPr lang="fr-FR" dirty="0"/>
              <a:t> </a:t>
            </a:r>
            <a:r>
              <a:rPr lang="fr-FR" dirty="0" err="1"/>
              <a:t>shareholders</a:t>
            </a:r>
            <a:r>
              <a:rPr lang="fr-FR" dirty="0"/>
              <a:t> versus how </a:t>
            </a:r>
            <a:r>
              <a:rPr lang="fr-FR" dirty="0" err="1"/>
              <a:t>much</a:t>
            </a:r>
            <a:r>
              <a:rPr lang="fr-FR" dirty="0"/>
              <a:t> relies on </a:t>
            </a:r>
            <a:r>
              <a:rPr lang="fr-FR" dirty="0" err="1"/>
              <a:t>debt</a:t>
            </a:r>
            <a:r>
              <a:rPr lang="fr-FR" dirty="0"/>
              <a:t>.</a:t>
            </a:r>
          </a:p>
          <a:p>
            <a:pPr marL="171450" lvl="0" indent="-171450" algn="l" rtl="0">
              <a:spcBef>
                <a:spcPts val="0"/>
              </a:spcBef>
              <a:spcAft>
                <a:spcPts val="0"/>
              </a:spcAft>
            </a:pPr>
            <a:r>
              <a:rPr lang="fr-FR" dirty="0"/>
              <a:t> </a:t>
            </a:r>
            <a:r>
              <a:rPr lang="fr-FR" dirty="0" err="1"/>
              <a:t>Here</a:t>
            </a:r>
            <a:r>
              <a:rPr lang="fr-FR" dirty="0"/>
              <a:t> Rank 1 </a:t>
            </a:r>
            <a:r>
              <a:rPr lang="fr-FR" dirty="0" err="1"/>
              <a:t>represnts</a:t>
            </a:r>
            <a:r>
              <a:rPr lang="fr-FR" dirty="0"/>
              <a:t> the </a:t>
            </a:r>
            <a:r>
              <a:rPr lang="fr-FR" dirty="0" err="1"/>
              <a:t>highest</a:t>
            </a:r>
            <a:r>
              <a:rPr lang="fr-FR" dirty="0"/>
              <a:t> </a:t>
            </a:r>
            <a:r>
              <a:rPr lang="fr-FR" dirty="0" err="1"/>
              <a:t>multipliers</a:t>
            </a:r>
            <a:r>
              <a:rPr lang="fr-FR" dirty="0"/>
              <a:t>, </a:t>
            </a:r>
            <a:r>
              <a:rPr lang="fr-FR" dirty="0" err="1"/>
              <a:t>signaling</a:t>
            </a:r>
            <a:r>
              <a:rPr lang="fr-FR" dirty="0"/>
              <a:t> agressive asset </a:t>
            </a:r>
            <a:r>
              <a:rPr lang="fr-FR" dirty="0" err="1"/>
              <a:t>leverage</a:t>
            </a:r>
            <a:endParaRPr lang="fr-FR" dirty="0"/>
          </a:p>
          <a:p>
            <a:pPr marL="171450" lvl="0" indent="-171450" algn="l" rtl="0">
              <a:spcBef>
                <a:spcPts val="0"/>
              </a:spcBef>
              <a:spcAft>
                <a:spcPts val="0"/>
              </a:spcAft>
            </a:pPr>
            <a:r>
              <a:rPr lang="en-US" dirty="0"/>
              <a:t>On the flip side, the market penalizes passivity and distress. JetBlue sits near a 1-to-1 asset-to-equity ratio, which investors views as under-leveraged and stagnant.</a:t>
            </a:r>
          </a:p>
          <a:p>
            <a:pPr marL="171450" lvl="0" indent="-171450" algn="l" rtl="0">
              <a:spcBef>
                <a:spcPts val="0"/>
              </a:spcBef>
              <a:spcAft>
                <a:spcPts val="0"/>
              </a:spcAft>
            </a:pPr>
            <a:r>
              <a:rPr lang="en-US" dirty="0"/>
              <a:t>. Meanwhile, American Airlines is stuck dead last at Rank 8 every year because its massive debt load completely wiped out its shareholders' equity into deep negative return</a:t>
            </a:r>
          </a:p>
          <a:p>
            <a:pPr marL="171450" lvl="0" indent="-171450" algn="l" rtl="0">
              <a:spcBef>
                <a:spcPts val="0"/>
              </a:spcBef>
              <a:spcAft>
                <a:spcPts val="0"/>
              </a:spcAft>
            </a:pPr>
            <a:r>
              <a:rPr lang="en-US" dirty="0"/>
              <a:t>The key </a:t>
            </a:r>
            <a:r>
              <a:rPr lang="en-US" dirty="0" err="1"/>
              <a:t>takeways</a:t>
            </a:r>
            <a:r>
              <a:rPr lang="en-US" dirty="0"/>
              <a:t> : investors demand aggressive financial leverage to expand assets, but they require a positive, stable equity cushion to support that growth</a:t>
            </a:r>
            <a:endParaRPr lang="fr-FR" dirty="0"/>
          </a:p>
        </p:txBody>
      </p:sp>
      <p:sp>
        <p:nvSpPr>
          <p:cNvPr id="142" name="Google Shape;142;g3e904caf41a_1_72:notes">
            <a:extLst>
              <a:ext uri="{FF2B5EF4-FFF2-40B4-BE49-F238E27FC236}">
                <a16:creationId xmlns:a16="http://schemas.microsoft.com/office/drawing/2014/main" id="{8C198B3C-86E4-505E-8F9E-124644E68B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4049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03538DF-0B55-55CD-6B9C-F22A057FD34F}"/>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8D389FF2-6DA9-0EE2-BD0E-6F27BB58E4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Now </a:t>
            </a:r>
            <a:r>
              <a:rPr lang="fr-FR" dirty="0" err="1"/>
              <a:t>let’s</a:t>
            </a:r>
            <a:r>
              <a:rPr lang="fr-FR" dirty="0"/>
              <a:t> focus on the </a:t>
            </a:r>
            <a:r>
              <a:rPr lang="fr-FR" dirty="0" err="1"/>
              <a:t>profitability</a:t>
            </a:r>
            <a:r>
              <a:rPr lang="fr-FR" dirty="0"/>
              <a:t> </a:t>
            </a:r>
            <a:r>
              <a:rPr lang="fr-FR" dirty="0" err="1"/>
              <a:t>metrics</a:t>
            </a:r>
            <a:r>
              <a:rPr lang="fr-FR" dirty="0"/>
              <a:t> </a:t>
            </a:r>
            <a:r>
              <a:rPr lang="fr-FR" dirty="0" err="1"/>
              <a:t>with</a:t>
            </a:r>
            <a:r>
              <a:rPr lang="fr-FR" dirty="0"/>
              <a:t> the Net Profit </a:t>
            </a:r>
            <a:r>
              <a:rPr lang="fr-FR" dirty="0" err="1"/>
              <a:t>Margin</a:t>
            </a:r>
            <a:r>
              <a:rPr lang="fr-FR" dirty="0"/>
              <a:t>.</a:t>
            </a:r>
          </a:p>
          <a:p>
            <a:pPr marL="171450" lvl="0" indent="-171450" algn="l" rtl="0">
              <a:spcBef>
                <a:spcPts val="0"/>
              </a:spcBef>
              <a:spcAft>
                <a:spcPts val="0"/>
              </a:spcAft>
              <a:buFontTx/>
              <a:buChar char="-"/>
            </a:pPr>
            <a:r>
              <a:rPr lang="fr-FR" dirty="0"/>
              <a:t>The </a:t>
            </a:r>
            <a:r>
              <a:rPr lang="fr-FR" dirty="0" err="1"/>
              <a:t>rankin</a:t>
            </a:r>
            <a:r>
              <a:rPr lang="fr-FR" dirty="0"/>
              <a:t> table shows that </a:t>
            </a:r>
            <a:r>
              <a:rPr lang="fr-FR" dirty="0" err="1"/>
              <a:t>most</a:t>
            </a:r>
            <a:r>
              <a:rPr lang="fr-FR" dirty="0"/>
              <a:t> </a:t>
            </a:r>
            <a:r>
              <a:rPr lang="fr-FR" dirty="0" err="1"/>
              <a:t>poritable</a:t>
            </a:r>
            <a:r>
              <a:rPr lang="fr-FR" dirty="0"/>
              <a:t> </a:t>
            </a:r>
            <a:r>
              <a:rPr lang="fr-FR" dirty="0" err="1"/>
              <a:t>airlines</a:t>
            </a:r>
            <a:r>
              <a:rPr lang="fr-FR" dirty="0"/>
              <a:t> are </a:t>
            </a:r>
            <a:r>
              <a:rPr lang="fr-FR" dirty="0" err="1"/>
              <a:t>usually</a:t>
            </a:r>
            <a:r>
              <a:rPr lang="fr-FR" dirty="0"/>
              <a:t> bit carriers like Delta and United, </a:t>
            </a:r>
            <a:r>
              <a:rPr lang="en-US" dirty="0"/>
              <a:t>The red 'GOOD' portfolio tracks the high-margin winners, yielding an upward trend of nearly 30% cumulative returns</a:t>
            </a:r>
          </a:p>
          <a:p>
            <a:pPr marL="171450" lvl="0" indent="-171450" algn="l" rtl="0">
              <a:spcBef>
                <a:spcPts val="0"/>
              </a:spcBef>
              <a:spcAft>
                <a:spcPts val="0"/>
              </a:spcAft>
              <a:buFontTx/>
              <a:buChar char="-"/>
            </a:pPr>
            <a:r>
              <a:rPr lang="en-US" dirty="0"/>
              <a:t>In a capital-heavy sector, strong margins are the only way to fund asset expansion and cover fixed costs without relying on toxic debt</a:t>
            </a:r>
          </a:p>
          <a:p>
            <a:pPr marL="171450" lvl="0" indent="-171450" algn="l" rtl="0">
              <a:spcBef>
                <a:spcPts val="0"/>
              </a:spcBef>
              <a:spcAft>
                <a:spcPts val="0"/>
              </a:spcAft>
              <a:buFontTx/>
              <a:buChar char="-"/>
            </a:pPr>
            <a:r>
              <a:rPr lang="en-US" dirty="0"/>
              <a:t>Without a profitable business, the budget models cannot generate shareholder returns, </a:t>
            </a:r>
            <a:endParaRPr dirty="0"/>
          </a:p>
        </p:txBody>
      </p:sp>
      <p:sp>
        <p:nvSpPr>
          <p:cNvPr id="142" name="Google Shape;142;g3e904caf41a_1_72:notes">
            <a:extLst>
              <a:ext uri="{FF2B5EF4-FFF2-40B4-BE49-F238E27FC236}">
                <a16:creationId xmlns:a16="http://schemas.microsoft.com/office/drawing/2014/main" id="{ABE2A236-ED20-9D1D-42BA-BFF64CAB64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63854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A1F655E-5DE4-A740-524E-40F82F7B38C5}"/>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D4732A96-9F4A-095F-1D03-9818DA6F52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The Return on Asset tells us </a:t>
            </a:r>
            <a:r>
              <a:rPr lang="fr-FR" dirty="0" err="1"/>
              <a:t>exaclty</a:t>
            </a:r>
            <a:r>
              <a:rPr lang="fr-FR" dirty="0"/>
              <a:t> how </a:t>
            </a:r>
            <a:r>
              <a:rPr lang="fr-FR" dirty="0" err="1"/>
              <a:t>effieciently</a:t>
            </a:r>
            <a:r>
              <a:rPr lang="fr-FR" dirty="0"/>
              <a:t> </a:t>
            </a:r>
            <a:r>
              <a:rPr lang="fr-FR" dirty="0" err="1"/>
              <a:t>manaement</a:t>
            </a:r>
            <a:r>
              <a:rPr lang="fr-FR" dirty="0"/>
              <a:t> </a:t>
            </a:r>
            <a:r>
              <a:rPr lang="fr-FR" dirty="0" err="1"/>
              <a:t>turns</a:t>
            </a:r>
            <a:r>
              <a:rPr lang="fr-FR" dirty="0"/>
              <a:t> assets </a:t>
            </a:r>
            <a:r>
              <a:rPr lang="fr-FR" dirty="0" err="1"/>
              <a:t>into</a:t>
            </a:r>
            <a:r>
              <a:rPr lang="fr-FR" dirty="0"/>
              <a:t> profits.</a:t>
            </a:r>
          </a:p>
          <a:p>
            <a:pPr marL="171450" lvl="0" indent="-171450" algn="l" rtl="0">
              <a:spcBef>
                <a:spcPts val="0"/>
              </a:spcBef>
              <a:spcAft>
                <a:spcPts val="0"/>
              </a:spcAft>
            </a:pPr>
            <a:r>
              <a:rPr lang="fr-FR" dirty="0"/>
              <a:t>Once </a:t>
            </a:r>
            <a:r>
              <a:rPr lang="fr-FR" dirty="0" err="1"/>
              <a:t>again</a:t>
            </a:r>
            <a:r>
              <a:rPr lang="fr-FR" dirty="0"/>
              <a:t> </a:t>
            </a:r>
            <a:r>
              <a:rPr lang="fr-FR" dirty="0" err="1"/>
              <a:t>legacy</a:t>
            </a:r>
            <a:r>
              <a:rPr lang="fr-FR" dirty="0"/>
              <a:t> carriers </a:t>
            </a:r>
            <a:r>
              <a:rPr lang="fr-FR" dirty="0" err="1"/>
              <a:t>with</a:t>
            </a:r>
            <a:r>
              <a:rPr lang="fr-FR" dirty="0"/>
              <a:t> Delta and United are </a:t>
            </a:r>
            <a:r>
              <a:rPr lang="fr-FR" dirty="0" err="1"/>
              <a:t>most</a:t>
            </a:r>
            <a:r>
              <a:rPr lang="fr-FR" dirty="0"/>
              <a:t> </a:t>
            </a:r>
            <a:r>
              <a:rPr lang="fr-FR" dirty="0" err="1"/>
              <a:t>efficiant</a:t>
            </a:r>
            <a:r>
              <a:rPr lang="fr-FR" dirty="0"/>
              <a:t> asset performers, and </a:t>
            </a:r>
            <a:r>
              <a:rPr lang="fr-FR" dirty="0" err="1"/>
              <a:t>investors</a:t>
            </a:r>
            <a:r>
              <a:rPr lang="fr-FR" dirty="0"/>
              <a:t> </a:t>
            </a:r>
            <a:r>
              <a:rPr lang="fr-FR" dirty="0" err="1"/>
              <a:t>favors</a:t>
            </a:r>
            <a:r>
              <a:rPr lang="fr-FR" dirty="0"/>
              <a:t> </a:t>
            </a:r>
            <a:r>
              <a:rPr lang="fr-FR" dirty="0" err="1"/>
              <a:t>those</a:t>
            </a:r>
            <a:r>
              <a:rPr lang="fr-FR" dirty="0"/>
              <a:t> </a:t>
            </a:r>
            <a:r>
              <a:rPr lang="fr-FR" dirty="0" err="1"/>
              <a:t>arilines</a:t>
            </a:r>
            <a:r>
              <a:rPr lang="fr-FR" dirty="0"/>
              <a:t> that can </a:t>
            </a:r>
            <a:r>
              <a:rPr lang="fr-FR" dirty="0" err="1"/>
              <a:t>optimize</a:t>
            </a:r>
            <a:r>
              <a:rPr lang="fr-FR" dirty="0"/>
              <a:t> their </a:t>
            </a:r>
            <a:r>
              <a:rPr lang="fr-FR" dirty="0" err="1"/>
              <a:t>own</a:t>
            </a:r>
            <a:r>
              <a:rPr lang="fr-FR" dirty="0"/>
              <a:t> profits</a:t>
            </a:r>
          </a:p>
          <a:p>
            <a:pPr marL="171450" lvl="0" indent="-171450" algn="l" rtl="0">
              <a:spcBef>
                <a:spcPts val="0"/>
              </a:spcBef>
              <a:spcAft>
                <a:spcPts val="0"/>
              </a:spcAft>
            </a:pPr>
            <a:r>
              <a:rPr lang="en-US" dirty="0"/>
              <a:t>Meanwhile, this serves as further definitive proof that </a:t>
            </a:r>
            <a:r>
              <a:rPr lang="en-US" b="1" dirty="0"/>
              <a:t>low-cost models are suffering heavily</a:t>
            </a:r>
            <a:r>
              <a:rPr lang="en-US" dirty="0"/>
              <a:t>. Like Frontier or </a:t>
            </a:r>
            <a:r>
              <a:rPr lang="en-US" dirty="0" err="1"/>
              <a:t>Jetblue</a:t>
            </a:r>
            <a:endParaRPr lang="en-US" dirty="0"/>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This proving that superior asset efficiency generates significant extra value, while companies with weak asset utilization heavily destroy investor capital.</a:t>
            </a:r>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For investors, a high ROA proves that an airline isn't just expanding its fleet size blindly; it's actively maximizing the revenue and profit potential of every single aircraft, making it an excellent signal for stock market outperformance.</a:t>
            </a:r>
            <a:endParaRPr lang="fr-FR" dirty="0"/>
          </a:p>
          <a:p>
            <a:pPr marL="0" lvl="0" indent="0" algn="l" rtl="0">
              <a:spcBef>
                <a:spcPts val="0"/>
              </a:spcBef>
              <a:spcAft>
                <a:spcPts val="0"/>
              </a:spcAft>
              <a:buNone/>
            </a:pPr>
            <a:endParaRPr dirty="0"/>
          </a:p>
        </p:txBody>
      </p:sp>
      <p:sp>
        <p:nvSpPr>
          <p:cNvPr id="142" name="Google Shape;142;g3e904caf41a_1_72:notes">
            <a:extLst>
              <a:ext uri="{FF2B5EF4-FFF2-40B4-BE49-F238E27FC236}">
                <a16:creationId xmlns:a16="http://schemas.microsoft.com/office/drawing/2014/main" id="{DB87B2E5-4593-D2C7-62B5-2D5B7BCB2B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8322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059F045-D19D-FA6E-D4C3-F2C1E31A2359}"/>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2F41E743-941D-2AA9-50DF-C1FCED4ABB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Moving on the </a:t>
            </a:r>
            <a:r>
              <a:rPr lang="fr-FR" dirty="0" err="1"/>
              <a:t>the</a:t>
            </a:r>
            <a:r>
              <a:rPr lang="fr-FR" dirty="0"/>
              <a:t> Return on </a:t>
            </a:r>
            <a:r>
              <a:rPr lang="fr-FR" dirty="0" err="1"/>
              <a:t>equity</a:t>
            </a:r>
            <a:r>
              <a:rPr lang="fr-FR" dirty="0"/>
              <a:t>, one of </a:t>
            </a:r>
            <a:r>
              <a:rPr lang="fr-FR" dirty="0" err="1"/>
              <a:t>investors</a:t>
            </a:r>
            <a:r>
              <a:rPr lang="fr-FR" dirty="0"/>
              <a:t> </a:t>
            </a:r>
            <a:r>
              <a:rPr lang="fr-FR" dirty="0" err="1"/>
              <a:t>favourite</a:t>
            </a:r>
            <a:r>
              <a:rPr lang="fr-FR" dirty="0"/>
              <a:t> ratio because it </a:t>
            </a:r>
            <a:r>
              <a:rPr lang="fr-FR" dirty="0" err="1"/>
              <a:t>measures</a:t>
            </a:r>
            <a:r>
              <a:rPr lang="fr-FR" dirty="0"/>
              <a:t> </a:t>
            </a:r>
            <a:r>
              <a:rPr lang="fr-FR" dirty="0" err="1"/>
              <a:t>exactly</a:t>
            </a:r>
            <a:r>
              <a:rPr lang="fr-FR" dirty="0"/>
              <a:t> how </a:t>
            </a:r>
            <a:r>
              <a:rPr lang="fr-FR" dirty="0" err="1"/>
              <a:t>much</a:t>
            </a:r>
            <a:r>
              <a:rPr lang="fr-FR" dirty="0"/>
              <a:t> profit management </a:t>
            </a:r>
            <a:r>
              <a:rPr lang="fr-FR" dirty="0" err="1"/>
              <a:t>generate</a:t>
            </a:r>
            <a:r>
              <a:rPr lang="fr-FR" dirty="0"/>
              <a:t> </a:t>
            </a:r>
            <a:r>
              <a:rPr lang="fr-FR" dirty="0" err="1"/>
              <a:t>from</a:t>
            </a:r>
            <a:r>
              <a:rPr lang="fr-FR" dirty="0"/>
              <a:t> </a:t>
            </a:r>
            <a:r>
              <a:rPr lang="fr-FR" dirty="0" err="1"/>
              <a:t>shareholder</a:t>
            </a:r>
            <a:r>
              <a:rPr lang="fr-FR" dirty="0"/>
              <a:t> capital. </a:t>
            </a:r>
            <a:br>
              <a:rPr lang="fr-FR" dirty="0"/>
            </a:br>
            <a:r>
              <a:rPr lang="fr-FR" dirty="0"/>
              <a:t>- The graph </a:t>
            </a:r>
            <a:r>
              <a:rPr lang="fr-FR" dirty="0" err="1"/>
              <a:t>reveals</a:t>
            </a:r>
            <a:r>
              <a:rPr lang="fr-FR" dirty="0"/>
              <a:t> that </a:t>
            </a:r>
            <a:r>
              <a:rPr lang="fr-FR" dirty="0" err="1"/>
              <a:t>market</a:t>
            </a:r>
            <a:r>
              <a:rPr lang="fr-FR" dirty="0"/>
              <a:t> </a:t>
            </a:r>
            <a:r>
              <a:rPr lang="fr-FR" dirty="0" err="1"/>
              <a:t>heavily</a:t>
            </a:r>
            <a:r>
              <a:rPr lang="fr-FR" dirty="0"/>
              <a:t> </a:t>
            </a:r>
            <a:r>
              <a:rPr lang="fr-FR" dirty="0" err="1"/>
              <a:t>reward</a:t>
            </a:r>
            <a:r>
              <a:rPr lang="fr-FR" dirty="0"/>
              <a:t> high ROE, </a:t>
            </a:r>
            <a:r>
              <a:rPr lang="fr-FR" dirty="0" err="1"/>
              <a:t>with</a:t>
            </a:r>
            <a:r>
              <a:rPr lang="fr-FR" dirty="0"/>
              <a:t> </a:t>
            </a:r>
            <a:r>
              <a:rPr lang="fr-FR" dirty="0" err="1"/>
              <a:t>red</a:t>
            </a:r>
            <a:r>
              <a:rPr lang="fr-FR" dirty="0"/>
              <a:t> GOOD group </a:t>
            </a:r>
            <a:r>
              <a:rPr lang="fr-FR" dirty="0" err="1"/>
              <a:t>reaching</a:t>
            </a:r>
            <a:r>
              <a:rPr lang="fr-FR" dirty="0"/>
              <a:t> up to 50% cumulative </a:t>
            </a:r>
            <a:r>
              <a:rPr lang="fr-FR" dirty="0" err="1"/>
              <a:t>returns</a:t>
            </a:r>
            <a:br>
              <a:rPr lang="fr-FR" dirty="0"/>
            </a:br>
            <a:r>
              <a:rPr lang="fr-FR" dirty="0" err="1"/>
              <a:t>with</a:t>
            </a:r>
            <a:r>
              <a:rPr lang="fr-FR" dirty="0"/>
              <a:t> the </a:t>
            </a:r>
            <a:r>
              <a:rPr lang="fr-FR" dirty="0" err="1"/>
              <a:t>same</a:t>
            </a:r>
            <a:r>
              <a:rPr lang="fr-FR" dirty="0"/>
              <a:t> </a:t>
            </a:r>
            <a:r>
              <a:rPr lang="fr-FR" dirty="0" err="1"/>
              <a:t>arilines</a:t>
            </a:r>
            <a:r>
              <a:rPr lang="fr-FR" dirty="0"/>
              <a:t> </a:t>
            </a:r>
            <a:r>
              <a:rPr lang="fr-FR" dirty="0" err="1"/>
              <a:t>dominating</a:t>
            </a:r>
            <a:r>
              <a:rPr lang="fr-FR" dirty="0"/>
              <a:t> the </a:t>
            </a:r>
            <a:r>
              <a:rPr lang="fr-FR" dirty="0" err="1"/>
              <a:t>ranking</a:t>
            </a:r>
            <a:r>
              <a:rPr lang="fr-FR" dirty="0"/>
              <a:t>. </a:t>
            </a:r>
          </a:p>
          <a:p>
            <a:pPr marL="0" lvl="0" indent="0" algn="l" rtl="0">
              <a:spcBef>
                <a:spcPts val="0"/>
              </a:spcBef>
              <a:spcAft>
                <a:spcPts val="0"/>
              </a:spcAft>
              <a:buNone/>
            </a:pPr>
            <a:r>
              <a:rPr lang="fr-FR" dirty="0"/>
              <a:t>- Hile on the other hand u</a:t>
            </a:r>
            <a:r>
              <a:rPr lang="en-US" dirty="0" err="1"/>
              <a:t>ltra</a:t>
            </a:r>
            <a:r>
              <a:rPr lang="en-US" dirty="0"/>
              <a:t>-low-cost carriers like Frontier (ULCC) and Allegiant (ALGT) drop straight into the bottom blue spots in later years, signaling that their low-margin business models struggled to generate meaningful equity returns.</a:t>
            </a:r>
            <a:endParaRPr lang="fr-FR" dirty="0"/>
          </a:p>
        </p:txBody>
      </p:sp>
      <p:sp>
        <p:nvSpPr>
          <p:cNvPr id="142" name="Google Shape;142;g3e904caf41a_1_72:notes">
            <a:extLst>
              <a:ext uri="{FF2B5EF4-FFF2-40B4-BE49-F238E27FC236}">
                <a16:creationId xmlns:a16="http://schemas.microsoft.com/office/drawing/2014/main" id="{BB266A2D-02D3-9F95-7760-DB2E6162B6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27545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A9A55E0-86E6-62F8-10EC-EF51C8E44828}"/>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AC6838FA-0E80-132C-C77C-D50949E2BB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Earnings per Share measures an airline's net profitability allocated to each outstanding share of common stock, serving as a primary gauge of bottom-line health.</a:t>
            </a:r>
          </a:p>
          <a:p>
            <a:pPr marL="171450" lvl="0" indent="-171450" algn="l" rtl="0">
              <a:spcBef>
                <a:spcPts val="0"/>
              </a:spcBef>
              <a:spcAft>
                <a:spcPts val="0"/>
              </a:spcAft>
            </a:pPr>
            <a:r>
              <a:rPr lang="en-US" dirty="0"/>
              <a:t>GOOD group with high EPS completely outperforms the BAD group by a massive 80% gap in cumulative returns around month 22.</a:t>
            </a:r>
          </a:p>
          <a:p>
            <a:pPr marL="171450" lvl="0" indent="-171450" algn="l" rtl="0">
              <a:spcBef>
                <a:spcPts val="0"/>
              </a:spcBef>
              <a:spcAft>
                <a:spcPts val="0"/>
              </a:spcAft>
            </a:pPr>
            <a:r>
              <a:rPr lang="en-US" dirty="0"/>
              <a:t>Looking at the ranking table, we see a structural shift in 2021 where legacy giants United and American ranked at the very bottom due to massive pandemic fixed costs, while low-cost leisure carriers like Allegiant took the top spots.</a:t>
            </a:r>
          </a:p>
          <a:p>
            <a:pPr marL="171450" lvl="0" indent="-171450" algn="l" rtl="0">
              <a:spcBef>
                <a:spcPts val="0"/>
              </a:spcBef>
              <a:spcAft>
                <a:spcPts val="0"/>
              </a:spcAft>
            </a:pPr>
            <a:r>
              <a:rPr lang="en-US" dirty="0"/>
              <a:t>However, from 2022 to 2025, United and Delta permanently reclaimed the top 2 spots,</a:t>
            </a:r>
          </a:p>
          <a:p>
            <a:pPr marL="171450" lvl="0" indent="-171450" algn="l" rtl="0">
              <a:spcBef>
                <a:spcPts val="0"/>
              </a:spcBef>
              <a:spcAft>
                <a:spcPts val="0"/>
              </a:spcAft>
            </a:pPr>
            <a:r>
              <a:rPr lang="en-US" dirty="0"/>
              <a:t>For investors, a consistently </a:t>
            </a:r>
            <a:r>
              <a:rPr lang="en-US" dirty="0" err="1"/>
              <a:t>positive,and</a:t>
            </a:r>
            <a:r>
              <a:rPr lang="en-US" dirty="0"/>
              <a:t> high EPS proves making it a reliable predictor for strong stock performance</a:t>
            </a:r>
          </a:p>
          <a:p>
            <a:pPr marL="0" lvl="0" indent="0" algn="l" rtl="0">
              <a:spcBef>
                <a:spcPts val="0"/>
              </a:spcBef>
              <a:spcAft>
                <a:spcPts val="0"/>
              </a:spcAft>
              <a:buNone/>
            </a:pPr>
            <a:endParaRPr dirty="0"/>
          </a:p>
        </p:txBody>
      </p:sp>
      <p:sp>
        <p:nvSpPr>
          <p:cNvPr id="142" name="Google Shape;142;g3e904caf41a_1_72:notes">
            <a:extLst>
              <a:ext uri="{FF2B5EF4-FFF2-40B4-BE49-F238E27FC236}">
                <a16:creationId xmlns:a16="http://schemas.microsoft.com/office/drawing/2014/main" id="{6B18DF8C-2F6B-2EFF-93FB-68CEB2ABEE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88228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487A760-B03D-6C32-3B44-1C31F4C048E5}"/>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8ED346F6-B65F-A35A-F79E-8C436AD315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we've included the yellow S&amp;P 500 benchmark line. This demonstrates that high-EPS airlines—tracked in red—didn't just beat their peers in the same industry; they also beat the market and generated true market alpha, ,thereby outpacing the broader index with returns peaking over 50%</a:t>
            </a:r>
            <a:endParaRPr dirty="0"/>
          </a:p>
        </p:txBody>
      </p:sp>
      <p:sp>
        <p:nvSpPr>
          <p:cNvPr id="142" name="Google Shape;142;g3e904caf41a_1_72:notes">
            <a:extLst>
              <a:ext uri="{FF2B5EF4-FFF2-40B4-BE49-F238E27FC236}">
                <a16:creationId xmlns:a16="http://schemas.microsoft.com/office/drawing/2014/main" id="{4022197C-7E15-574A-61E8-6365590D5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650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B51B6F1-2C3D-78AF-9214-F935DA9FDF63}"/>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049B3318-FA97-16C9-26BE-5E78D52CB6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Price-earnings ratio measures the market price of an airline's stock relative to its earnings per share, showing how much investors are willing to pay for every dollar of profit.</a:t>
            </a:r>
          </a:p>
          <a:p>
            <a:pPr marL="171450" lvl="0" indent="-171450" algn="l" rtl="0">
              <a:spcBef>
                <a:spcPts val="0"/>
              </a:spcBef>
              <a:spcAft>
                <a:spcPts val="0"/>
              </a:spcAft>
            </a:pPr>
            <a:r>
              <a:rPr lang="en-US" dirty="0"/>
              <a:t>our graph shows that the BAD group with usually low-cost carriers like Frontier or </a:t>
            </a:r>
            <a:r>
              <a:rPr lang="en-US" dirty="0" err="1"/>
              <a:t>Jetblue</a:t>
            </a:r>
            <a:r>
              <a:rPr lang="en-US" dirty="0"/>
              <a:t> have lower or negative P/</a:t>
            </a:r>
            <a:r>
              <a:rPr lang="en-US" dirty="0" err="1"/>
              <a:t>Eand</a:t>
            </a:r>
            <a:r>
              <a:rPr lang="en-US" dirty="0"/>
              <a:t> they underperforms significantly, lagging behind the GOOD group by a wide 40% margin around month 22.</a:t>
            </a:r>
          </a:p>
          <a:p>
            <a:pPr marL="171450" lvl="0" indent="-171450" algn="l" rtl="0">
              <a:spcBef>
                <a:spcPts val="0"/>
              </a:spcBef>
              <a:spcAft>
                <a:spcPts val="0"/>
              </a:spcAft>
            </a:pPr>
            <a:r>
              <a:rPr lang="en-US" dirty="0"/>
              <a:t>Considering that Industry Index, companies with a high P/E ratio simply match the general market trend, while airlines with a low or negative P/E destroy investor value.</a:t>
            </a:r>
          </a:p>
          <a:p>
            <a:pPr marL="171450" lvl="0" indent="-171450" algn="l" rtl="0">
              <a:spcBef>
                <a:spcPts val="0"/>
              </a:spcBef>
              <a:spcAft>
                <a:spcPts val="0"/>
              </a:spcAft>
            </a:pPr>
            <a:r>
              <a:rPr lang="en-US" dirty="0"/>
              <a:t>For investors, a high P/E ratio in this sector does not guarantee market-beating returns, but avoiding the low P/E "value traps</a:t>
            </a:r>
            <a:endParaRPr dirty="0"/>
          </a:p>
        </p:txBody>
      </p:sp>
      <p:sp>
        <p:nvSpPr>
          <p:cNvPr id="142" name="Google Shape;142;g3e904caf41a_1_72:notes">
            <a:extLst>
              <a:ext uri="{FF2B5EF4-FFF2-40B4-BE49-F238E27FC236}">
                <a16:creationId xmlns:a16="http://schemas.microsoft.com/office/drawing/2014/main" id="{0F9DC089-80D0-D82D-AB37-CBEB6D5052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73228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9B6B0B1-27EF-094E-060B-1B28A1D1397A}"/>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4C5EC8ED-0F76-3926-009B-875BE26750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xplain</a:t>
            </a:r>
            <a:r>
              <a:rPr lang="en-US" dirty="0"/>
              <a:t> why airlines didn't give dividend! &gt; Because of government subsidies</a:t>
            </a:r>
            <a:endParaRPr dirty="0"/>
          </a:p>
        </p:txBody>
      </p:sp>
      <p:sp>
        <p:nvSpPr>
          <p:cNvPr id="142" name="Google Shape;142;g3e904caf41a_1_72:notes">
            <a:extLst>
              <a:ext uri="{FF2B5EF4-FFF2-40B4-BE49-F238E27FC236}">
                <a16:creationId xmlns:a16="http://schemas.microsoft.com/office/drawing/2014/main" id="{738B8C4F-267F-9FD2-D64F-E5288AEDB2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3848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885C376-C97F-023F-C7B5-93C64BF5C288}"/>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965FA75D-5C13-9527-FFB7-450B0B6E31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42" name="Google Shape;142;g3e904caf41a_1_72:notes">
            <a:extLst>
              <a:ext uri="{FF2B5EF4-FFF2-40B4-BE49-F238E27FC236}">
                <a16:creationId xmlns:a16="http://schemas.microsoft.com/office/drawing/2014/main" id="{C1AF74D5-2607-CB91-8E6C-86B7C028F3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4482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3A3805B-D327-33CA-62B5-5C8C0B8B5210}"/>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D3A488A3-B618-D681-15CC-2303D63105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Book Value per Share measures the net asset value of an airline on a per-share basis, representing the theoretical amount shareholders would receive if the company liquidated all assets and paid off all debts</a:t>
            </a:r>
          </a:p>
          <a:p>
            <a:pPr marL="171450" lvl="0" indent="-171450" algn="l" rtl="0">
              <a:spcBef>
                <a:spcPts val="0"/>
              </a:spcBef>
              <a:spcAft>
                <a:spcPts val="0"/>
              </a:spcAft>
            </a:pPr>
            <a:r>
              <a:rPr lang="en-US" dirty="0"/>
              <a:t>Interestingly, the performance graph shows that the market doesn’t blindly reward high book value</a:t>
            </a:r>
          </a:p>
          <a:p>
            <a:pPr marL="171450" lvl="0" indent="-171450" algn="l" rtl="0">
              <a:spcBef>
                <a:spcPts val="0"/>
              </a:spcBef>
              <a:spcAft>
                <a:spcPts val="0"/>
              </a:spcAft>
            </a:pPr>
            <a:r>
              <a:rPr lang="en-US" dirty="0"/>
              <a:t>The green industry average line actually leads, while the GOOG group underperforms. Investors treat book value with caution because a high paper value is meaningless in aviation unless those planes are actively generating strong forward earnings.“</a:t>
            </a:r>
          </a:p>
          <a:p>
            <a:pPr marL="171450" lvl="0" indent="-171450" algn="l" rtl="0">
              <a:spcBef>
                <a:spcPts val="0"/>
              </a:spcBef>
              <a:spcAft>
                <a:spcPts val="0"/>
              </a:spcAft>
            </a:pPr>
            <a:endParaRPr dirty="0"/>
          </a:p>
        </p:txBody>
      </p:sp>
      <p:sp>
        <p:nvSpPr>
          <p:cNvPr id="142" name="Google Shape;142;g3e904caf41a_1_72:notes">
            <a:extLst>
              <a:ext uri="{FF2B5EF4-FFF2-40B4-BE49-F238E27FC236}">
                <a16:creationId xmlns:a16="http://schemas.microsoft.com/office/drawing/2014/main" id="{F82A9504-9671-DB06-A32E-3389DA32F2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1471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1A33F6B-0F01-875D-C32F-0E5A7708DA7A}"/>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0130B009-59CE-F427-9280-04D16EA803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Now </a:t>
            </a:r>
            <a:r>
              <a:rPr lang="fr-FR" dirty="0" err="1"/>
              <a:t>looking</a:t>
            </a:r>
            <a:r>
              <a:rPr lang="fr-FR" dirty="0"/>
              <a:t> on </a:t>
            </a:r>
            <a:r>
              <a:rPr lang="fr-FR" dirty="0" err="1"/>
              <a:t>indsutry</a:t>
            </a:r>
            <a:r>
              <a:rPr lang="fr-FR" dirty="0"/>
              <a:t> </a:t>
            </a:r>
            <a:r>
              <a:rPr lang="fr-FR" dirty="0" err="1"/>
              <a:t>specific</a:t>
            </a:r>
            <a:r>
              <a:rPr lang="fr-FR" dirty="0"/>
              <a:t> </a:t>
            </a:r>
            <a:r>
              <a:rPr lang="fr-FR" dirty="0" err="1"/>
              <a:t>metrics</a:t>
            </a:r>
            <a:r>
              <a:rPr lang="fr-FR" dirty="0"/>
              <a:t>.</a:t>
            </a:r>
          </a:p>
          <a:p>
            <a:pPr marL="171450" lvl="0" indent="-171450" algn="l" rtl="0">
              <a:spcBef>
                <a:spcPts val="0"/>
              </a:spcBef>
              <a:spcAft>
                <a:spcPts val="0"/>
              </a:spcAft>
            </a:pPr>
            <a:r>
              <a:rPr lang="en-US" dirty="0"/>
              <a:t>CASM-ex (Cost per Available Seat Mile excluding fuel) measures an airline’s core operating efficiency by calculating how much it costs to fly one seat one mile, stripping out highly volatile fuel prices.</a:t>
            </a:r>
          </a:p>
          <a:p>
            <a:pPr marL="171450" lvl="0" indent="-171450" algn="l" rtl="0">
              <a:spcBef>
                <a:spcPts val="0"/>
              </a:spcBef>
              <a:spcAft>
                <a:spcPts val="0"/>
              </a:spcAft>
            </a:pPr>
            <a:r>
              <a:rPr lang="fr-FR" dirty="0"/>
              <a:t>This </a:t>
            </a:r>
            <a:r>
              <a:rPr lang="fr-FR" dirty="0" err="1"/>
              <a:t>metrics</a:t>
            </a:r>
            <a:r>
              <a:rPr lang="fr-FR" dirty="0"/>
              <a:t> </a:t>
            </a:r>
            <a:r>
              <a:rPr lang="fr-FR" dirty="0" err="1"/>
              <a:t>particularly</a:t>
            </a:r>
            <a:r>
              <a:rPr lang="fr-FR" dirty="0"/>
              <a:t> highlights how </a:t>
            </a:r>
            <a:r>
              <a:rPr lang="fr-FR" dirty="0" err="1"/>
              <a:t>insensitive</a:t>
            </a:r>
            <a:r>
              <a:rPr lang="fr-FR" dirty="0"/>
              <a:t> </a:t>
            </a:r>
            <a:r>
              <a:rPr lang="fr-FR" dirty="0" err="1"/>
              <a:t>investors</a:t>
            </a:r>
            <a:r>
              <a:rPr lang="fr-FR" dirty="0"/>
              <a:t> are </a:t>
            </a:r>
            <a:r>
              <a:rPr lang="fr-FR" dirty="0" err="1"/>
              <a:t>toward</a:t>
            </a:r>
            <a:r>
              <a:rPr lang="fr-FR" dirty="0"/>
              <a:t> ultra </a:t>
            </a:r>
            <a:r>
              <a:rPr lang="fr-FR" dirty="0" err="1"/>
              <a:t>low</a:t>
            </a:r>
            <a:r>
              <a:rPr lang="fr-FR" dirty="0"/>
              <a:t> </a:t>
            </a:r>
            <a:r>
              <a:rPr lang="fr-FR" dirty="0" err="1"/>
              <a:t>cost</a:t>
            </a:r>
            <a:r>
              <a:rPr lang="fr-FR" dirty="0"/>
              <a:t> </a:t>
            </a:r>
            <a:r>
              <a:rPr lang="fr-FR" dirty="0" err="1"/>
              <a:t>models</a:t>
            </a:r>
            <a:r>
              <a:rPr lang="fr-FR" dirty="0"/>
              <a:t> that are </a:t>
            </a:r>
            <a:r>
              <a:rPr lang="fr-FR" dirty="0" err="1"/>
              <a:t>rank</a:t>
            </a:r>
            <a:r>
              <a:rPr lang="fr-FR" dirty="0"/>
              <a:t> </a:t>
            </a:r>
            <a:r>
              <a:rPr lang="fr-FR" dirty="0" err="1"/>
              <a:t>among</a:t>
            </a:r>
            <a:r>
              <a:rPr lang="fr-FR" dirty="0"/>
              <a:t> the GOOD group because </a:t>
            </a:r>
            <a:r>
              <a:rPr lang="en-US" dirty="0"/>
              <a:t>our graph shows the high-cost BAD group completely </a:t>
            </a:r>
            <a:r>
              <a:rPr lang="en-US" dirty="0" err="1"/>
              <a:t>outperformnig</a:t>
            </a:r>
            <a:r>
              <a:rPr lang="en-US" dirty="0"/>
              <a:t> the low-cost GOOD group </a:t>
            </a:r>
          </a:p>
          <a:p>
            <a:pPr marL="171450" lvl="0" indent="-171450" algn="l" rtl="0">
              <a:spcBef>
                <a:spcPts val="0"/>
              </a:spcBef>
              <a:spcAft>
                <a:spcPts val="0"/>
              </a:spcAft>
            </a:pPr>
            <a:r>
              <a:rPr lang="en-US" dirty="0"/>
              <a:t>However, what is interesting to not is that less cost-efficient </a:t>
            </a:r>
            <a:r>
              <a:rPr lang="en-US" dirty="0" err="1"/>
              <a:t>arilines</a:t>
            </a:r>
            <a:r>
              <a:rPr lang="en-US" dirty="0"/>
              <a:t> are not bit legacy carriers </a:t>
            </a:r>
            <a:r>
              <a:rPr lang="en-US" dirty="0" err="1"/>
              <a:t>contrarly</a:t>
            </a:r>
            <a:r>
              <a:rPr lang="en-US" dirty="0"/>
              <a:t> to expectations, but </a:t>
            </a:r>
            <a:r>
              <a:rPr lang="en-US" dirty="0" err="1"/>
              <a:t>meridum</a:t>
            </a:r>
            <a:r>
              <a:rPr lang="en-US" dirty="0"/>
              <a:t> class like </a:t>
            </a:r>
            <a:r>
              <a:rPr lang="en-US" dirty="0" err="1"/>
              <a:t>alska</a:t>
            </a:r>
            <a:r>
              <a:rPr lang="en-US" dirty="0"/>
              <a:t> </a:t>
            </a:r>
            <a:endParaRPr dirty="0"/>
          </a:p>
        </p:txBody>
      </p:sp>
      <p:sp>
        <p:nvSpPr>
          <p:cNvPr id="142" name="Google Shape;142;g3e904caf41a_1_72:notes">
            <a:extLst>
              <a:ext uri="{FF2B5EF4-FFF2-40B4-BE49-F238E27FC236}">
                <a16:creationId xmlns:a16="http://schemas.microsoft.com/office/drawing/2014/main" id="{6FE990FE-6E9D-57C6-499C-7375820D9A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58244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9E1FB96-8B25-D008-4CA8-2B10A421849E}"/>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9DB90F37-D663-A851-2543-2CED06B7F8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RASM (Revenue per Available Seat Mile) measures an airline's top-line efficiency by calculating the total operating revenue generated per seat flown one mile, capturing both passenger ticket yields and extra fees like </a:t>
            </a:r>
            <a:r>
              <a:rPr lang="en-US" dirty="0" err="1"/>
              <a:t>baggages</a:t>
            </a:r>
            <a:r>
              <a:rPr lang="en-US" dirty="0"/>
              <a:t>.</a:t>
            </a:r>
          </a:p>
          <a:p>
            <a:pPr marL="171450" lvl="0" indent="-171450" algn="l" rtl="0">
              <a:spcBef>
                <a:spcPts val="0"/>
              </a:spcBef>
              <a:spcAft>
                <a:spcPts val="0"/>
              </a:spcAft>
            </a:pPr>
            <a:r>
              <a:rPr lang="en-US" dirty="0"/>
              <a:t>GOOD group with strong unit revenues completely outperforms the BAD group by a massive 65% around month 22</a:t>
            </a:r>
          </a:p>
          <a:p>
            <a:pPr marL="171450" lvl="0" indent="-171450" algn="l" rtl="0">
              <a:spcBef>
                <a:spcPts val="0"/>
              </a:spcBef>
              <a:spcAft>
                <a:spcPts val="0"/>
              </a:spcAft>
            </a:pPr>
            <a:r>
              <a:rPr lang="en-US" dirty="0"/>
              <a:t>IT proves that superior unit-revenue generation is the primary engine for driving premium market returns in this sector.</a:t>
            </a:r>
          </a:p>
          <a:p>
            <a:pPr marL="171450" lvl="0" indent="-171450" algn="l" rtl="0">
              <a:spcBef>
                <a:spcPts val="0"/>
              </a:spcBef>
              <a:spcAft>
                <a:spcPts val="0"/>
              </a:spcAft>
            </a:pPr>
            <a:r>
              <a:rPr lang="en-US" dirty="0"/>
              <a:t>As a result, For investors, a high RASM is a highly reliable indicator of stock market success, </a:t>
            </a:r>
            <a:endParaRPr dirty="0"/>
          </a:p>
        </p:txBody>
      </p:sp>
      <p:sp>
        <p:nvSpPr>
          <p:cNvPr id="142" name="Google Shape;142;g3e904caf41a_1_72:notes">
            <a:extLst>
              <a:ext uri="{FF2B5EF4-FFF2-40B4-BE49-F238E27FC236}">
                <a16:creationId xmlns:a16="http://schemas.microsoft.com/office/drawing/2014/main" id="{1DD739EE-E001-DDB1-5821-F36F20A74A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06064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DC565A4-2857-A523-AC96-1B5B7B2CE8EF}"/>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0F6A62FC-39A1-6BA9-675A-BF05CA3F89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Load Factor measures the percentage of available seating capacity that an airline actually fills with passengers, serving as a primary indicator of fleet utilization and demand.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GOOD group with higher load factor does hold an advantage,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Looking at the ranking table, we see extreme volatility in the business models:, there is no constant leaders, however (ULCC) consistently rank near the bottom, which sounds alarming since as a ultra low-cost they should </a:t>
            </a:r>
            <a:r>
              <a:rPr lang="en-US" dirty="0" err="1"/>
              <a:t>seak</a:t>
            </a:r>
            <a:r>
              <a:rPr lang="en-US" dirty="0"/>
              <a:t> for full load factor</a:t>
            </a:r>
          </a:p>
          <a:p>
            <a:pPr marL="0" lvl="0" indent="0" algn="l" rtl="0">
              <a:spcBef>
                <a:spcPts val="0"/>
              </a:spcBef>
              <a:spcAft>
                <a:spcPts val="0"/>
              </a:spcAft>
              <a:buNone/>
            </a:pPr>
            <a:endParaRPr dirty="0"/>
          </a:p>
        </p:txBody>
      </p:sp>
      <p:sp>
        <p:nvSpPr>
          <p:cNvPr id="142" name="Google Shape;142;g3e904caf41a_1_72:notes">
            <a:extLst>
              <a:ext uri="{FF2B5EF4-FFF2-40B4-BE49-F238E27FC236}">
                <a16:creationId xmlns:a16="http://schemas.microsoft.com/office/drawing/2014/main" id="{CEB4868C-0DDD-A020-4045-EB2E7D5514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41735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CF2A2E7-941E-3BE0-8DE5-9772CD492908}"/>
            </a:ext>
          </a:extLst>
        </p:cNvPr>
        <p:cNvGrpSpPr/>
        <p:nvPr/>
      </p:nvGrpSpPr>
      <p:grpSpPr>
        <a:xfrm>
          <a:off x="0" y="0"/>
          <a:ext cx="0" cy="0"/>
          <a:chOff x="0" y="0"/>
          <a:chExt cx="0" cy="0"/>
        </a:xfrm>
      </p:grpSpPr>
      <p:sp>
        <p:nvSpPr>
          <p:cNvPr id="141" name="Google Shape;141;g3e904caf41a_1_72:notes">
            <a:extLst>
              <a:ext uri="{FF2B5EF4-FFF2-40B4-BE49-F238E27FC236}">
                <a16:creationId xmlns:a16="http://schemas.microsoft.com/office/drawing/2014/main" id="{CC8032B5-0DE1-313D-DC5F-56823F45BE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Fuel Price measures an airline's average cost per gallon of jet fuel consumed, acting as a critical gauge for exposure to the industry's most volatile operating expense.</a:t>
            </a:r>
          </a:p>
          <a:p>
            <a:pPr marL="0" lvl="0" indent="0" algn="l" rtl="0">
              <a:spcBef>
                <a:spcPts val="0"/>
              </a:spcBef>
              <a:spcAft>
                <a:spcPts val="0"/>
              </a:spcAft>
              <a:buNone/>
            </a:pPr>
            <a:endParaRPr lang="en-US" dirty="0"/>
          </a:p>
          <a:p>
            <a:pPr marL="171450" lvl="0" indent="-171450" algn="l" rtl="0">
              <a:spcBef>
                <a:spcPts val="0"/>
              </a:spcBef>
              <a:spcAft>
                <a:spcPts val="0"/>
              </a:spcAft>
            </a:pPr>
            <a:r>
              <a:rPr lang="en-US" dirty="0"/>
              <a:t>The graph provides a clear message: being able to negotiate the most competitive price of fuel gives you a better return,</a:t>
            </a:r>
          </a:p>
          <a:p>
            <a:pPr marL="171450" lvl="0" indent="-171450" algn="l" rtl="0">
              <a:spcBef>
                <a:spcPts val="0"/>
              </a:spcBef>
              <a:spcAft>
                <a:spcPts val="0"/>
              </a:spcAft>
            </a:pPr>
            <a:r>
              <a:rPr lang="en-US" dirty="0"/>
              <a:t>The red 'GOOD' portfolio consistently outperforms the blue line. </a:t>
            </a:r>
          </a:p>
          <a:p>
            <a:pPr marL="171450" lvl="0" indent="-171450" algn="l" rtl="0">
              <a:spcBef>
                <a:spcPts val="0"/>
              </a:spcBef>
              <a:spcAft>
                <a:spcPts val="0"/>
              </a:spcAft>
            </a:pPr>
            <a:r>
              <a:rPr lang="en-US" dirty="0" err="1"/>
              <a:t>Unfortunitel</a:t>
            </a:r>
            <a:r>
              <a:rPr lang="en-US" dirty="0"/>
              <a:t>, budget models  lack dominance and power to secure best fuel price</a:t>
            </a:r>
            <a:endParaRPr dirty="0"/>
          </a:p>
        </p:txBody>
      </p:sp>
      <p:sp>
        <p:nvSpPr>
          <p:cNvPr id="142" name="Google Shape;142;g3e904caf41a_1_72:notes">
            <a:extLst>
              <a:ext uri="{FF2B5EF4-FFF2-40B4-BE49-F238E27FC236}">
                <a16:creationId xmlns:a16="http://schemas.microsoft.com/office/drawing/2014/main" id="{EBB51B0A-5E46-DDD7-9DCA-99852C0015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82242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3C1CEE1-2FDE-222C-1E10-44A13CEEED67}"/>
            </a:ext>
          </a:extLst>
        </p:cNvPr>
        <p:cNvGrpSpPr/>
        <p:nvPr/>
      </p:nvGrpSpPr>
      <p:grpSpPr>
        <a:xfrm>
          <a:off x="0" y="0"/>
          <a:ext cx="0" cy="0"/>
          <a:chOff x="0" y="0"/>
          <a:chExt cx="0" cy="0"/>
        </a:xfrm>
      </p:grpSpPr>
      <p:sp>
        <p:nvSpPr>
          <p:cNvPr id="81" name="Google Shape;81;g3e904caf41a_1_207:notes">
            <a:extLst>
              <a:ext uri="{FF2B5EF4-FFF2-40B4-BE49-F238E27FC236}">
                <a16:creationId xmlns:a16="http://schemas.microsoft.com/office/drawing/2014/main" id="{8D446859-2BF3-FBC5-C3F8-D6BC121032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3e904caf41a_1_207:notes">
            <a:extLst>
              <a:ext uri="{FF2B5EF4-FFF2-40B4-BE49-F238E27FC236}">
                <a16:creationId xmlns:a16="http://schemas.microsoft.com/office/drawing/2014/main" id="{936AF5B6-5310-50B8-344A-BA368C70B7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7252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1.png"/><Relationship Id="rId7"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image" Target="../media/image15.emf"/><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image" Target="../media/image15.emf"/><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9.emf"/><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image" Target="../media/image13.emf"/><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19.emf"/><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image" Target="../media/image13.emf"/><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em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emf"/><Relationship Id="rId5" Type="http://schemas.openxmlformats.org/officeDocument/2006/relationships/image" Target="../media/image13.emf"/><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3.emf"/><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emf"/><Relationship Id="rId5" Type="http://schemas.openxmlformats.org/officeDocument/2006/relationships/image" Target="../media/image13.emf"/><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27.emf"/><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emf"/><Relationship Id="rId5" Type="http://schemas.openxmlformats.org/officeDocument/2006/relationships/image" Target="../media/image13.emf"/><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7.emf"/><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emf"/><Relationship Id="rId5" Type="http://schemas.openxmlformats.org/officeDocument/2006/relationships/image" Target="../media/image13.em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png"/><Relationship Id="rId7" Type="http://schemas.openxmlformats.org/officeDocument/2006/relationships/image" Target="../media/image31.emf"/><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emf"/><Relationship Id="rId5" Type="http://schemas.openxmlformats.org/officeDocument/2006/relationships/image" Target="../media/image13.emf"/><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1.em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emf"/><Relationship Id="rId5" Type="http://schemas.openxmlformats.org/officeDocument/2006/relationships/image" Target="../media/image13.emf"/><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35.emf"/><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4.emf"/><Relationship Id="rId5" Type="http://schemas.openxmlformats.org/officeDocument/2006/relationships/image" Target="../media/image13.emf"/><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35.emf"/><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4.emf"/><Relationship Id="rId5" Type="http://schemas.openxmlformats.org/officeDocument/2006/relationships/image" Target="../media/image13.emf"/><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9.emf"/><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8.emf"/><Relationship Id="rId5" Type="http://schemas.openxmlformats.org/officeDocument/2006/relationships/image" Target="../media/image13.emf"/><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png"/><Relationship Id="rId7" Type="http://schemas.openxmlformats.org/officeDocument/2006/relationships/image" Target="../media/image42.emf"/><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1.emf"/><Relationship Id="rId5" Type="http://schemas.openxmlformats.org/officeDocument/2006/relationships/image" Target="../media/image13.emf"/><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png"/><Relationship Id="rId7" Type="http://schemas.openxmlformats.org/officeDocument/2006/relationships/image" Target="../media/image45.emf"/><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4.emf"/><Relationship Id="rId5" Type="http://schemas.openxmlformats.org/officeDocument/2006/relationships/image" Target="../media/image13.emf"/><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45.emf"/><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4.emf"/><Relationship Id="rId5" Type="http://schemas.openxmlformats.org/officeDocument/2006/relationships/image" Target="../media/image13.emf"/><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png"/><Relationship Id="rId7" Type="http://schemas.openxmlformats.org/officeDocument/2006/relationships/image" Target="../media/image49.emf"/><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8.emf"/><Relationship Id="rId5" Type="http://schemas.openxmlformats.org/officeDocument/2006/relationships/image" Target="../media/image13.emf"/><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png"/><Relationship Id="rId7" Type="http://schemas.openxmlformats.org/officeDocument/2006/relationships/image" Target="../media/image52.emf"/><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1.emf"/><Relationship Id="rId5" Type="http://schemas.openxmlformats.org/officeDocument/2006/relationships/image" Target="../media/image13.emf"/><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png"/><Relationship Id="rId7" Type="http://schemas.openxmlformats.org/officeDocument/2006/relationships/image" Target="../media/image55.emf"/><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4.emf"/><Relationship Id="rId5" Type="http://schemas.openxmlformats.org/officeDocument/2006/relationships/image" Target="../media/image13.emf"/><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png"/><Relationship Id="rId7" Type="http://schemas.openxmlformats.org/officeDocument/2006/relationships/image" Target="../media/image58.emf"/><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7.emf"/><Relationship Id="rId5" Type="http://schemas.openxmlformats.org/officeDocument/2006/relationships/image" Target="../media/image13.emf"/><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png"/><Relationship Id="rId7" Type="http://schemas.openxmlformats.org/officeDocument/2006/relationships/image" Target="../media/image58.emf"/><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7.emf"/><Relationship Id="rId5" Type="http://schemas.openxmlformats.org/officeDocument/2006/relationships/image" Target="../media/image13.emf"/><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image" Target="../media/image1.png"/><Relationship Id="rId7"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1.emf"/><Relationship Id="rId5" Type="http://schemas.openxmlformats.org/officeDocument/2006/relationships/image" Target="../media/image13.emf"/><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png"/><Relationship Id="rId7" Type="http://schemas.openxmlformats.org/officeDocument/2006/relationships/image" Target="../media/image65.emf"/><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13.emf"/><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1.png"/><Relationship Id="rId7" Type="http://schemas.openxmlformats.org/officeDocument/2006/relationships/image" Target="../media/image65.emf"/><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13.emf"/><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1.png"/><Relationship Id="rId7" Type="http://schemas.openxmlformats.org/officeDocument/2006/relationships/image" Target="../media/image69.emf"/><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8.emf"/><Relationship Id="rId5" Type="http://schemas.openxmlformats.org/officeDocument/2006/relationships/image" Target="../media/image13.emf"/><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image" Target="../media/image1.png"/><Relationship Id="rId7" Type="http://schemas.openxmlformats.org/officeDocument/2006/relationships/image" Target="../media/image73.emf"/><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9.emf"/><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68.emf"/><Relationship Id="rId5" Type="http://schemas.openxmlformats.org/officeDocument/2006/relationships/image" Target="../media/image13.emf"/><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png"/><Relationship Id="rId7" Type="http://schemas.openxmlformats.org/officeDocument/2006/relationships/image" Target="../media/image76.emf"/><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5.emf"/><Relationship Id="rId5" Type="http://schemas.openxmlformats.org/officeDocument/2006/relationships/image" Target="../media/image13.emf"/><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1.png"/><Relationship Id="rId7" Type="http://schemas.openxmlformats.org/officeDocument/2006/relationships/image" Target="../media/image79.emf"/><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8.emf"/><Relationship Id="rId5" Type="http://schemas.openxmlformats.org/officeDocument/2006/relationships/image" Target="../media/image13.emf"/><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1.png"/><Relationship Id="rId7" Type="http://schemas.openxmlformats.org/officeDocument/2006/relationships/image" Target="../media/image82.emf"/><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81.emf"/><Relationship Id="rId5" Type="http://schemas.openxmlformats.org/officeDocument/2006/relationships/image" Target="../media/image13.emf"/><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1.png"/><Relationship Id="rId7" Type="http://schemas.openxmlformats.org/officeDocument/2006/relationships/image" Target="../media/image85.emf"/><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84.emf"/><Relationship Id="rId5" Type="http://schemas.openxmlformats.org/officeDocument/2006/relationships/image" Target="../media/image13.emf"/><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1.png"/><Relationship Id="rId7" Type="http://schemas.openxmlformats.org/officeDocument/2006/relationships/image" Target="../media/image88.emf"/><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87.emf"/><Relationship Id="rId5" Type="http://schemas.openxmlformats.org/officeDocument/2006/relationships/image" Target="../media/image13.emf"/><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86" name="Google Shape;86;p13"/>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sp>
        <p:nvSpPr>
          <p:cNvPr id="87" name="Google Shape;87;p13"/>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88" name="Google Shape;88;p13"/>
          <p:cNvSpPr txBox="1"/>
          <p:nvPr/>
        </p:nvSpPr>
        <p:spPr>
          <a:xfrm>
            <a:off x="571500" y="2641475"/>
            <a:ext cx="11049000" cy="123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a:solidFill>
                  <a:srgbClr val="0C2340"/>
                </a:solidFill>
                <a:latin typeface="Montserrat"/>
                <a:ea typeface="Montserrat"/>
                <a:cs typeface="Montserrat"/>
                <a:sym typeface="Montserrat"/>
              </a:rPr>
              <a:t>FINANCIAL STATEMENT ANALYSIS </a:t>
            </a:r>
            <a:endParaRPr sz="4000" b="1">
              <a:solidFill>
                <a:srgbClr val="0C2340"/>
              </a:solidFill>
              <a:latin typeface="Montserrat"/>
              <a:ea typeface="Montserrat"/>
              <a:cs typeface="Montserrat"/>
              <a:sym typeface="Montserrat"/>
            </a:endParaRPr>
          </a:p>
          <a:p>
            <a:pPr marL="0" marR="0" lvl="0" indent="0" algn="ctr" rtl="0">
              <a:spcBef>
                <a:spcPts val="0"/>
              </a:spcBef>
              <a:spcAft>
                <a:spcPts val="0"/>
              </a:spcAft>
              <a:buNone/>
            </a:pPr>
            <a:r>
              <a:rPr lang="en-US" sz="4000" b="1">
                <a:solidFill>
                  <a:srgbClr val="0C2340"/>
                </a:solidFill>
                <a:latin typeface="Montserrat"/>
                <a:ea typeface="Montserrat"/>
                <a:cs typeface="Montserrat"/>
                <a:sym typeface="Montserrat"/>
              </a:rPr>
              <a:t>GLOBAL AIRLINE INDUSTRY</a:t>
            </a:r>
            <a:endParaRPr sz="4000" b="1">
              <a:solidFill>
                <a:srgbClr val="0C2340"/>
              </a:solidFill>
              <a:latin typeface="Montserrat"/>
              <a:ea typeface="Montserrat"/>
              <a:cs typeface="Montserrat"/>
              <a:sym typeface="Montserrat"/>
            </a:endParaRPr>
          </a:p>
        </p:txBody>
      </p:sp>
      <p:sp>
        <p:nvSpPr>
          <p:cNvPr id="89" name="Google Shape;89;p13"/>
          <p:cNvSpPr txBox="1"/>
          <p:nvPr/>
        </p:nvSpPr>
        <p:spPr>
          <a:xfrm>
            <a:off x="571500" y="5825005"/>
            <a:ext cx="110490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dirty="0">
                <a:solidFill>
                  <a:srgbClr val="0C2340"/>
                </a:solidFill>
                <a:latin typeface="Montserrat"/>
                <a:ea typeface="Montserrat"/>
                <a:cs typeface="Montserrat"/>
                <a:sym typeface="Montserrat"/>
              </a:rPr>
              <a:t>GAVOILLE Ilona - 2025130852, PARK Chae Young - 2018110287, Kim </a:t>
            </a:r>
            <a:r>
              <a:rPr lang="en-US" sz="1200" b="1" dirty="0" err="1">
                <a:solidFill>
                  <a:srgbClr val="0C2340"/>
                </a:solidFill>
                <a:latin typeface="Montserrat"/>
                <a:ea typeface="Montserrat"/>
                <a:cs typeface="Montserrat"/>
                <a:sym typeface="Montserrat"/>
              </a:rPr>
              <a:t>Gayoung</a:t>
            </a:r>
            <a:r>
              <a:rPr lang="en-US" sz="1200" b="1" dirty="0">
                <a:solidFill>
                  <a:srgbClr val="0C2340"/>
                </a:solidFill>
                <a:latin typeface="Montserrat"/>
                <a:ea typeface="Montserrat"/>
                <a:cs typeface="Montserrat"/>
                <a:sym typeface="Montserrat"/>
              </a:rPr>
              <a:t> - 2022111406, LARIBI Sonia - 2026130167</a:t>
            </a:r>
            <a:endParaRPr sz="1200" b="1" dirty="0">
              <a:solidFill>
                <a:srgbClr val="0C234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1"/>
            <a:ext cx="12192000" cy="6827043"/>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7353300" y="1209675"/>
            <a:ext cx="4267200" cy="4686300"/>
          </a:xfrm>
          <a:prstGeom prst="rect">
            <a:avLst/>
          </a:prstGeom>
          <a:noFill/>
          <a:ln>
            <a:noFill/>
          </a:ln>
        </p:spPr>
      </p:pic>
      <p:pic>
        <p:nvPicPr>
          <p:cNvPr id="96" name="Google Shape;96;p14" descr="image.png"/>
          <p:cNvPicPr preferRelativeResize="0"/>
          <p:nvPr/>
        </p:nvPicPr>
        <p:blipFill rotWithShape="1">
          <a:blip r:embed="rId5">
            <a:alphaModFix/>
          </a:blip>
          <a:srcRect/>
          <a:stretch/>
        </p:blipFill>
        <p:spPr>
          <a:xfrm>
            <a:off x="571500" y="1209675"/>
            <a:ext cx="6400800" cy="1435000"/>
          </a:xfrm>
          <a:prstGeom prst="rect">
            <a:avLst/>
          </a:prstGeom>
          <a:noFill/>
          <a:ln>
            <a:noFill/>
          </a:ln>
        </p:spPr>
      </p:pic>
      <p:pic>
        <p:nvPicPr>
          <p:cNvPr id="97" name="Google Shape;97;p14" descr="image.png"/>
          <p:cNvPicPr preferRelativeResize="0"/>
          <p:nvPr/>
        </p:nvPicPr>
        <p:blipFill rotWithShape="1">
          <a:blip r:embed="rId6">
            <a:alphaModFix/>
          </a:blip>
          <a:srcRect/>
          <a:stretch/>
        </p:blipFill>
        <p:spPr>
          <a:xfrm>
            <a:off x="571500" y="2835175"/>
            <a:ext cx="6400800" cy="1435149"/>
          </a:xfrm>
          <a:prstGeom prst="rect">
            <a:avLst/>
          </a:prstGeom>
          <a:noFill/>
          <a:ln>
            <a:noFill/>
          </a:ln>
        </p:spPr>
      </p:pic>
      <p:pic>
        <p:nvPicPr>
          <p:cNvPr id="98" name="Google Shape;98;p14" descr="image.png"/>
          <p:cNvPicPr preferRelativeResize="0"/>
          <p:nvPr/>
        </p:nvPicPr>
        <p:blipFill rotWithShape="1">
          <a:blip r:embed="rId7">
            <a:alphaModFix/>
          </a:blip>
          <a:srcRect/>
          <a:stretch/>
        </p:blipFill>
        <p:spPr>
          <a:xfrm>
            <a:off x="571500" y="4460825"/>
            <a:ext cx="6400800" cy="1435149"/>
          </a:xfrm>
          <a:prstGeom prst="rect">
            <a:avLst/>
          </a:prstGeom>
          <a:noFill/>
          <a:ln>
            <a:noFill/>
          </a:ln>
        </p:spPr>
      </p:pic>
      <p:pic>
        <p:nvPicPr>
          <p:cNvPr id="99" name="Google Shape;99;p14" descr="image.png"/>
          <p:cNvPicPr preferRelativeResize="0"/>
          <p:nvPr/>
        </p:nvPicPr>
        <p:blipFill rotWithShape="1">
          <a:blip r:embed="rId8">
            <a:alphaModFix/>
          </a:blip>
          <a:srcRect/>
          <a:stretch/>
        </p:blipFill>
        <p:spPr>
          <a:xfrm>
            <a:off x="571500" y="6086475"/>
            <a:ext cx="11049000" cy="295275"/>
          </a:xfrm>
          <a:prstGeom prst="rect">
            <a:avLst/>
          </a:prstGeom>
          <a:noFill/>
          <a:ln>
            <a:noFill/>
          </a:ln>
        </p:spPr>
      </p:pic>
      <p:sp>
        <p:nvSpPr>
          <p:cNvPr id="100" name="Google Shape;100;p14"/>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01" name="Google Shape;101;p14"/>
          <p:cNvSpPr txBox="1"/>
          <p:nvPr/>
        </p:nvSpPr>
        <p:spPr>
          <a:xfrm>
            <a:off x="7600950" y="3398043"/>
            <a:ext cx="39606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E0AA3E"/>
                </a:solidFill>
                <a:latin typeface="Montserrat"/>
                <a:ea typeface="Montserrat"/>
                <a:cs typeface="Montserrat"/>
                <a:sym typeface="Montserrat"/>
              </a:rPr>
              <a:t>THE THREE</a:t>
            </a:r>
            <a:r>
              <a:rPr lang="en-US" sz="1200" b="1">
                <a:solidFill>
                  <a:srgbClr val="E0AA3E"/>
                </a:solidFill>
                <a:latin typeface="Montserrat"/>
                <a:ea typeface="Montserrat"/>
                <a:cs typeface="Montserrat"/>
                <a:sym typeface="Montserrat"/>
              </a:rPr>
              <a:t> TYPES OF AIRLINES</a:t>
            </a:r>
            <a:endParaRPr/>
          </a:p>
        </p:txBody>
      </p:sp>
      <p:sp>
        <p:nvSpPr>
          <p:cNvPr id="102" name="Google Shape;102;p14"/>
          <p:cNvSpPr txBox="1"/>
          <p:nvPr/>
        </p:nvSpPr>
        <p:spPr>
          <a:xfrm>
            <a:off x="812800" y="1409700"/>
            <a:ext cx="57108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C2340"/>
                </a:solidFill>
                <a:latin typeface="Montserrat"/>
                <a:ea typeface="Montserrat"/>
                <a:cs typeface="Montserrat"/>
                <a:sym typeface="Montserrat"/>
              </a:rPr>
              <a:t>Pioneering Beginnings (1909–1914)</a:t>
            </a:r>
            <a:endParaRPr/>
          </a:p>
        </p:txBody>
      </p:sp>
      <p:sp>
        <p:nvSpPr>
          <p:cNvPr id="103" name="Google Shape;103;p14"/>
          <p:cNvSpPr txBox="1"/>
          <p:nvPr/>
        </p:nvSpPr>
        <p:spPr>
          <a:xfrm>
            <a:off x="812776" y="1704750"/>
            <a:ext cx="5956200" cy="646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dirty="0">
                <a:solidFill>
                  <a:srgbClr val="475569"/>
                </a:solidFill>
                <a:latin typeface="Open Sans"/>
                <a:ea typeface="Open Sans"/>
                <a:cs typeface="Open Sans"/>
                <a:sym typeface="Open Sans"/>
              </a:rPr>
              <a:t>Originating with DELAG in 1909 using Zeppelin airships, the industry evolved with CGT's fixed-wing cargo (1911) and the iconic St. Petersburg–Tampa Airboat Line's scheduled flights in 1914.</a:t>
            </a:r>
            <a:endParaRPr dirty="0"/>
          </a:p>
        </p:txBody>
      </p:sp>
      <p:sp>
        <p:nvSpPr>
          <p:cNvPr id="104" name="Google Shape;104;p14"/>
          <p:cNvSpPr txBox="1"/>
          <p:nvPr/>
        </p:nvSpPr>
        <p:spPr>
          <a:xfrm>
            <a:off x="812838" y="3034450"/>
            <a:ext cx="57108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C2340"/>
                </a:solidFill>
                <a:latin typeface="Montserrat"/>
                <a:ea typeface="Montserrat"/>
                <a:cs typeface="Montserrat"/>
                <a:sym typeface="Montserrat"/>
              </a:rPr>
              <a:t>Privatization &amp; Major Alliances</a:t>
            </a:r>
            <a:endParaRPr/>
          </a:p>
        </p:txBody>
      </p:sp>
      <p:sp>
        <p:nvSpPr>
          <p:cNvPr id="105" name="Google Shape;105;p14"/>
          <p:cNvSpPr txBox="1"/>
          <p:nvPr/>
        </p:nvSpPr>
        <p:spPr>
          <a:xfrm>
            <a:off x="812800" y="3329500"/>
            <a:ext cx="5956200" cy="646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Open Sans"/>
                <a:ea typeface="Open Sans"/>
                <a:cs typeface="Open Sans"/>
                <a:sym typeface="Open Sans"/>
              </a:rPr>
              <a:t>Post-1980s privatization triggered extensive airline mergers and massive codeshare partnerships. Today, the global market is led by three key alliances: </a:t>
            </a:r>
            <a:r>
              <a:rPr lang="en-US" sz="1050" i="0" u="none" strike="noStrike" cap="none">
                <a:solidFill>
                  <a:srgbClr val="475569"/>
                </a:solidFill>
                <a:latin typeface="Open Sans"/>
                <a:ea typeface="Open Sans"/>
                <a:cs typeface="Open Sans"/>
                <a:sym typeface="Open Sans"/>
              </a:rPr>
              <a:t>Star Alliance, SkyTeam, and Oneworld.</a:t>
            </a:r>
            <a:endParaRPr/>
          </a:p>
        </p:txBody>
      </p:sp>
      <p:sp>
        <p:nvSpPr>
          <p:cNvPr id="106" name="Google Shape;106;p14"/>
          <p:cNvSpPr txBox="1"/>
          <p:nvPr/>
        </p:nvSpPr>
        <p:spPr>
          <a:xfrm>
            <a:off x="812838" y="4635838"/>
            <a:ext cx="57108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C2340"/>
                </a:solidFill>
                <a:latin typeface="Montserrat"/>
                <a:ea typeface="Montserrat"/>
                <a:cs typeface="Montserrat"/>
                <a:sym typeface="Montserrat"/>
              </a:rPr>
              <a:t>Primary Revenue &amp; Fleet Operations</a:t>
            </a:r>
            <a:endParaRPr/>
          </a:p>
        </p:txBody>
      </p:sp>
      <p:sp>
        <p:nvSpPr>
          <p:cNvPr id="107" name="Google Shape;107;p14"/>
          <p:cNvSpPr txBox="1"/>
          <p:nvPr/>
        </p:nvSpPr>
        <p:spPr>
          <a:xfrm>
            <a:off x="812776" y="4878375"/>
            <a:ext cx="5956200" cy="646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Open Sans"/>
                <a:ea typeface="Open Sans"/>
                <a:cs typeface="Open Sans"/>
                <a:sym typeface="Open Sans"/>
              </a:rPr>
              <a:t>Operations center on scheduled passenger routes and belly-space cargo transport. Core revenue streams rely on direct ticket sales augmented by seat selections, baggage fees, and in-flight services.</a:t>
            </a:r>
            <a:endParaRPr/>
          </a:p>
        </p:txBody>
      </p:sp>
      <p:sp>
        <p:nvSpPr>
          <p:cNvPr id="108" name="Google Shape;108;p14"/>
          <p:cNvSpPr txBox="1"/>
          <p:nvPr/>
        </p:nvSpPr>
        <p:spPr>
          <a:xfrm>
            <a:off x="7839075" y="3683793"/>
            <a:ext cx="3533775" cy="5786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1" i="0" u="none" strike="noStrike" cap="none">
                <a:solidFill>
                  <a:srgbClr val="FFFFFF"/>
                </a:solidFill>
                <a:latin typeface="Open Sans"/>
                <a:ea typeface="Open Sans"/>
                <a:cs typeface="Open Sans"/>
                <a:sym typeface="Open Sans"/>
              </a:rPr>
              <a:t>International:</a:t>
            </a:r>
            <a:r>
              <a:rPr lang="en-US" sz="1012" b="0" i="0" u="none" strike="noStrike" cap="none">
                <a:solidFill>
                  <a:srgbClr val="CBD5E1"/>
                </a:solidFill>
                <a:latin typeface="Open Sans"/>
                <a:ea typeface="Open Sans"/>
                <a:cs typeface="Open Sans"/>
                <a:sym typeface="Open Sans"/>
              </a:rPr>
              <a:t> Multibillion-dollar global operations connecting hundreds of hubs using large passenger jets (e.g., Delta, Southwest).</a:t>
            </a:r>
            <a:endParaRPr/>
          </a:p>
        </p:txBody>
      </p:sp>
      <p:sp>
        <p:nvSpPr>
          <p:cNvPr id="109" name="Google Shape;109;p14"/>
          <p:cNvSpPr txBox="1"/>
          <p:nvPr/>
        </p:nvSpPr>
        <p:spPr>
          <a:xfrm>
            <a:off x="7829550" y="4395289"/>
            <a:ext cx="3543300" cy="389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1" i="0" u="none" strike="noStrike" cap="none" dirty="0">
                <a:solidFill>
                  <a:srgbClr val="FFFFFF"/>
                </a:solidFill>
                <a:latin typeface="Open Sans"/>
                <a:ea typeface="Open Sans"/>
                <a:cs typeface="Open Sans"/>
                <a:sym typeface="Open Sans"/>
              </a:rPr>
              <a:t>National:</a:t>
            </a:r>
            <a:r>
              <a:rPr lang="en-US" sz="1012" b="0" i="0" u="none" strike="noStrike" cap="none" dirty="0">
                <a:solidFill>
                  <a:srgbClr val="CBD5E1"/>
                </a:solidFill>
                <a:latin typeface="Open Sans"/>
                <a:ea typeface="Open Sans"/>
                <a:cs typeface="Open Sans"/>
                <a:sym typeface="Open Sans"/>
              </a:rPr>
              <a:t> Mid-to-large-sized fleets catering to domestic hubs with targeted, demand-driven international networks.</a:t>
            </a:r>
            <a:endParaRPr dirty="0"/>
          </a:p>
        </p:txBody>
      </p:sp>
      <p:sp>
        <p:nvSpPr>
          <p:cNvPr id="110" name="Google Shape;110;p14"/>
          <p:cNvSpPr txBox="1"/>
          <p:nvPr/>
        </p:nvSpPr>
        <p:spPr>
          <a:xfrm>
            <a:off x="7839075" y="5069681"/>
            <a:ext cx="3533775" cy="5786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12" b="1" i="0" u="none" strike="noStrike" cap="none">
                <a:solidFill>
                  <a:srgbClr val="FFFFFF"/>
                </a:solidFill>
                <a:latin typeface="Open Sans"/>
                <a:ea typeface="Open Sans"/>
                <a:cs typeface="Open Sans"/>
                <a:sym typeface="Open Sans"/>
              </a:rPr>
              <a:t>Regional:</a:t>
            </a:r>
            <a:r>
              <a:rPr lang="en-US" sz="1012" b="0" i="0" u="none" strike="noStrike" cap="none">
                <a:solidFill>
                  <a:srgbClr val="CBD5E1"/>
                </a:solidFill>
                <a:latin typeface="Open Sans"/>
                <a:ea typeface="Open Sans"/>
                <a:cs typeface="Open Sans"/>
                <a:sym typeface="Open Sans"/>
              </a:rPr>
              <a:t> Smaller specialized carriers covering low-demand locations, frequently acting as feeder affiliates for major airlines.</a:t>
            </a:r>
            <a:endParaRPr/>
          </a:p>
        </p:txBody>
      </p:sp>
      <p:pic>
        <p:nvPicPr>
          <p:cNvPr id="111" name="Google Shape;111;p14" descr="image.png"/>
          <p:cNvPicPr preferRelativeResize="0"/>
          <p:nvPr/>
        </p:nvPicPr>
        <p:blipFill rotWithShape="1">
          <a:blip r:embed="rId9">
            <a:alphaModFix/>
          </a:blip>
          <a:srcRect/>
          <a:stretch/>
        </p:blipFill>
        <p:spPr>
          <a:xfrm>
            <a:off x="7600950" y="3707606"/>
            <a:ext cx="142875" cy="123825"/>
          </a:xfrm>
          <a:prstGeom prst="rect">
            <a:avLst/>
          </a:prstGeom>
          <a:noFill/>
          <a:ln>
            <a:noFill/>
          </a:ln>
        </p:spPr>
      </p:pic>
      <p:pic>
        <p:nvPicPr>
          <p:cNvPr id="112" name="Google Shape;112;p14" descr="image.png"/>
          <p:cNvPicPr preferRelativeResize="0"/>
          <p:nvPr/>
        </p:nvPicPr>
        <p:blipFill rotWithShape="1">
          <a:blip r:embed="rId10">
            <a:alphaModFix/>
          </a:blip>
          <a:srcRect/>
          <a:stretch/>
        </p:blipFill>
        <p:spPr>
          <a:xfrm>
            <a:off x="7600950" y="4453304"/>
            <a:ext cx="133350" cy="123825"/>
          </a:xfrm>
          <a:prstGeom prst="rect">
            <a:avLst/>
          </a:prstGeom>
          <a:noFill/>
          <a:ln>
            <a:noFill/>
          </a:ln>
        </p:spPr>
      </p:pic>
      <p:pic>
        <p:nvPicPr>
          <p:cNvPr id="113" name="Google Shape;113;p14" descr="image.png"/>
          <p:cNvPicPr preferRelativeResize="0"/>
          <p:nvPr/>
        </p:nvPicPr>
        <p:blipFill rotWithShape="1">
          <a:blip r:embed="rId11">
            <a:alphaModFix/>
          </a:blip>
          <a:srcRect/>
          <a:stretch/>
        </p:blipFill>
        <p:spPr>
          <a:xfrm>
            <a:off x="7600950" y="5093493"/>
            <a:ext cx="142875" cy="123825"/>
          </a:xfrm>
          <a:prstGeom prst="rect">
            <a:avLst/>
          </a:prstGeom>
          <a:noFill/>
          <a:ln>
            <a:noFill/>
          </a:ln>
        </p:spPr>
      </p:pic>
      <p:sp>
        <p:nvSpPr>
          <p:cNvPr id="114" name="Google Shape;114;p14"/>
          <p:cNvSpPr txBox="1"/>
          <p:nvPr/>
        </p:nvSpPr>
        <p:spPr>
          <a:xfrm>
            <a:off x="714375" y="476250"/>
            <a:ext cx="11451431"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0C2340"/>
                </a:solidFill>
                <a:latin typeface="Montserrat"/>
                <a:ea typeface="Montserrat"/>
                <a:cs typeface="Montserrat"/>
                <a:sym typeface="Montserrat"/>
              </a:rPr>
              <a:t>GLOBAL AIRLINE INDUSTRY</a:t>
            </a:r>
            <a:endParaRPr/>
          </a:p>
        </p:txBody>
      </p:sp>
      <p:sp>
        <p:nvSpPr>
          <p:cNvPr id="115" name="Google Shape;115;p14"/>
          <p:cNvSpPr/>
          <p:nvPr/>
        </p:nvSpPr>
        <p:spPr>
          <a:xfrm>
            <a:off x="571500" y="476250"/>
            <a:ext cx="47625" cy="447675"/>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6" name="Google Shape;116;p14"/>
          <p:cNvPicPr preferRelativeResize="0"/>
          <p:nvPr/>
        </p:nvPicPr>
        <p:blipFill>
          <a:blip r:embed="rId12">
            <a:alphaModFix/>
          </a:blip>
          <a:stretch>
            <a:fillRect/>
          </a:stretch>
        </p:blipFill>
        <p:spPr>
          <a:xfrm>
            <a:off x="7402200" y="1248163"/>
            <a:ext cx="4169400" cy="2035200"/>
          </a:xfrm>
          <a:prstGeom prst="roundRect">
            <a:avLst>
              <a:gd name="adj" fmla="val 16667"/>
            </a:avLst>
          </a:prstGeom>
          <a:noFill/>
          <a:ln>
            <a:noFill/>
          </a:ln>
        </p:spPr>
      </p:pic>
      <p:sp>
        <p:nvSpPr>
          <p:cNvPr id="117" name="Google Shape;117;p14"/>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pic>
        <p:nvPicPr>
          <p:cNvPr id="122" name="Google Shape;12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3" name="Google Shape;123;p15" descr="image.png"/>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24" name="Google Shape;124;p15"/>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sp>
        <p:nvSpPr>
          <p:cNvPr id="125" name="Google Shape;125;p15"/>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26" name="Google Shape;126;p15"/>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US PREMIUM AND MEDIUM AIRLINES</a:t>
            </a:r>
            <a:endParaRPr dirty="0"/>
          </a:p>
        </p:txBody>
      </p:sp>
      <p:sp>
        <p:nvSpPr>
          <p:cNvPr id="127" name="Google Shape;127;p15"/>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28" name="Google Shape;128;p15"/>
          <p:cNvGraphicFramePr/>
          <p:nvPr>
            <p:extLst>
              <p:ext uri="{D42A27DB-BD31-4B8C-83A1-F6EECF244321}">
                <p14:modId xmlns:p14="http://schemas.microsoft.com/office/powerpoint/2010/main" val="3353657818"/>
              </p:ext>
            </p:extLst>
          </p:nvPr>
        </p:nvGraphicFramePr>
        <p:xfrm>
          <a:off x="571488" y="1152502"/>
          <a:ext cx="11049025" cy="4342125"/>
        </p:xfrm>
        <a:graphic>
          <a:graphicData uri="http://schemas.openxmlformats.org/drawingml/2006/table">
            <a:tbl>
              <a:tblPr>
                <a:solidFill>
                  <a:srgbClr val="FFFFFF"/>
                </a:solidFill>
                <a:tableStyleId>{87ECC1C5-D464-4648-8D76-6208FC65826C}</a:tableStyleId>
              </a:tblPr>
              <a:tblGrid>
                <a:gridCol w="1796600">
                  <a:extLst>
                    <a:ext uri="{9D8B030D-6E8A-4147-A177-3AD203B41FA5}">
                      <a16:colId xmlns:a16="http://schemas.microsoft.com/office/drawing/2014/main" val="20000"/>
                    </a:ext>
                  </a:extLst>
                </a:gridCol>
                <a:gridCol w="1796600">
                  <a:extLst>
                    <a:ext uri="{9D8B030D-6E8A-4147-A177-3AD203B41FA5}">
                      <a16:colId xmlns:a16="http://schemas.microsoft.com/office/drawing/2014/main" val="20001"/>
                    </a:ext>
                  </a:extLst>
                </a:gridCol>
                <a:gridCol w="2220075">
                  <a:extLst>
                    <a:ext uri="{9D8B030D-6E8A-4147-A177-3AD203B41FA5}">
                      <a16:colId xmlns:a16="http://schemas.microsoft.com/office/drawing/2014/main" val="20002"/>
                    </a:ext>
                  </a:extLst>
                </a:gridCol>
                <a:gridCol w="2168725">
                  <a:extLst>
                    <a:ext uri="{9D8B030D-6E8A-4147-A177-3AD203B41FA5}">
                      <a16:colId xmlns:a16="http://schemas.microsoft.com/office/drawing/2014/main" val="20003"/>
                    </a:ext>
                  </a:extLst>
                </a:gridCol>
                <a:gridCol w="3067025">
                  <a:extLst>
                    <a:ext uri="{9D8B030D-6E8A-4147-A177-3AD203B41FA5}">
                      <a16:colId xmlns:a16="http://schemas.microsoft.com/office/drawing/2014/main" val="20004"/>
                    </a:ext>
                  </a:extLst>
                </a:gridCol>
              </a:tblGrid>
              <a:tr h="538200">
                <a:tc>
                  <a:txBody>
                    <a:bodyPr/>
                    <a:lstStyle/>
                    <a:p>
                      <a:pPr marL="0" lvl="0" indent="0" algn="l" rtl="0">
                        <a:lnSpc>
                          <a:spcPct val="115000"/>
                        </a:lnSpc>
                        <a:spcBef>
                          <a:spcPts val="800"/>
                        </a:spcBef>
                        <a:spcAft>
                          <a:spcPts val="0"/>
                        </a:spcAft>
                        <a:buNone/>
                      </a:pPr>
                      <a:r>
                        <a:rPr lang="en-US" sz="1000" b="1" dirty="0">
                          <a:solidFill>
                            <a:srgbClr val="FFFFFF"/>
                          </a:solidFill>
                          <a:latin typeface="Montserrat"/>
                          <a:ea typeface="Montserrat"/>
                          <a:cs typeface="Montserrat"/>
                          <a:sym typeface="Montserrat"/>
                        </a:rPr>
                        <a:t>AIRLINE</a:t>
                      </a:r>
                      <a:endParaRPr sz="1000" b="1" dirty="0">
                        <a:solidFill>
                          <a:srgbClr val="FFFFFF"/>
                        </a:solidFill>
                        <a:latin typeface="Montserrat"/>
                        <a:ea typeface="Montserrat"/>
                        <a:cs typeface="Montserrat"/>
                        <a:sym typeface="Montserrat"/>
                      </a:endParaRPr>
                    </a:p>
                  </a:txBody>
                  <a:tcPr marL="142875" marR="142875" marT="114300" marB="114300">
                    <a:lnL w="9525" cap="flat" cmpd="sng">
                      <a:solidFill>
                        <a:srgbClr val="0C2440"/>
                      </a:solidFill>
                      <a:prstDash val="solid"/>
                      <a:round/>
                      <a:headEnd type="none" w="sm" len="sm"/>
                      <a:tailEnd type="none" w="sm" len="sm"/>
                    </a:lnL>
                    <a:lnR w="9525" cap="flat" cmpd="sng">
                      <a:solidFill>
                        <a:srgbClr val="0C2440"/>
                      </a:solidFill>
                      <a:prstDash val="solid"/>
                      <a:round/>
                      <a:headEnd type="none" w="sm" len="sm"/>
                      <a:tailEnd type="none" w="sm" len="sm"/>
                    </a:lnR>
                    <a:lnT w="9525" cap="flat" cmpd="sng">
                      <a:solidFill>
                        <a:srgbClr val="0C2440"/>
                      </a:solidFill>
                      <a:prstDash val="solid"/>
                      <a:round/>
                      <a:headEnd type="none" w="sm" len="sm"/>
                      <a:tailEnd type="none" w="sm" len="sm"/>
                    </a:lnT>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CLASSIFICATION</a:t>
                      </a:r>
                      <a:endParaRPr sz="1000" b="1">
                        <a:solidFill>
                          <a:srgbClr val="FFFFFF"/>
                        </a:solidFill>
                        <a:latin typeface="Montserrat"/>
                        <a:ea typeface="Montserrat"/>
                        <a:cs typeface="Montserrat"/>
                        <a:sym typeface="Montserrat"/>
                      </a:endParaRPr>
                    </a:p>
                  </a:txBody>
                  <a:tcPr marL="142875" marR="142875" marT="114300" marB="114300">
                    <a:lnL w="9525" cap="flat" cmpd="sng">
                      <a:solidFill>
                        <a:srgbClr val="0C2440"/>
                      </a:solidFill>
                      <a:prstDash val="solid"/>
                      <a:round/>
                      <a:headEnd type="none" w="sm" len="sm"/>
                      <a:tailEnd type="none" w="sm" len="sm"/>
                    </a:lnL>
                    <a:lnR w="9525" cap="flat" cmpd="sng">
                      <a:solidFill>
                        <a:srgbClr val="0C2440"/>
                      </a:solidFill>
                      <a:prstDash val="solid"/>
                      <a:round/>
                      <a:headEnd type="none" w="sm" len="sm"/>
                      <a:tailEnd type="none" w="sm" len="sm"/>
                    </a:lnR>
                    <a:lnT w="9525" cap="flat" cmpd="sng">
                      <a:solidFill>
                        <a:srgbClr val="0C2440"/>
                      </a:solidFill>
                      <a:prstDash val="solid"/>
                      <a:round/>
                      <a:headEnd type="none" w="sm" len="sm"/>
                      <a:tailEnd type="none" w="sm" len="sm"/>
                    </a:lnT>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PRIMARY HUBS</a:t>
                      </a:r>
                      <a:endParaRPr sz="1000" b="1">
                        <a:solidFill>
                          <a:srgbClr val="FFFFFF"/>
                        </a:solidFill>
                        <a:latin typeface="Montserrat"/>
                        <a:ea typeface="Montserrat"/>
                        <a:cs typeface="Montserrat"/>
                        <a:sym typeface="Montserrat"/>
                      </a:endParaRPr>
                    </a:p>
                  </a:txBody>
                  <a:tcPr marL="142875" marR="142875" marT="114300" marB="114300">
                    <a:lnL w="9525" cap="flat" cmpd="sng">
                      <a:solidFill>
                        <a:srgbClr val="0C2440"/>
                      </a:solidFill>
                      <a:prstDash val="solid"/>
                      <a:round/>
                      <a:headEnd type="none" w="sm" len="sm"/>
                      <a:tailEnd type="none" w="sm" len="sm"/>
                    </a:lnL>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OPERATIONAL SCALE</a:t>
                      </a:r>
                      <a:endParaRPr sz="1000" b="1">
                        <a:solidFill>
                          <a:srgbClr val="FFFFFF"/>
                        </a:solidFill>
                        <a:latin typeface="Montserrat"/>
                        <a:ea typeface="Montserrat"/>
                        <a:cs typeface="Montserrat"/>
                        <a:sym typeface="Montserrat"/>
                      </a:endParaRPr>
                    </a:p>
                  </a:txBody>
                  <a:tcPr marL="142875" marR="142875" marT="114300" marB="114300">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STRATEGIC HIGHLIGHTS</a:t>
                      </a:r>
                      <a:endParaRPr sz="1000" b="1">
                        <a:solidFill>
                          <a:srgbClr val="FFFFFF"/>
                        </a:solidFill>
                        <a:latin typeface="Montserrat"/>
                        <a:ea typeface="Montserrat"/>
                        <a:cs typeface="Montserrat"/>
                        <a:sym typeface="Montserrat"/>
                      </a:endParaRPr>
                    </a:p>
                  </a:txBody>
                  <a:tcPr marL="142875" marR="142875" marT="114300" marB="114300">
                    <a:lnB w="28575" cap="flat" cmpd="sng">
                      <a:solidFill>
                        <a:srgbClr val="E0AA3E"/>
                      </a:solidFill>
                      <a:prstDash val="solid"/>
                      <a:round/>
                      <a:headEnd type="none" w="sm" len="sm"/>
                      <a:tailEnd type="none" w="sm" len="sm"/>
                    </a:lnB>
                    <a:solidFill>
                      <a:srgbClr val="0C2340"/>
                    </a:solidFill>
                  </a:tcPr>
                </a:tc>
                <a:extLst>
                  <a:ext uri="{0D108BD9-81ED-4DB2-BD59-A6C34878D82A}">
                    <a16:rowId xmlns:a16="http://schemas.microsoft.com/office/drawing/2014/main" val="10000"/>
                  </a:ext>
                </a:extLst>
              </a:tr>
              <a:tr h="1025625">
                <a:tc>
                  <a:txBody>
                    <a:bodyPr/>
                    <a:lstStyle/>
                    <a:p>
                      <a:pPr marL="0" lvl="0" indent="0" algn="l" rtl="0">
                        <a:lnSpc>
                          <a:spcPct val="140000"/>
                        </a:lnSpc>
                        <a:spcBef>
                          <a:spcPts val="800"/>
                        </a:spcBef>
                        <a:spcAft>
                          <a:spcPts val="0"/>
                        </a:spcAft>
                        <a:buClr>
                          <a:schemeClr val="dk1"/>
                        </a:buClr>
                        <a:buSzPts val="1100"/>
                        <a:buFont typeface="Arial"/>
                        <a:buNone/>
                      </a:pPr>
                      <a:r>
                        <a:rPr lang="en-US" sz="1050" b="1">
                          <a:solidFill>
                            <a:srgbClr val="0C2340"/>
                          </a:solidFill>
                          <a:latin typeface="Open Sans"/>
                          <a:ea typeface="Open Sans"/>
                          <a:cs typeface="Open Sans"/>
                          <a:sym typeface="Open Sans"/>
                        </a:rPr>
                        <a:t>American Airlines</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r>
                        <a:rPr lang="en-US" sz="850">
                          <a:solidFill>
                            <a:srgbClr val="64748B"/>
                          </a:solidFill>
                          <a:latin typeface="Open Sans"/>
                          <a:ea typeface="Open Sans"/>
                          <a:cs typeface="Open Sans"/>
                          <a:sym typeface="Open Sans"/>
                        </a:rPr>
                        <a:t>AAL / Alliance Oneworld</a:t>
                      </a:r>
                      <a:endParaRPr sz="1050" b="1">
                        <a:solidFill>
                          <a:srgbClr val="0C2340"/>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PREMIUM AIRLINE</a:t>
                      </a:r>
                      <a:endParaRPr sz="850">
                        <a:solidFill>
                          <a:srgbClr val="64748B"/>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Dallas/Fort Worth (DFW)</a:t>
                      </a:r>
                      <a:endParaRPr sz="1000">
                        <a:solidFill>
                          <a:srgbClr val="334155"/>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Over 6,700 daily flights servicing, 350 and more destinations</a:t>
                      </a:r>
                      <a:endParaRPr sz="1000">
                        <a:solidFill>
                          <a:srgbClr val="334155"/>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Retains its position as the world’s largest airline following the US Airways merger. </a:t>
                      </a:r>
                      <a:endParaRPr sz="1000">
                        <a:solidFill>
                          <a:srgbClr val="334155"/>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93600">
                <a:tc>
                  <a:txBody>
                    <a:bodyPr/>
                    <a:lstStyle/>
                    <a:p>
                      <a:pPr marL="0" lvl="0" indent="0" algn="l" rtl="0">
                        <a:lnSpc>
                          <a:spcPct val="140000"/>
                        </a:lnSpc>
                        <a:spcBef>
                          <a:spcPts val="800"/>
                        </a:spcBef>
                        <a:spcAft>
                          <a:spcPts val="0"/>
                        </a:spcAft>
                        <a:buClr>
                          <a:schemeClr val="dk1"/>
                        </a:buClr>
                        <a:buSzPts val="1100"/>
                        <a:buFont typeface="Arial"/>
                        <a:buNone/>
                      </a:pPr>
                      <a:r>
                        <a:rPr lang="fr-FR" sz="1050" b="1" dirty="0">
                          <a:solidFill>
                            <a:srgbClr val="0C2340"/>
                          </a:solidFill>
                          <a:latin typeface="Open Sans"/>
                          <a:ea typeface="Open Sans"/>
                          <a:cs typeface="Open Sans"/>
                          <a:sym typeface="Open Sans"/>
                        </a:rPr>
                        <a:t>Delta Air Lines</a:t>
                      </a:r>
                      <a:endParaRPr sz="1050" b="1" dirty="0">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Clr>
                          <a:schemeClr val="dk1"/>
                        </a:buClr>
                        <a:buSzPts val="1100"/>
                        <a:buFont typeface="Arial"/>
                        <a:buNone/>
                      </a:pPr>
                      <a:r>
                        <a:rPr lang="en-US" sz="850" dirty="0">
                          <a:solidFill>
                            <a:srgbClr val="64748B"/>
                          </a:solidFill>
                          <a:latin typeface="Open Sans"/>
                          <a:ea typeface="Open Sans"/>
                          <a:cs typeface="Open Sans"/>
                          <a:sym typeface="Open Sans"/>
                        </a:rPr>
                        <a:t>DAL / Alliance SkyTeam</a:t>
                      </a:r>
                      <a:endParaRPr sz="1050" b="1" dirty="0">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Clr>
                          <a:schemeClr val="dk1"/>
                        </a:buClr>
                        <a:buSzPts val="1100"/>
                        <a:buFont typeface="Arial"/>
                        <a:buNone/>
                      </a:pPr>
                      <a:r>
                        <a:rPr lang="en-US" sz="1050" b="1">
                          <a:solidFill>
                            <a:srgbClr val="0C2340"/>
                          </a:solidFill>
                          <a:latin typeface="Open Sans"/>
                          <a:ea typeface="Open Sans"/>
                          <a:cs typeface="Open Sans"/>
                          <a:sym typeface="Open Sans"/>
                        </a:rPr>
                        <a:t>PREMIUM AIRLINE</a:t>
                      </a:r>
                      <a:endParaRPr sz="850">
                        <a:solidFill>
                          <a:srgbClr val="64748B"/>
                        </a:solidFill>
                        <a:latin typeface="Open Sans"/>
                        <a:ea typeface="Open Sans"/>
                        <a:cs typeface="Open Sans"/>
                        <a:sym typeface="Open Sans"/>
                      </a:endParaRPr>
                    </a:p>
                    <a:p>
                      <a:pPr marL="0" lvl="0" indent="0" algn="l" rtl="0">
                        <a:lnSpc>
                          <a:spcPct val="140000"/>
                        </a:lnSpc>
                        <a:spcBef>
                          <a:spcPts val="800"/>
                        </a:spcBef>
                        <a:spcAft>
                          <a:spcPts val="0"/>
                        </a:spcAft>
                        <a:buNone/>
                      </a:pPr>
                      <a:endParaRPr sz="1050" b="1">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dirty="0">
                          <a:solidFill>
                            <a:srgbClr val="334155"/>
                          </a:solidFill>
                          <a:latin typeface="Open Sans"/>
                          <a:ea typeface="Open Sans"/>
                          <a:cs typeface="Open Sans"/>
                          <a:sym typeface="Open Sans"/>
                        </a:rPr>
                        <a:t>Atlanta (ATL - Principal), JFK, LAX</a:t>
                      </a:r>
                      <a:endParaRPr sz="1000" dirty="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Mainline fleet of 951 aircraft, 260M passengers</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Ranked number 1 globally by revenue with $55B generated in top operational efficiency.</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948550">
                <a:tc>
                  <a:txBody>
                    <a:bodyPr/>
                    <a:lstStyle/>
                    <a:p>
                      <a:pPr marL="0" lvl="0" indent="0" algn="l" rtl="0">
                        <a:lnSpc>
                          <a:spcPct val="140000"/>
                        </a:lnSpc>
                        <a:spcBef>
                          <a:spcPts val="800"/>
                        </a:spcBef>
                        <a:spcAft>
                          <a:spcPts val="0"/>
                        </a:spcAft>
                        <a:buClr>
                          <a:schemeClr val="dk1"/>
                        </a:buClr>
                        <a:buSzPts val="1100"/>
                        <a:buFont typeface="Arial"/>
                        <a:buNone/>
                      </a:pPr>
                      <a:r>
                        <a:rPr lang="en-US" sz="1050" b="1">
                          <a:solidFill>
                            <a:srgbClr val="0C2340"/>
                          </a:solidFill>
                          <a:latin typeface="Open Sans"/>
                          <a:ea typeface="Open Sans"/>
                          <a:cs typeface="Open Sans"/>
                          <a:sym typeface="Open Sans"/>
                        </a:rPr>
                        <a:t>United Airlines</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r>
                        <a:rPr lang="en-US" sz="850">
                          <a:solidFill>
                            <a:srgbClr val="64748B"/>
                          </a:solidFill>
                          <a:latin typeface="Open Sans"/>
                          <a:ea typeface="Open Sans"/>
                          <a:cs typeface="Open Sans"/>
                          <a:sym typeface="Open Sans"/>
                        </a:rPr>
                        <a:t>UAL / Alliance Star Alliance</a:t>
                      </a:r>
                      <a:endParaRPr sz="1050" b="1">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PREMIUM AIRLINE</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endParaRPr sz="1050" b="1">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Chicago O'Hare (ORD)</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0C2340"/>
                          </a:solidFill>
                          <a:latin typeface="Open Sans"/>
                          <a:ea typeface="Open Sans"/>
                          <a:cs typeface="Open Sans"/>
                          <a:sym typeface="Open Sans"/>
                        </a:rPr>
                        <a:t>Massive workforce of 86,852 and 1,262 aircraft</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Serves over 1,000 destinations globally across 170 countries worldwide. </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936150">
                <a:tc>
                  <a:txBody>
                    <a:bodyPr/>
                    <a:lstStyle/>
                    <a:p>
                      <a:pPr marL="0" lvl="0" indent="0" algn="l" rtl="0">
                        <a:lnSpc>
                          <a:spcPct val="140000"/>
                        </a:lnSpc>
                        <a:spcBef>
                          <a:spcPts val="800"/>
                        </a:spcBef>
                        <a:spcAft>
                          <a:spcPts val="0"/>
                        </a:spcAft>
                        <a:buClr>
                          <a:schemeClr val="dk1"/>
                        </a:buClr>
                        <a:buSzPts val="1100"/>
                        <a:buFont typeface="Arial"/>
                        <a:buNone/>
                      </a:pPr>
                      <a:r>
                        <a:rPr lang="en-US" sz="1050" b="1">
                          <a:solidFill>
                            <a:srgbClr val="0C2340"/>
                          </a:solidFill>
                          <a:latin typeface="Open Sans"/>
                          <a:ea typeface="Open Sans"/>
                          <a:cs typeface="Open Sans"/>
                          <a:sym typeface="Open Sans"/>
                        </a:rPr>
                        <a:t>Alaska Air Group</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r>
                        <a:rPr lang="en-US" sz="850">
                          <a:solidFill>
                            <a:srgbClr val="64748B"/>
                          </a:solidFill>
                          <a:latin typeface="Open Sans"/>
                          <a:ea typeface="Open Sans"/>
                          <a:cs typeface="Open Sans"/>
                          <a:sym typeface="Open Sans"/>
                        </a:rPr>
                        <a:t>ALK / Alliance Oneworld</a:t>
                      </a:r>
                      <a:endParaRPr sz="1050" b="1">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Clr>
                          <a:schemeClr val="dk1"/>
                        </a:buClr>
                        <a:buSzPts val="1100"/>
                        <a:buFont typeface="Arial"/>
                        <a:buNone/>
                      </a:pPr>
                      <a:r>
                        <a:rPr lang="fr-FR" sz="1050" b="1" dirty="0">
                          <a:solidFill>
                            <a:srgbClr val="0C2340"/>
                          </a:solidFill>
                          <a:latin typeface="Open Sans"/>
                          <a:ea typeface="Open Sans"/>
                          <a:cs typeface="Open Sans"/>
                          <a:sym typeface="Open Sans"/>
                        </a:rPr>
                        <a:t>MEDIUM AIRLINE</a:t>
                      </a:r>
                      <a:endParaRPr sz="850" dirty="0">
                        <a:solidFill>
                          <a:srgbClr val="64748B"/>
                        </a:solidFill>
                        <a:latin typeface="Open Sans"/>
                        <a:ea typeface="Open Sans"/>
                        <a:cs typeface="Open Sans"/>
                        <a:sym typeface="Open Sans"/>
                      </a:endParaRPr>
                    </a:p>
                    <a:p>
                      <a:pPr marL="0" lvl="0" indent="0" algn="l" rtl="0">
                        <a:lnSpc>
                          <a:spcPct val="140000"/>
                        </a:lnSpc>
                        <a:spcBef>
                          <a:spcPts val="800"/>
                        </a:spcBef>
                        <a:spcAft>
                          <a:spcPts val="0"/>
                        </a:spcAft>
                        <a:buNone/>
                      </a:pPr>
                      <a:endParaRPr sz="1050" b="1" dirty="0">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Seattle-Tacoma (SEA), </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Mainline fleet connecting 140 and more destinations</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dirty="0">
                          <a:solidFill>
                            <a:srgbClr val="334155"/>
                          </a:solidFill>
                          <a:latin typeface="Open Sans"/>
                          <a:ea typeface="Open Sans"/>
                          <a:cs typeface="Open Sans"/>
                          <a:sym typeface="Open Sans"/>
                        </a:rPr>
                        <a:t>Acquired Virgin America and Hawaiian Airlines to secure total West Coast dominance. </a:t>
                      </a:r>
                      <a:endParaRPr sz="1000" dirty="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3" name="Google Shape;133;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4" name="Google Shape;134;p16" descr="image.png"/>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35" name="Google Shape;135;p16"/>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36" name="Google Shape;136;p16"/>
          <p:cNvSpPr txBox="1"/>
          <p:nvPr/>
        </p:nvSpPr>
        <p:spPr>
          <a:xfrm>
            <a:off x="714375" y="476250"/>
            <a:ext cx="11451300" cy="8775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2850" b="1" dirty="0">
                <a:solidFill>
                  <a:srgbClr val="0C2340"/>
                </a:solidFill>
                <a:latin typeface="Montserrat"/>
                <a:ea typeface="Montserrat"/>
                <a:cs typeface="Montserrat"/>
                <a:sym typeface="Montserrat"/>
              </a:rPr>
              <a:t>US LOW-COST AND ULTRA LOW-COST AIRLINES</a:t>
            </a:r>
            <a:endParaRPr dirty="0">
              <a:solidFill>
                <a:schemeClr val="dk1"/>
              </a:solidFill>
            </a:endParaRPr>
          </a:p>
          <a:p>
            <a:pPr marL="0" marR="0" lvl="0" indent="0" algn="l" rtl="0">
              <a:spcBef>
                <a:spcPts val="0"/>
              </a:spcBef>
              <a:spcAft>
                <a:spcPts val="0"/>
              </a:spcAft>
              <a:buNone/>
            </a:pPr>
            <a:endParaRPr sz="2850" b="1" dirty="0">
              <a:solidFill>
                <a:srgbClr val="0C2340"/>
              </a:solidFill>
              <a:latin typeface="Montserrat"/>
              <a:ea typeface="Montserrat"/>
              <a:cs typeface="Montserrat"/>
              <a:sym typeface="Montserrat"/>
            </a:endParaRPr>
          </a:p>
        </p:txBody>
      </p:sp>
      <p:sp>
        <p:nvSpPr>
          <p:cNvPr id="137" name="Google Shape;137;p16"/>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38" name="Google Shape;138;p16"/>
          <p:cNvGraphicFramePr/>
          <p:nvPr>
            <p:extLst>
              <p:ext uri="{D42A27DB-BD31-4B8C-83A1-F6EECF244321}">
                <p14:modId xmlns:p14="http://schemas.microsoft.com/office/powerpoint/2010/main" val="1033974306"/>
              </p:ext>
            </p:extLst>
          </p:nvPr>
        </p:nvGraphicFramePr>
        <p:xfrm>
          <a:off x="571488" y="1152502"/>
          <a:ext cx="11049025" cy="4388725"/>
        </p:xfrm>
        <a:graphic>
          <a:graphicData uri="http://schemas.openxmlformats.org/drawingml/2006/table">
            <a:tbl>
              <a:tblPr>
                <a:solidFill>
                  <a:srgbClr val="FFFFFF"/>
                </a:solidFill>
                <a:tableStyleId>{87ECC1C5-D464-4648-8D76-6208FC65826C}</a:tableStyleId>
              </a:tblPr>
              <a:tblGrid>
                <a:gridCol w="1796600">
                  <a:extLst>
                    <a:ext uri="{9D8B030D-6E8A-4147-A177-3AD203B41FA5}">
                      <a16:colId xmlns:a16="http://schemas.microsoft.com/office/drawing/2014/main" val="20000"/>
                    </a:ext>
                  </a:extLst>
                </a:gridCol>
                <a:gridCol w="1796600">
                  <a:extLst>
                    <a:ext uri="{9D8B030D-6E8A-4147-A177-3AD203B41FA5}">
                      <a16:colId xmlns:a16="http://schemas.microsoft.com/office/drawing/2014/main" val="20001"/>
                    </a:ext>
                  </a:extLst>
                </a:gridCol>
                <a:gridCol w="2220075">
                  <a:extLst>
                    <a:ext uri="{9D8B030D-6E8A-4147-A177-3AD203B41FA5}">
                      <a16:colId xmlns:a16="http://schemas.microsoft.com/office/drawing/2014/main" val="20002"/>
                    </a:ext>
                  </a:extLst>
                </a:gridCol>
                <a:gridCol w="2168725">
                  <a:extLst>
                    <a:ext uri="{9D8B030D-6E8A-4147-A177-3AD203B41FA5}">
                      <a16:colId xmlns:a16="http://schemas.microsoft.com/office/drawing/2014/main" val="20003"/>
                    </a:ext>
                  </a:extLst>
                </a:gridCol>
                <a:gridCol w="3067025">
                  <a:extLst>
                    <a:ext uri="{9D8B030D-6E8A-4147-A177-3AD203B41FA5}">
                      <a16:colId xmlns:a16="http://schemas.microsoft.com/office/drawing/2014/main" val="20004"/>
                    </a:ext>
                  </a:extLst>
                </a:gridCol>
              </a:tblGrid>
              <a:tr h="538200">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AIRLINE</a:t>
                      </a:r>
                      <a:endParaRPr sz="1000" b="1">
                        <a:solidFill>
                          <a:srgbClr val="FFFFFF"/>
                        </a:solidFill>
                        <a:latin typeface="Montserrat"/>
                        <a:ea typeface="Montserrat"/>
                        <a:cs typeface="Montserrat"/>
                        <a:sym typeface="Montserrat"/>
                      </a:endParaRPr>
                    </a:p>
                  </a:txBody>
                  <a:tcPr marL="142875" marR="142875" marT="114300" marB="114300">
                    <a:lnL w="9525" cap="flat" cmpd="sng">
                      <a:solidFill>
                        <a:srgbClr val="0C2440"/>
                      </a:solidFill>
                      <a:prstDash val="solid"/>
                      <a:round/>
                      <a:headEnd type="none" w="sm" len="sm"/>
                      <a:tailEnd type="none" w="sm" len="sm"/>
                    </a:lnL>
                    <a:lnR w="9525" cap="flat" cmpd="sng">
                      <a:solidFill>
                        <a:srgbClr val="0C2440"/>
                      </a:solidFill>
                      <a:prstDash val="solid"/>
                      <a:round/>
                      <a:headEnd type="none" w="sm" len="sm"/>
                      <a:tailEnd type="none" w="sm" len="sm"/>
                    </a:lnR>
                    <a:lnT w="9525" cap="flat" cmpd="sng">
                      <a:solidFill>
                        <a:srgbClr val="0C2440"/>
                      </a:solidFill>
                      <a:prstDash val="solid"/>
                      <a:round/>
                      <a:headEnd type="none" w="sm" len="sm"/>
                      <a:tailEnd type="none" w="sm" len="sm"/>
                    </a:lnT>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CLASSIFICATION</a:t>
                      </a:r>
                      <a:endParaRPr sz="1000" b="1">
                        <a:solidFill>
                          <a:srgbClr val="FFFFFF"/>
                        </a:solidFill>
                        <a:latin typeface="Montserrat"/>
                        <a:ea typeface="Montserrat"/>
                        <a:cs typeface="Montserrat"/>
                        <a:sym typeface="Montserrat"/>
                      </a:endParaRPr>
                    </a:p>
                  </a:txBody>
                  <a:tcPr marL="142875" marR="142875" marT="114300" marB="114300">
                    <a:lnL w="9525" cap="flat" cmpd="sng">
                      <a:solidFill>
                        <a:srgbClr val="0C2440"/>
                      </a:solidFill>
                      <a:prstDash val="solid"/>
                      <a:round/>
                      <a:headEnd type="none" w="sm" len="sm"/>
                      <a:tailEnd type="none" w="sm" len="sm"/>
                    </a:lnL>
                    <a:lnR w="9525" cap="flat" cmpd="sng">
                      <a:solidFill>
                        <a:srgbClr val="0C2440"/>
                      </a:solidFill>
                      <a:prstDash val="solid"/>
                      <a:round/>
                      <a:headEnd type="none" w="sm" len="sm"/>
                      <a:tailEnd type="none" w="sm" len="sm"/>
                    </a:lnR>
                    <a:lnT w="9525" cap="flat" cmpd="sng">
                      <a:solidFill>
                        <a:srgbClr val="0C2440"/>
                      </a:solidFill>
                      <a:prstDash val="solid"/>
                      <a:round/>
                      <a:headEnd type="none" w="sm" len="sm"/>
                      <a:tailEnd type="none" w="sm" len="sm"/>
                    </a:lnT>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PRIMARY HUBS</a:t>
                      </a:r>
                      <a:endParaRPr sz="1000" b="1">
                        <a:solidFill>
                          <a:srgbClr val="FFFFFF"/>
                        </a:solidFill>
                        <a:latin typeface="Montserrat"/>
                        <a:ea typeface="Montserrat"/>
                        <a:cs typeface="Montserrat"/>
                        <a:sym typeface="Montserrat"/>
                      </a:endParaRPr>
                    </a:p>
                  </a:txBody>
                  <a:tcPr marL="142875" marR="142875" marT="114300" marB="114300">
                    <a:lnL w="9525" cap="flat" cmpd="sng">
                      <a:solidFill>
                        <a:srgbClr val="0C2440"/>
                      </a:solidFill>
                      <a:prstDash val="solid"/>
                      <a:round/>
                      <a:headEnd type="none" w="sm" len="sm"/>
                      <a:tailEnd type="none" w="sm" len="sm"/>
                    </a:lnL>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OPERATIONAL SCALE</a:t>
                      </a:r>
                      <a:endParaRPr sz="1000" b="1">
                        <a:solidFill>
                          <a:srgbClr val="FFFFFF"/>
                        </a:solidFill>
                        <a:latin typeface="Montserrat"/>
                        <a:ea typeface="Montserrat"/>
                        <a:cs typeface="Montserrat"/>
                        <a:sym typeface="Montserrat"/>
                      </a:endParaRPr>
                    </a:p>
                  </a:txBody>
                  <a:tcPr marL="142875" marR="142875" marT="114300" marB="114300">
                    <a:lnB w="28575" cap="flat" cmpd="sng">
                      <a:solidFill>
                        <a:srgbClr val="E0AA3E"/>
                      </a:solidFill>
                      <a:prstDash val="solid"/>
                      <a:round/>
                      <a:headEnd type="none" w="sm" len="sm"/>
                      <a:tailEnd type="none" w="sm" len="sm"/>
                    </a:lnB>
                    <a:solidFill>
                      <a:srgbClr val="0C2340"/>
                    </a:solidFill>
                  </a:tcPr>
                </a:tc>
                <a:tc>
                  <a:txBody>
                    <a:bodyPr/>
                    <a:lstStyle/>
                    <a:p>
                      <a:pPr marL="0" lvl="0" indent="0" algn="l" rtl="0">
                        <a:lnSpc>
                          <a:spcPct val="115000"/>
                        </a:lnSpc>
                        <a:spcBef>
                          <a:spcPts val="800"/>
                        </a:spcBef>
                        <a:spcAft>
                          <a:spcPts val="0"/>
                        </a:spcAft>
                        <a:buNone/>
                      </a:pPr>
                      <a:r>
                        <a:rPr lang="en-US" sz="1000" b="1">
                          <a:solidFill>
                            <a:srgbClr val="FFFFFF"/>
                          </a:solidFill>
                          <a:latin typeface="Montserrat"/>
                          <a:ea typeface="Montserrat"/>
                          <a:cs typeface="Montserrat"/>
                          <a:sym typeface="Montserrat"/>
                        </a:rPr>
                        <a:t>STRATEGIC HIGHLIGHTS</a:t>
                      </a:r>
                      <a:endParaRPr sz="1000" b="1">
                        <a:solidFill>
                          <a:srgbClr val="FFFFFF"/>
                        </a:solidFill>
                        <a:latin typeface="Montserrat"/>
                        <a:ea typeface="Montserrat"/>
                        <a:cs typeface="Montserrat"/>
                        <a:sym typeface="Montserrat"/>
                      </a:endParaRPr>
                    </a:p>
                  </a:txBody>
                  <a:tcPr marL="142875" marR="142875" marT="114300" marB="114300">
                    <a:lnB w="28575" cap="flat" cmpd="sng">
                      <a:solidFill>
                        <a:srgbClr val="E0AA3E"/>
                      </a:solidFill>
                      <a:prstDash val="solid"/>
                      <a:round/>
                      <a:headEnd type="none" w="sm" len="sm"/>
                      <a:tailEnd type="none" w="sm" len="sm"/>
                    </a:lnB>
                    <a:solidFill>
                      <a:srgbClr val="0C2340"/>
                    </a:solidFill>
                  </a:tcPr>
                </a:tc>
                <a:extLst>
                  <a:ext uri="{0D108BD9-81ED-4DB2-BD59-A6C34878D82A}">
                    <a16:rowId xmlns:a16="http://schemas.microsoft.com/office/drawing/2014/main" val="10000"/>
                  </a:ext>
                </a:extLst>
              </a:tr>
              <a:tr h="1025625">
                <a:tc>
                  <a:txBody>
                    <a:bodyPr/>
                    <a:lstStyle/>
                    <a:p>
                      <a:pPr marL="0" lvl="0" indent="0" algn="l" rtl="0">
                        <a:lnSpc>
                          <a:spcPct val="140000"/>
                        </a:lnSpc>
                        <a:spcBef>
                          <a:spcPts val="800"/>
                        </a:spcBef>
                        <a:spcAft>
                          <a:spcPts val="0"/>
                        </a:spcAft>
                        <a:buClr>
                          <a:schemeClr val="dk1"/>
                        </a:buClr>
                        <a:buSzPts val="1100"/>
                        <a:buFont typeface="Arial"/>
                        <a:buNone/>
                      </a:pPr>
                      <a:r>
                        <a:rPr lang="en-US" sz="1050" b="1">
                          <a:solidFill>
                            <a:srgbClr val="0C2340"/>
                          </a:solidFill>
                          <a:latin typeface="Open Sans"/>
                          <a:ea typeface="Open Sans"/>
                          <a:cs typeface="Open Sans"/>
                          <a:sym typeface="Open Sans"/>
                        </a:rPr>
                        <a:t>Southwest Airlines</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r>
                        <a:rPr lang="en-US" sz="850">
                          <a:solidFill>
                            <a:srgbClr val="64748B"/>
                          </a:solidFill>
                          <a:latin typeface="Open Sans"/>
                          <a:ea typeface="Open Sans"/>
                          <a:cs typeface="Open Sans"/>
                          <a:sym typeface="Open Sans"/>
                        </a:rPr>
                        <a:t>LUV / NYSE LISTED</a:t>
                      </a:r>
                      <a:endParaRPr sz="1050" b="1">
                        <a:solidFill>
                          <a:srgbClr val="0C2340"/>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LOW-COST</a:t>
                      </a:r>
                      <a:endParaRPr sz="850">
                        <a:solidFill>
                          <a:srgbClr val="64748B"/>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Dallas Love Field (DAL)</a:t>
                      </a:r>
                      <a:endParaRPr sz="1000">
                        <a:solidFill>
                          <a:srgbClr val="334155"/>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Pioneering fleet of 685 and more Boeing 737s</a:t>
                      </a:r>
                      <a:endParaRPr sz="1000">
                        <a:solidFill>
                          <a:srgbClr val="334155"/>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Executing 15% workforce downside to lock in $300M in savings by 2026. </a:t>
                      </a:r>
                      <a:endParaRPr sz="1000">
                        <a:solidFill>
                          <a:srgbClr val="334155"/>
                        </a:solidFill>
                        <a:latin typeface="Open Sans"/>
                        <a:ea typeface="Open Sans"/>
                        <a:cs typeface="Open Sans"/>
                        <a:sym typeface="Open Sans"/>
                      </a:endParaRPr>
                    </a:p>
                  </a:txBody>
                  <a:tcPr marL="142875" marR="142875" marT="114300" marB="114300">
                    <a:lnT w="28575" cap="flat" cmpd="sng">
                      <a:solidFill>
                        <a:srgbClr val="E0AA3E"/>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93600">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JetBlue Airways</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r>
                        <a:rPr lang="en-US" sz="850">
                          <a:solidFill>
                            <a:srgbClr val="64748B"/>
                          </a:solidFill>
                          <a:latin typeface="Open Sans"/>
                          <a:ea typeface="Open Sans"/>
                          <a:cs typeface="Open Sans"/>
                          <a:sym typeface="Open Sans"/>
                        </a:rPr>
                        <a:t>JBLU / NASDAQ LISTED</a:t>
                      </a:r>
                      <a:endParaRPr sz="1050" b="1">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LOW-COST</a:t>
                      </a:r>
                      <a:endParaRPr sz="850">
                        <a:solidFill>
                          <a:srgbClr val="64748B"/>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New-York (JFK), Boston</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Active order book of 60 Airbus A220s</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Pioneered cabin Wi-Fi, terminated $3.6B Spirit merger due to regulatory pressure. </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995150">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Allegiant Air</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r>
                        <a:rPr lang="en-US" sz="850">
                          <a:solidFill>
                            <a:srgbClr val="64748B"/>
                          </a:solidFill>
                          <a:latin typeface="Open Sans"/>
                          <a:ea typeface="Open Sans"/>
                          <a:cs typeface="Open Sans"/>
                          <a:sym typeface="Open Sans"/>
                        </a:rPr>
                        <a:t>ALGT / NASDAQ LISTED</a:t>
                      </a:r>
                      <a:endParaRPr sz="1050" b="1">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ULTRA LOW-COST</a:t>
                      </a:r>
                      <a:endParaRPr sz="850">
                        <a:solidFill>
                          <a:srgbClr val="64748B"/>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Las Vegas (LAS)</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0C2340"/>
                          </a:solidFill>
                          <a:latin typeface="Open Sans"/>
                          <a:ea typeface="Open Sans"/>
                          <a:cs typeface="Open Sans"/>
                          <a:sym typeface="Open Sans"/>
                        </a:rPr>
                        <a:t>Serves 124 destinations across the US</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Finalized the $1.5B acquisition of Sun Country Airlines on May 15, 2026</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936150">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Frontier Airlines</a:t>
                      </a:r>
                      <a:endParaRPr sz="1050" b="1">
                        <a:solidFill>
                          <a:srgbClr val="0C2340"/>
                        </a:solidFill>
                        <a:latin typeface="Open Sans"/>
                        <a:ea typeface="Open Sans"/>
                        <a:cs typeface="Open Sans"/>
                        <a:sym typeface="Open Sans"/>
                      </a:endParaRPr>
                    </a:p>
                    <a:p>
                      <a:pPr marL="0" lvl="0" indent="0" algn="l" rtl="0">
                        <a:lnSpc>
                          <a:spcPct val="140000"/>
                        </a:lnSpc>
                        <a:spcBef>
                          <a:spcPts val="800"/>
                        </a:spcBef>
                        <a:spcAft>
                          <a:spcPts val="0"/>
                        </a:spcAft>
                        <a:buNone/>
                      </a:pPr>
                      <a:r>
                        <a:rPr lang="en-US" sz="850">
                          <a:solidFill>
                            <a:srgbClr val="64748B"/>
                          </a:solidFill>
                          <a:latin typeface="Open Sans"/>
                          <a:ea typeface="Open Sans"/>
                          <a:cs typeface="Open Sans"/>
                          <a:sym typeface="Open Sans"/>
                        </a:rPr>
                        <a:t>ULCC / INDIGO PARTNERS</a:t>
                      </a:r>
                      <a:endParaRPr sz="1050" b="1">
                        <a:solidFill>
                          <a:srgbClr val="0C2340"/>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50" b="1">
                          <a:solidFill>
                            <a:srgbClr val="0C2340"/>
                          </a:solidFill>
                          <a:latin typeface="Open Sans"/>
                          <a:ea typeface="Open Sans"/>
                          <a:cs typeface="Open Sans"/>
                          <a:sym typeface="Open Sans"/>
                        </a:rPr>
                        <a:t>ULTRA LOW-COST</a:t>
                      </a:r>
                      <a:endParaRPr sz="850">
                        <a:solidFill>
                          <a:srgbClr val="64748B"/>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Denver (DEN)</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a:solidFill>
                            <a:srgbClr val="334155"/>
                          </a:solidFill>
                          <a:latin typeface="Open Sans"/>
                          <a:ea typeface="Open Sans"/>
                          <a:cs typeface="Open Sans"/>
                          <a:sym typeface="Open Sans"/>
                        </a:rPr>
                        <a:t>All A320/A321 fleet to 74 destinations</a:t>
                      </a:r>
                      <a:endParaRPr sz="100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lvl="0" indent="0" algn="l" rtl="0">
                        <a:lnSpc>
                          <a:spcPct val="140000"/>
                        </a:lnSpc>
                        <a:spcBef>
                          <a:spcPts val="800"/>
                        </a:spcBef>
                        <a:spcAft>
                          <a:spcPts val="0"/>
                        </a:spcAft>
                        <a:buNone/>
                      </a:pPr>
                      <a:r>
                        <a:rPr lang="en-US" sz="1000" dirty="0">
                          <a:solidFill>
                            <a:srgbClr val="334155"/>
                          </a:solidFill>
                          <a:latin typeface="Open Sans"/>
                          <a:ea typeface="Open Sans"/>
                          <a:cs typeface="Open Sans"/>
                          <a:sym typeface="Open Sans"/>
                        </a:rPr>
                        <a:t>Withdrew $2.9B Spirit bid after JetBlue presented a superior competitive offer. </a:t>
                      </a:r>
                      <a:endParaRPr sz="1000" dirty="0">
                        <a:solidFill>
                          <a:srgbClr val="334155"/>
                        </a:solidFill>
                        <a:latin typeface="Open Sans"/>
                        <a:ea typeface="Open Sans"/>
                        <a:cs typeface="Open Sans"/>
                        <a:sym typeface="Open Sans"/>
                      </a:endParaRPr>
                    </a:p>
                  </a:txBody>
                  <a:tcPr marL="142875" marR="142875" marT="114300" marB="114300">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139" name="Google Shape;139;p16"/>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051744B-C96C-5BE4-1138-1D38D51BFFF0}"/>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782B255C-05CC-5AC1-0F21-47DD39F0128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80FFA89F-993A-A3E5-1398-938E96742E8D}"/>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9E891545-81DB-AE67-7D64-2D42149DD4BA}"/>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dirty="0">
                <a:solidFill>
                  <a:srgbClr val="94A3B8"/>
                </a:solidFill>
                <a:latin typeface="Open Sans SemiBold"/>
                <a:ea typeface="Open Sans SemiBold"/>
                <a:cs typeface="Open Sans SemiBold"/>
                <a:sym typeface="Open Sans SemiBold"/>
              </a:rPr>
              <a:t>Financial Statement Analysis - Group 5</a:t>
            </a:r>
            <a:endParaRPr dirty="0"/>
          </a:p>
        </p:txBody>
      </p:sp>
      <p:sp>
        <p:nvSpPr>
          <p:cNvPr id="147" name="Google Shape;147;p17">
            <a:extLst>
              <a:ext uri="{FF2B5EF4-FFF2-40B4-BE49-F238E27FC236}">
                <a16:creationId xmlns:a16="http://schemas.microsoft.com/office/drawing/2014/main" id="{FA14E6A6-5AA3-397B-F86B-9EB534E9301B}"/>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WORKING CAPITAL RATIO</a:t>
            </a:r>
            <a:endParaRPr dirty="0"/>
          </a:p>
        </p:txBody>
      </p:sp>
      <p:sp>
        <p:nvSpPr>
          <p:cNvPr id="148" name="Google Shape;148;p17">
            <a:extLst>
              <a:ext uri="{FF2B5EF4-FFF2-40B4-BE49-F238E27FC236}">
                <a16:creationId xmlns:a16="http://schemas.microsoft.com/office/drawing/2014/main" id="{FD32E543-A73F-127E-D4EC-CA1791B7B517}"/>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DD555C03-74E0-A4E8-7DEA-375E208EEAB2}"/>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24" name="Image 23">
            <a:extLst>
              <a:ext uri="{FF2B5EF4-FFF2-40B4-BE49-F238E27FC236}">
                <a16:creationId xmlns:a16="http://schemas.microsoft.com/office/drawing/2014/main" id="{3D8F380B-AF94-52F9-0A37-396194AC0B56}"/>
              </a:ext>
            </a:extLst>
          </p:cNvPr>
          <p:cNvPicPr>
            <a:picLocks noChangeAspect="1"/>
          </p:cNvPicPr>
          <p:nvPr/>
        </p:nvPicPr>
        <p:blipFill>
          <a:blip r:embed="rId5"/>
          <a:stretch>
            <a:fillRect/>
          </a:stretch>
        </p:blipFill>
        <p:spPr>
          <a:xfrm>
            <a:off x="714375" y="1048394"/>
            <a:ext cx="3324367" cy="2090962"/>
          </a:xfrm>
          <a:prstGeom prst="rect">
            <a:avLst/>
          </a:prstGeom>
        </p:spPr>
      </p:pic>
      <p:pic>
        <p:nvPicPr>
          <p:cNvPr id="5" name="Image 4">
            <a:extLst>
              <a:ext uri="{FF2B5EF4-FFF2-40B4-BE49-F238E27FC236}">
                <a16:creationId xmlns:a16="http://schemas.microsoft.com/office/drawing/2014/main" id="{87227BB1-EBAD-1656-FB82-2D8049773ECC}"/>
              </a:ext>
            </a:extLst>
          </p:cNvPr>
          <p:cNvPicPr>
            <a:picLocks noChangeAspect="1"/>
          </p:cNvPicPr>
          <p:nvPr/>
        </p:nvPicPr>
        <p:blipFill>
          <a:blip r:embed="rId6"/>
          <a:stretch>
            <a:fillRect/>
          </a:stretch>
        </p:blipFill>
        <p:spPr>
          <a:xfrm>
            <a:off x="5359880" y="1048394"/>
            <a:ext cx="5759238" cy="3847475"/>
          </a:xfrm>
          <a:prstGeom prst="rect">
            <a:avLst/>
          </a:prstGeom>
        </p:spPr>
      </p:pic>
      <p:pic>
        <p:nvPicPr>
          <p:cNvPr id="6" name="Image 5">
            <a:extLst>
              <a:ext uri="{FF2B5EF4-FFF2-40B4-BE49-F238E27FC236}">
                <a16:creationId xmlns:a16="http://schemas.microsoft.com/office/drawing/2014/main" id="{914150A1-3EB2-EA1A-D51D-9C0425C9C612}"/>
              </a:ext>
            </a:extLst>
          </p:cNvPr>
          <p:cNvPicPr>
            <a:picLocks noChangeAspect="1"/>
          </p:cNvPicPr>
          <p:nvPr/>
        </p:nvPicPr>
        <p:blipFill>
          <a:blip r:embed="rId7"/>
          <a:stretch>
            <a:fillRect/>
          </a:stretch>
        </p:blipFill>
        <p:spPr>
          <a:xfrm>
            <a:off x="714376" y="3242130"/>
            <a:ext cx="1433402" cy="267244"/>
          </a:xfrm>
          <a:prstGeom prst="rect">
            <a:avLst/>
          </a:prstGeom>
        </p:spPr>
      </p:pic>
      <p:pic>
        <p:nvPicPr>
          <p:cNvPr id="13" name="Image 12">
            <a:extLst>
              <a:ext uri="{FF2B5EF4-FFF2-40B4-BE49-F238E27FC236}">
                <a16:creationId xmlns:a16="http://schemas.microsoft.com/office/drawing/2014/main" id="{6335C1E0-4EE3-AA7B-6C2D-B218E4C9DE0A}"/>
              </a:ext>
            </a:extLst>
          </p:cNvPr>
          <p:cNvPicPr>
            <a:picLocks noChangeAspect="1"/>
          </p:cNvPicPr>
          <p:nvPr/>
        </p:nvPicPr>
        <p:blipFill>
          <a:blip r:embed="rId8"/>
          <a:stretch>
            <a:fillRect/>
          </a:stretch>
        </p:blipFill>
        <p:spPr>
          <a:xfrm>
            <a:off x="714375" y="3640889"/>
            <a:ext cx="3324367" cy="2168718"/>
          </a:xfrm>
          <a:prstGeom prst="rect">
            <a:avLst/>
          </a:prstGeom>
        </p:spPr>
      </p:pic>
      <p:sp>
        <p:nvSpPr>
          <p:cNvPr id="16" name="ZoneTexte 15">
            <a:extLst>
              <a:ext uri="{FF2B5EF4-FFF2-40B4-BE49-F238E27FC236}">
                <a16:creationId xmlns:a16="http://schemas.microsoft.com/office/drawing/2014/main" id="{B19DDF36-E6EC-A776-E47F-8B4A515BF324}"/>
              </a:ext>
            </a:extLst>
          </p:cNvPr>
          <p:cNvSpPr txBox="1"/>
          <p:nvPr/>
        </p:nvSpPr>
        <p:spPr>
          <a:xfrm>
            <a:off x="5359880" y="5048269"/>
            <a:ext cx="6091732" cy="738664"/>
          </a:xfrm>
          <a:prstGeom prst="rect">
            <a:avLst/>
          </a:prstGeom>
          <a:noFill/>
        </p:spPr>
        <p:txBody>
          <a:bodyPr wrap="non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Short-</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term</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financial</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flexibility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endParaRPr>
          </a:p>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Paradoxically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the BAD portfolio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outperforms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the GOOD portfolio</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Need to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consider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scale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of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operation</a:t>
            </a:r>
            <a:endParaRPr lang="en-US"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118802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9138B95-035A-6678-1624-7DB4B222D712}"/>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974CDCBF-9490-54EC-1278-D101D2E28F2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85AC8979-1C11-89C7-00E7-17D56BFD2828}"/>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7B454F53-A03F-99CB-C829-5E5685A52E84}"/>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1BF7A319-2B5E-3276-E4E2-824E959B457E}"/>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WORKING CAPITAL RATIO</a:t>
            </a:r>
            <a:endParaRPr dirty="0"/>
          </a:p>
        </p:txBody>
      </p:sp>
      <p:sp>
        <p:nvSpPr>
          <p:cNvPr id="148" name="Google Shape;148;p17">
            <a:extLst>
              <a:ext uri="{FF2B5EF4-FFF2-40B4-BE49-F238E27FC236}">
                <a16:creationId xmlns:a16="http://schemas.microsoft.com/office/drawing/2014/main" id="{AE7BC599-B016-76FB-9E01-9172EEFDF3D1}"/>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CB417917-63F7-1BE9-6097-7E62C792227C}"/>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21" name="Image 20">
            <a:extLst>
              <a:ext uri="{FF2B5EF4-FFF2-40B4-BE49-F238E27FC236}">
                <a16:creationId xmlns:a16="http://schemas.microsoft.com/office/drawing/2014/main" id="{F58204B7-A859-C508-1083-41CC98B32820}"/>
              </a:ext>
            </a:extLst>
          </p:cNvPr>
          <p:cNvPicPr>
            <a:picLocks noChangeAspect="1"/>
          </p:cNvPicPr>
          <p:nvPr/>
        </p:nvPicPr>
        <p:blipFill>
          <a:blip r:embed="rId5"/>
          <a:stretch>
            <a:fillRect/>
          </a:stretch>
        </p:blipFill>
        <p:spPr>
          <a:xfrm>
            <a:off x="714374" y="3661774"/>
            <a:ext cx="3324367" cy="2168718"/>
          </a:xfrm>
          <a:prstGeom prst="rect">
            <a:avLst/>
          </a:prstGeom>
        </p:spPr>
      </p:pic>
      <p:pic>
        <p:nvPicPr>
          <p:cNvPr id="24" name="Image 23">
            <a:extLst>
              <a:ext uri="{FF2B5EF4-FFF2-40B4-BE49-F238E27FC236}">
                <a16:creationId xmlns:a16="http://schemas.microsoft.com/office/drawing/2014/main" id="{A7BA3953-58CA-3B54-F484-52BED6AA3DC3}"/>
              </a:ext>
            </a:extLst>
          </p:cNvPr>
          <p:cNvPicPr>
            <a:picLocks noChangeAspect="1"/>
          </p:cNvPicPr>
          <p:nvPr/>
        </p:nvPicPr>
        <p:blipFill>
          <a:blip r:embed="rId6"/>
          <a:stretch>
            <a:fillRect/>
          </a:stretch>
        </p:blipFill>
        <p:spPr>
          <a:xfrm>
            <a:off x="714375" y="1048394"/>
            <a:ext cx="3324367" cy="2090962"/>
          </a:xfrm>
          <a:prstGeom prst="rect">
            <a:avLst/>
          </a:prstGeom>
        </p:spPr>
      </p:pic>
      <p:pic>
        <p:nvPicPr>
          <p:cNvPr id="28" name="Image 27">
            <a:extLst>
              <a:ext uri="{FF2B5EF4-FFF2-40B4-BE49-F238E27FC236}">
                <a16:creationId xmlns:a16="http://schemas.microsoft.com/office/drawing/2014/main" id="{57E4D64F-C5AA-25A7-5ED6-EE8812A51245}"/>
              </a:ext>
            </a:extLst>
          </p:cNvPr>
          <p:cNvPicPr>
            <a:picLocks noChangeAspect="1"/>
          </p:cNvPicPr>
          <p:nvPr/>
        </p:nvPicPr>
        <p:blipFill>
          <a:blip r:embed="rId7"/>
          <a:stretch>
            <a:fillRect/>
          </a:stretch>
        </p:blipFill>
        <p:spPr>
          <a:xfrm>
            <a:off x="5392055" y="1048394"/>
            <a:ext cx="5333511" cy="3834081"/>
          </a:xfrm>
          <a:prstGeom prst="rect">
            <a:avLst/>
          </a:prstGeom>
        </p:spPr>
      </p:pic>
      <p:pic>
        <p:nvPicPr>
          <p:cNvPr id="5" name="Image 4">
            <a:extLst>
              <a:ext uri="{FF2B5EF4-FFF2-40B4-BE49-F238E27FC236}">
                <a16:creationId xmlns:a16="http://schemas.microsoft.com/office/drawing/2014/main" id="{83D808C4-60C4-0417-0B8F-FA2D42F8E440}"/>
              </a:ext>
            </a:extLst>
          </p:cNvPr>
          <p:cNvPicPr>
            <a:picLocks noChangeAspect="1"/>
          </p:cNvPicPr>
          <p:nvPr/>
        </p:nvPicPr>
        <p:blipFill>
          <a:blip r:embed="rId8"/>
          <a:stretch>
            <a:fillRect/>
          </a:stretch>
        </p:blipFill>
        <p:spPr>
          <a:xfrm>
            <a:off x="714376" y="3242130"/>
            <a:ext cx="1433402" cy="267244"/>
          </a:xfrm>
          <a:prstGeom prst="rect">
            <a:avLst/>
          </a:prstGeom>
        </p:spPr>
      </p:pic>
      <p:sp>
        <p:nvSpPr>
          <p:cNvPr id="3" name="ZoneTexte 2">
            <a:extLst>
              <a:ext uri="{FF2B5EF4-FFF2-40B4-BE49-F238E27FC236}">
                <a16:creationId xmlns:a16="http://schemas.microsoft.com/office/drawing/2014/main" id="{B97F7DC7-E203-9200-02DA-74298279D3D8}"/>
              </a:ext>
            </a:extLst>
          </p:cNvPr>
          <p:cNvSpPr txBox="1"/>
          <p:nvPr/>
        </p:nvSpPr>
        <p:spPr>
          <a:xfrm>
            <a:off x="5359880" y="5048269"/>
            <a:ext cx="5333511" cy="738664"/>
          </a:xfrm>
          <a:prstGeom prst="rect">
            <a:avLst/>
          </a:prstGeom>
          <a:noFill/>
        </p:spPr>
        <p:txBody>
          <a:bodyPr wrap="non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Need to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eliminate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the size impact</a:t>
            </a: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Now, the GOOD portfolio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outperforms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the BAD portfolio</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Better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liquidity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drives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superior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rPr>
              <a:t>returns</a:t>
            </a:r>
            <a:endParaRPr lang="en-US"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368126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AC28D87-87AB-DB49-CC2B-7FDBEE86B1DA}"/>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4C67F942-548D-3FBF-5737-A0CA38DC1C2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2CDC578C-F23D-1699-7A57-8DC9DD799713}"/>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5BC1530F-F14F-A7D0-9800-FD49EF138804}"/>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45EB9CE9-91A3-7324-32FC-E1199BCCB3F6}"/>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WORKING CAPITAL RATIO</a:t>
            </a:r>
            <a:endParaRPr dirty="0"/>
          </a:p>
        </p:txBody>
      </p:sp>
      <p:sp>
        <p:nvSpPr>
          <p:cNvPr id="148" name="Google Shape;148;p17">
            <a:extLst>
              <a:ext uri="{FF2B5EF4-FFF2-40B4-BE49-F238E27FC236}">
                <a16:creationId xmlns:a16="http://schemas.microsoft.com/office/drawing/2014/main" id="{2FF33858-8145-C0BA-51C7-CC4D62C09946}"/>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65374978-6F9B-9C9C-2B75-F605AF8EF604}"/>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21" name="Image 20">
            <a:extLst>
              <a:ext uri="{FF2B5EF4-FFF2-40B4-BE49-F238E27FC236}">
                <a16:creationId xmlns:a16="http://schemas.microsoft.com/office/drawing/2014/main" id="{61C225CF-CCE0-CED9-54DA-DEA51251CCE6}"/>
              </a:ext>
            </a:extLst>
          </p:cNvPr>
          <p:cNvPicPr>
            <a:picLocks noChangeAspect="1"/>
          </p:cNvPicPr>
          <p:nvPr/>
        </p:nvPicPr>
        <p:blipFill>
          <a:blip r:embed="rId5"/>
          <a:stretch>
            <a:fillRect/>
          </a:stretch>
        </p:blipFill>
        <p:spPr>
          <a:xfrm>
            <a:off x="714375" y="3659227"/>
            <a:ext cx="3324367" cy="2168718"/>
          </a:xfrm>
          <a:prstGeom prst="rect">
            <a:avLst/>
          </a:prstGeom>
        </p:spPr>
      </p:pic>
      <p:pic>
        <p:nvPicPr>
          <p:cNvPr id="24" name="Image 23">
            <a:extLst>
              <a:ext uri="{FF2B5EF4-FFF2-40B4-BE49-F238E27FC236}">
                <a16:creationId xmlns:a16="http://schemas.microsoft.com/office/drawing/2014/main" id="{F01F07AE-C186-66F2-5131-3B684FD83ACF}"/>
              </a:ext>
            </a:extLst>
          </p:cNvPr>
          <p:cNvPicPr>
            <a:picLocks noChangeAspect="1"/>
          </p:cNvPicPr>
          <p:nvPr/>
        </p:nvPicPr>
        <p:blipFill>
          <a:blip r:embed="rId6"/>
          <a:stretch>
            <a:fillRect/>
          </a:stretch>
        </p:blipFill>
        <p:spPr>
          <a:xfrm>
            <a:off x="714375" y="1048394"/>
            <a:ext cx="3324367" cy="2090962"/>
          </a:xfrm>
          <a:prstGeom prst="rect">
            <a:avLst/>
          </a:prstGeom>
        </p:spPr>
      </p:pic>
      <p:pic>
        <p:nvPicPr>
          <p:cNvPr id="2" name="Image 1">
            <a:extLst>
              <a:ext uri="{FF2B5EF4-FFF2-40B4-BE49-F238E27FC236}">
                <a16:creationId xmlns:a16="http://schemas.microsoft.com/office/drawing/2014/main" id="{E1FF4093-8F93-749E-8AD0-56AFC43D999E}"/>
              </a:ext>
            </a:extLst>
          </p:cNvPr>
          <p:cNvPicPr>
            <a:picLocks noChangeAspect="1"/>
          </p:cNvPicPr>
          <p:nvPr/>
        </p:nvPicPr>
        <p:blipFill>
          <a:blip r:embed="rId7"/>
          <a:stretch>
            <a:fillRect/>
          </a:stretch>
        </p:blipFill>
        <p:spPr>
          <a:xfrm>
            <a:off x="708614" y="3314210"/>
            <a:ext cx="1231384" cy="229580"/>
          </a:xfrm>
          <a:prstGeom prst="rect">
            <a:avLst/>
          </a:prstGeom>
        </p:spPr>
      </p:pic>
      <p:sp>
        <p:nvSpPr>
          <p:cNvPr id="3" name="ZoneTexte 2">
            <a:extLst>
              <a:ext uri="{FF2B5EF4-FFF2-40B4-BE49-F238E27FC236}">
                <a16:creationId xmlns:a16="http://schemas.microsoft.com/office/drawing/2014/main" id="{FAAFB373-897F-F2BB-8470-B4FFFEA8E541}"/>
              </a:ext>
            </a:extLst>
          </p:cNvPr>
          <p:cNvSpPr txBox="1"/>
          <p:nvPr/>
        </p:nvSpPr>
        <p:spPr>
          <a:xfrm>
            <a:off x="5359879" y="5048269"/>
            <a:ext cx="6018165" cy="738664"/>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GOOD group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tracks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Industry Index line</a:t>
            </a: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BAD group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stays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below</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 Index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rewards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with</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working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capital</a:t>
            </a:r>
          </a:p>
        </p:txBody>
      </p:sp>
      <p:pic>
        <p:nvPicPr>
          <p:cNvPr id="7" name="Image 6">
            <a:extLst>
              <a:ext uri="{FF2B5EF4-FFF2-40B4-BE49-F238E27FC236}">
                <a16:creationId xmlns:a16="http://schemas.microsoft.com/office/drawing/2014/main" id="{53B5FA71-405A-49F7-D2B7-C942A2C2C636}"/>
              </a:ext>
            </a:extLst>
          </p:cNvPr>
          <p:cNvPicPr>
            <a:picLocks noChangeAspect="1"/>
          </p:cNvPicPr>
          <p:nvPr/>
        </p:nvPicPr>
        <p:blipFill>
          <a:blip r:embed="rId8"/>
          <a:stretch>
            <a:fillRect/>
          </a:stretch>
        </p:blipFill>
        <p:spPr>
          <a:xfrm>
            <a:off x="5384964" y="1045887"/>
            <a:ext cx="6046867" cy="3765104"/>
          </a:xfrm>
          <a:prstGeom prst="rect">
            <a:avLst/>
          </a:prstGeom>
        </p:spPr>
      </p:pic>
    </p:spTree>
    <p:extLst>
      <p:ext uri="{BB962C8B-B14F-4D97-AF65-F5344CB8AC3E}">
        <p14:creationId xmlns:p14="http://schemas.microsoft.com/office/powerpoint/2010/main" val="3691509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7E652D66-3525-3B98-71CB-BDF371679413}"/>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BC52B6AD-8D08-789D-EBD5-87DF1C87D422}"/>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D69F5123-6161-85E1-97F8-D60AF9DECFE1}"/>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DC82A55D-7609-C5B2-756F-8E20AE4F7A18}"/>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A234CF01-5A13-7C87-3A28-AF4E111F2A5B}"/>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CURRENT RATIO</a:t>
            </a:r>
            <a:endParaRPr dirty="0"/>
          </a:p>
        </p:txBody>
      </p:sp>
      <p:sp>
        <p:nvSpPr>
          <p:cNvPr id="148" name="Google Shape;148;p17">
            <a:extLst>
              <a:ext uri="{FF2B5EF4-FFF2-40B4-BE49-F238E27FC236}">
                <a16:creationId xmlns:a16="http://schemas.microsoft.com/office/drawing/2014/main" id="{FA7BB0A1-3F18-D863-DCBC-912CE4562D25}"/>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66D6C27E-B58D-C2D9-620F-515A83F16706}"/>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D5B3E7FF-BE3E-24B5-A2EA-46A46D79F6D9}"/>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B289DB78-3306-8FE8-E4BC-6F908E73BE5F}"/>
              </a:ext>
            </a:extLst>
          </p:cNvPr>
          <p:cNvPicPr>
            <a:picLocks noChangeAspect="1"/>
          </p:cNvPicPr>
          <p:nvPr/>
        </p:nvPicPr>
        <p:blipFill>
          <a:blip r:embed="rId6"/>
          <a:stretch>
            <a:fillRect/>
          </a:stretch>
        </p:blipFill>
        <p:spPr>
          <a:xfrm>
            <a:off x="714375" y="1046365"/>
            <a:ext cx="3487511" cy="2064251"/>
          </a:xfrm>
          <a:prstGeom prst="rect">
            <a:avLst/>
          </a:prstGeom>
        </p:spPr>
      </p:pic>
      <p:pic>
        <p:nvPicPr>
          <p:cNvPr id="10" name="Image 9">
            <a:extLst>
              <a:ext uri="{FF2B5EF4-FFF2-40B4-BE49-F238E27FC236}">
                <a16:creationId xmlns:a16="http://schemas.microsoft.com/office/drawing/2014/main" id="{8ECA0CB4-8228-1104-94BD-BC53ADE337D4}"/>
              </a:ext>
            </a:extLst>
          </p:cNvPr>
          <p:cNvPicPr>
            <a:picLocks noChangeAspect="1"/>
          </p:cNvPicPr>
          <p:nvPr/>
        </p:nvPicPr>
        <p:blipFill>
          <a:blip r:embed="rId7"/>
          <a:stretch>
            <a:fillRect/>
          </a:stretch>
        </p:blipFill>
        <p:spPr>
          <a:xfrm>
            <a:off x="714375" y="3640889"/>
            <a:ext cx="3487511" cy="2168717"/>
          </a:xfrm>
          <a:prstGeom prst="rect">
            <a:avLst/>
          </a:prstGeom>
        </p:spPr>
      </p:pic>
      <p:pic>
        <p:nvPicPr>
          <p:cNvPr id="12" name="Image 11">
            <a:extLst>
              <a:ext uri="{FF2B5EF4-FFF2-40B4-BE49-F238E27FC236}">
                <a16:creationId xmlns:a16="http://schemas.microsoft.com/office/drawing/2014/main" id="{6BEAA448-BDFA-2337-DFCE-EA76EAE5E2D0}"/>
              </a:ext>
            </a:extLst>
          </p:cNvPr>
          <p:cNvPicPr>
            <a:picLocks noChangeAspect="1"/>
          </p:cNvPicPr>
          <p:nvPr/>
        </p:nvPicPr>
        <p:blipFill>
          <a:blip r:embed="rId8"/>
          <a:stretch>
            <a:fillRect/>
          </a:stretch>
        </p:blipFill>
        <p:spPr>
          <a:xfrm>
            <a:off x="5573893" y="1046365"/>
            <a:ext cx="5740751" cy="3723062"/>
          </a:xfrm>
          <a:prstGeom prst="rect">
            <a:avLst/>
          </a:prstGeom>
        </p:spPr>
      </p:pic>
      <p:sp>
        <p:nvSpPr>
          <p:cNvPr id="2" name="ZoneTexte 1">
            <a:extLst>
              <a:ext uri="{FF2B5EF4-FFF2-40B4-BE49-F238E27FC236}">
                <a16:creationId xmlns:a16="http://schemas.microsoft.com/office/drawing/2014/main" id="{E84D865F-91B7-9BEE-6F13-ADA5047ACC0D}"/>
              </a:ext>
            </a:extLst>
          </p:cNvPr>
          <p:cNvSpPr txBox="1"/>
          <p:nvPr/>
        </p:nvSpPr>
        <p:spPr>
          <a:xfrm>
            <a:off x="5296479" y="4991959"/>
            <a:ext cx="6018165" cy="954107"/>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Ratio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usually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very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the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Shows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sensitivity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price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and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demand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variations</a:t>
            </a: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GOOD group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clearly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wins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the long run</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current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ratio shows long-</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term</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structural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resilience</a:t>
            </a:r>
            <a:endParaRPr lang="en-US"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3" name="Ellipse 2">
            <a:extLst>
              <a:ext uri="{FF2B5EF4-FFF2-40B4-BE49-F238E27FC236}">
                <a16:creationId xmlns:a16="http://schemas.microsoft.com/office/drawing/2014/main" id="{163000AB-D11E-1C8F-AE5D-0E8DE6180A0C}"/>
              </a:ext>
            </a:extLst>
          </p:cNvPr>
          <p:cNvSpPr/>
          <p:nvPr/>
        </p:nvSpPr>
        <p:spPr>
          <a:xfrm>
            <a:off x="8984602" y="2423031"/>
            <a:ext cx="1582354" cy="1638197"/>
          </a:xfrm>
          <a:prstGeom prst="ellipse">
            <a:avLst/>
          </a:prstGeom>
          <a:noFill/>
          <a:ln w="28575" cap="flat" cmpd="sng" algn="ctr">
            <a:solidFill>
              <a:srgbClr val="FFFF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88785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F972E77-EDD3-FE9C-F072-405768AF04D1}"/>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879E0BD8-495D-60CF-4F5D-564007D15C7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76DA80E1-CEDD-AF5A-A414-C3E58BF167AD}"/>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2CFB31A3-19C1-1F67-1FBC-580421EE3A56}"/>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9BA79172-2537-07D6-B0F0-5BFF581408F4}"/>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CURRENT RATIO</a:t>
            </a:r>
            <a:endParaRPr dirty="0"/>
          </a:p>
        </p:txBody>
      </p:sp>
      <p:sp>
        <p:nvSpPr>
          <p:cNvPr id="148" name="Google Shape;148;p17">
            <a:extLst>
              <a:ext uri="{FF2B5EF4-FFF2-40B4-BE49-F238E27FC236}">
                <a16:creationId xmlns:a16="http://schemas.microsoft.com/office/drawing/2014/main" id="{39F14406-B33C-BC47-D05A-0BEA028660EC}"/>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23D609A4-8FA4-A97D-4AD0-474F6B98F959}"/>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1C03EC32-9473-531E-A50C-6D799845D8E6}"/>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F3286FFD-843E-A03A-0ABD-E73A17548B52}"/>
              </a:ext>
            </a:extLst>
          </p:cNvPr>
          <p:cNvPicPr>
            <a:picLocks noChangeAspect="1"/>
          </p:cNvPicPr>
          <p:nvPr/>
        </p:nvPicPr>
        <p:blipFill>
          <a:blip r:embed="rId6"/>
          <a:stretch>
            <a:fillRect/>
          </a:stretch>
        </p:blipFill>
        <p:spPr>
          <a:xfrm>
            <a:off x="714375" y="1046365"/>
            <a:ext cx="3487511" cy="2064251"/>
          </a:xfrm>
          <a:prstGeom prst="rect">
            <a:avLst/>
          </a:prstGeom>
        </p:spPr>
      </p:pic>
      <p:pic>
        <p:nvPicPr>
          <p:cNvPr id="10" name="Image 9">
            <a:extLst>
              <a:ext uri="{FF2B5EF4-FFF2-40B4-BE49-F238E27FC236}">
                <a16:creationId xmlns:a16="http://schemas.microsoft.com/office/drawing/2014/main" id="{10E7AB63-9827-5FF6-40C3-4E2A4D9EC4E1}"/>
              </a:ext>
            </a:extLst>
          </p:cNvPr>
          <p:cNvPicPr>
            <a:picLocks noChangeAspect="1"/>
          </p:cNvPicPr>
          <p:nvPr/>
        </p:nvPicPr>
        <p:blipFill>
          <a:blip r:embed="rId7"/>
          <a:stretch>
            <a:fillRect/>
          </a:stretch>
        </p:blipFill>
        <p:spPr>
          <a:xfrm>
            <a:off x="714375" y="3640889"/>
            <a:ext cx="3487511" cy="2168717"/>
          </a:xfrm>
          <a:prstGeom prst="rect">
            <a:avLst/>
          </a:prstGeom>
        </p:spPr>
      </p:pic>
      <p:pic>
        <p:nvPicPr>
          <p:cNvPr id="14" name="Image 13">
            <a:extLst>
              <a:ext uri="{FF2B5EF4-FFF2-40B4-BE49-F238E27FC236}">
                <a16:creationId xmlns:a16="http://schemas.microsoft.com/office/drawing/2014/main" id="{17785303-87F4-AE0D-1128-DF7D7BF35FE1}"/>
              </a:ext>
            </a:extLst>
          </p:cNvPr>
          <p:cNvPicPr>
            <a:picLocks noChangeAspect="1"/>
          </p:cNvPicPr>
          <p:nvPr/>
        </p:nvPicPr>
        <p:blipFill>
          <a:blip r:embed="rId8"/>
          <a:stretch>
            <a:fillRect/>
          </a:stretch>
        </p:blipFill>
        <p:spPr>
          <a:xfrm>
            <a:off x="5573893" y="1046365"/>
            <a:ext cx="5964557" cy="3546417"/>
          </a:xfrm>
          <a:prstGeom prst="rect">
            <a:avLst/>
          </a:prstGeom>
        </p:spPr>
      </p:pic>
      <p:sp>
        <p:nvSpPr>
          <p:cNvPr id="2" name="ZoneTexte 1">
            <a:extLst>
              <a:ext uri="{FF2B5EF4-FFF2-40B4-BE49-F238E27FC236}">
                <a16:creationId xmlns:a16="http://schemas.microsoft.com/office/drawing/2014/main" id="{224CC6E3-5F17-96CA-ECFE-534F3C66075E}"/>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 index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outperforms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GOOD and BAD groups</a:t>
            </a: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 high 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current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ratio is not optimal; balance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preferred</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2556604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7AD5661-17C4-D45F-47AA-36EAB6412A78}"/>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6DD48EC4-A41E-EBEB-EB71-3F3A2AD534B7}"/>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E33232D8-FDAE-DC64-64D1-3ABE927E94BB}"/>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DC1283DA-5620-BE53-1FFB-0AF385FDB6EB}"/>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45217B80-7D5C-997F-E1C5-5124D32D4580}"/>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ACID-TEST RATIO</a:t>
            </a:r>
            <a:endParaRPr dirty="0"/>
          </a:p>
        </p:txBody>
      </p:sp>
      <p:sp>
        <p:nvSpPr>
          <p:cNvPr id="148" name="Google Shape;148;p17">
            <a:extLst>
              <a:ext uri="{FF2B5EF4-FFF2-40B4-BE49-F238E27FC236}">
                <a16:creationId xmlns:a16="http://schemas.microsoft.com/office/drawing/2014/main" id="{52859D64-5C0A-8FE8-3582-451019E15C03}"/>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2331CD2E-636E-0C5C-8E14-837546674F7E}"/>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993877C4-E984-908A-50C5-E413FEC53D4C}"/>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3F4CB08E-CA53-C0A3-0AB1-EC0496F0EDBB}"/>
              </a:ext>
            </a:extLst>
          </p:cNvPr>
          <p:cNvPicPr>
            <a:picLocks noChangeAspect="1"/>
          </p:cNvPicPr>
          <p:nvPr/>
        </p:nvPicPr>
        <p:blipFill>
          <a:blip r:embed="rId6"/>
          <a:stretch>
            <a:fillRect/>
          </a:stretch>
        </p:blipFill>
        <p:spPr>
          <a:xfrm>
            <a:off x="723996" y="1046366"/>
            <a:ext cx="3487510" cy="2064249"/>
          </a:xfrm>
          <a:prstGeom prst="rect">
            <a:avLst/>
          </a:prstGeom>
        </p:spPr>
      </p:pic>
      <p:pic>
        <p:nvPicPr>
          <p:cNvPr id="9" name="Image 8">
            <a:extLst>
              <a:ext uri="{FF2B5EF4-FFF2-40B4-BE49-F238E27FC236}">
                <a16:creationId xmlns:a16="http://schemas.microsoft.com/office/drawing/2014/main" id="{033553CE-CD56-1929-6A2D-894DBA54AFA6}"/>
              </a:ext>
            </a:extLst>
          </p:cNvPr>
          <p:cNvPicPr>
            <a:picLocks noChangeAspect="1"/>
          </p:cNvPicPr>
          <p:nvPr/>
        </p:nvPicPr>
        <p:blipFill>
          <a:blip r:embed="rId7"/>
          <a:stretch>
            <a:fillRect/>
          </a:stretch>
        </p:blipFill>
        <p:spPr>
          <a:xfrm>
            <a:off x="714376" y="3640890"/>
            <a:ext cx="3487510" cy="2168716"/>
          </a:xfrm>
          <a:prstGeom prst="rect">
            <a:avLst/>
          </a:prstGeom>
        </p:spPr>
      </p:pic>
      <p:pic>
        <p:nvPicPr>
          <p:cNvPr id="13" name="Image 12">
            <a:extLst>
              <a:ext uri="{FF2B5EF4-FFF2-40B4-BE49-F238E27FC236}">
                <a16:creationId xmlns:a16="http://schemas.microsoft.com/office/drawing/2014/main" id="{4AB00E0D-86BC-D818-BFAC-5EAA8D3BB129}"/>
              </a:ext>
            </a:extLst>
          </p:cNvPr>
          <p:cNvPicPr>
            <a:picLocks noChangeAspect="1"/>
          </p:cNvPicPr>
          <p:nvPr/>
        </p:nvPicPr>
        <p:blipFill>
          <a:blip r:embed="rId8"/>
          <a:stretch>
            <a:fillRect/>
          </a:stretch>
        </p:blipFill>
        <p:spPr>
          <a:xfrm>
            <a:off x="5614686" y="1046366"/>
            <a:ext cx="5721796" cy="3704049"/>
          </a:xfrm>
          <a:prstGeom prst="rect">
            <a:avLst/>
          </a:prstGeom>
        </p:spPr>
      </p:pic>
      <p:sp>
        <p:nvSpPr>
          <p:cNvPr id="2" name="ZoneTexte 1">
            <a:extLst>
              <a:ext uri="{FF2B5EF4-FFF2-40B4-BE49-F238E27FC236}">
                <a16:creationId xmlns:a16="http://schemas.microsoft.com/office/drawing/2014/main" id="{B8DAD3AF-DA2A-F494-DB16-CFFB7A720BB0}"/>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 index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outperforms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GOOD and BAD groups</a:t>
            </a: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 high 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current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ratio is not optimal; balance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preferred</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747101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E549CDD-B84D-0CF7-63B7-323E31996EDB}"/>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14319A76-7DD8-37AF-9F8D-023B77570DA4}"/>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8D83FD33-8C80-4F94-95EA-BCB706594BC6}"/>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B7002F86-47BB-A4D8-DCBF-71155D9A1FA3}"/>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6CA45A77-68FC-65DD-5177-3D35BE5FBC39}"/>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ACID-TEST RATIO</a:t>
            </a:r>
            <a:endParaRPr dirty="0"/>
          </a:p>
        </p:txBody>
      </p:sp>
      <p:sp>
        <p:nvSpPr>
          <p:cNvPr id="148" name="Google Shape;148;p17">
            <a:extLst>
              <a:ext uri="{FF2B5EF4-FFF2-40B4-BE49-F238E27FC236}">
                <a16:creationId xmlns:a16="http://schemas.microsoft.com/office/drawing/2014/main" id="{DBC0CB15-9F4B-A2C0-2B56-F5A9BC1EB49C}"/>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5FEB292C-FA94-DA43-9865-57C7100ECDC3}"/>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0C28F777-FC99-16CE-6A60-89B4732A43B3}"/>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8F9432ED-87C7-82A4-DE90-8D1E6E2E9523}"/>
              </a:ext>
            </a:extLst>
          </p:cNvPr>
          <p:cNvPicPr>
            <a:picLocks noChangeAspect="1"/>
          </p:cNvPicPr>
          <p:nvPr/>
        </p:nvPicPr>
        <p:blipFill>
          <a:blip r:embed="rId6"/>
          <a:stretch>
            <a:fillRect/>
          </a:stretch>
        </p:blipFill>
        <p:spPr>
          <a:xfrm>
            <a:off x="723996" y="1046366"/>
            <a:ext cx="3487510" cy="2064249"/>
          </a:xfrm>
          <a:prstGeom prst="rect">
            <a:avLst/>
          </a:prstGeom>
        </p:spPr>
      </p:pic>
      <p:pic>
        <p:nvPicPr>
          <p:cNvPr id="9" name="Image 8">
            <a:extLst>
              <a:ext uri="{FF2B5EF4-FFF2-40B4-BE49-F238E27FC236}">
                <a16:creationId xmlns:a16="http://schemas.microsoft.com/office/drawing/2014/main" id="{7A9D9822-538A-1369-1F79-FC0B6EC7FDE2}"/>
              </a:ext>
            </a:extLst>
          </p:cNvPr>
          <p:cNvPicPr>
            <a:picLocks noChangeAspect="1"/>
          </p:cNvPicPr>
          <p:nvPr/>
        </p:nvPicPr>
        <p:blipFill>
          <a:blip r:embed="rId7"/>
          <a:stretch>
            <a:fillRect/>
          </a:stretch>
        </p:blipFill>
        <p:spPr>
          <a:xfrm>
            <a:off x="714376" y="3640890"/>
            <a:ext cx="3487510" cy="2168716"/>
          </a:xfrm>
          <a:prstGeom prst="rect">
            <a:avLst/>
          </a:prstGeom>
        </p:spPr>
      </p:pic>
      <p:pic>
        <p:nvPicPr>
          <p:cNvPr id="11" name="Image 10">
            <a:extLst>
              <a:ext uri="{FF2B5EF4-FFF2-40B4-BE49-F238E27FC236}">
                <a16:creationId xmlns:a16="http://schemas.microsoft.com/office/drawing/2014/main" id="{ED4AEAD9-2FD3-F30F-9C68-50366B6EE77E}"/>
              </a:ext>
            </a:extLst>
          </p:cNvPr>
          <p:cNvPicPr>
            <a:picLocks noChangeAspect="1"/>
          </p:cNvPicPr>
          <p:nvPr/>
        </p:nvPicPr>
        <p:blipFill>
          <a:blip r:embed="rId8"/>
          <a:stretch>
            <a:fillRect/>
          </a:stretch>
        </p:blipFill>
        <p:spPr>
          <a:xfrm>
            <a:off x="5593133" y="1056859"/>
            <a:ext cx="5939525" cy="3598267"/>
          </a:xfrm>
          <a:prstGeom prst="rect">
            <a:avLst/>
          </a:prstGeom>
        </p:spPr>
      </p:pic>
      <p:sp>
        <p:nvSpPr>
          <p:cNvPr id="2" name="ZoneTexte 1">
            <a:extLst>
              <a:ext uri="{FF2B5EF4-FFF2-40B4-BE49-F238E27FC236}">
                <a16:creationId xmlns:a16="http://schemas.microsoft.com/office/drawing/2014/main" id="{9FB32349-D03A-B6A0-956B-B5389D80E097}"/>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Similar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current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ratios</a:t>
            </a:r>
          </a:p>
          <a:p>
            <a:pPr marL="285750" indent="-285750">
              <a:buFont typeface="Wingdings" panose="05000000000000000000" pitchFamily="2" charset="2"/>
              <a:buChar char="à"/>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Having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high short-</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term</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liquidity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ratios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rewarded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the long run</a:t>
            </a:r>
          </a:p>
        </p:txBody>
      </p:sp>
    </p:spTree>
    <p:extLst>
      <p:ext uri="{BB962C8B-B14F-4D97-AF65-F5344CB8AC3E}">
        <p14:creationId xmlns:p14="http://schemas.microsoft.com/office/powerpoint/2010/main" val="1860783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CF9583D-EBF2-0C29-319D-2D05BABC4D23}"/>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7C12A794-5980-0F25-AC48-CFC4C4F910D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ACFD4D36-0841-04E3-F795-8F51592B8EAA}"/>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F1A55C8E-6C49-3746-734E-76144BC0CC6D}"/>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910824C5-76C9-D785-A3E0-CBA163A6FD2A}"/>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ACCOUNTS RECEIVABLE TURNOVER</a:t>
            </a:r>
            <a:endParaRPr dirty="0"/>
          </a:p>
        </p:txBody>
      </p:sp>
      <p:sp>
        <p:nvSpPr>
          <p:cNvPr id="148" name="Google Shape;148;p17">
            <a:extLst>
              <a:ext uri="{FF2B5EF4-FFF2-40B4-BE49-F238E27FC236}">
                <a16:creationId xmlns:a16="http://schemas.microsoft.com/office/drawing/2014/main" id="{3657CEAB-E3E8-576E-6DF4-292F472D203E}"/>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5FE3AFF4-309B-C233-2C8D-181E84023E02}"/>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D95FEA92-11C0-B0C8-4C64-54A421D08112}"/>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5" name="Image 4">
            <a:extLst>
              <a:ext uri="{FF2B5EF4-FFF2-40B4-BE49-F238E27FC236}">
                <a16:creationId xmlns:a16="http://schemas.microsoft.com/office/drawing/2014/main" id="{4FC0C1E2-1EDE-0147-86EE-4948A4BA6936}"/>
              </a:ext>
            </a:extLst>
          </p:cNvPr>
          <p:cNvPicPr>
            <a:picLocks noChangeAspect="1"/>
          </p:cNvPicPr>
          <p:nvPr/>
        </p:nvPicPr>
        <p:blipFill>
          <a:blip r:embed="rId6"/>
          <a:stretch>
            <a:fillRect/>
          </a:stretch>
        </p:blipFill>
        <p:spPr>
          <a:xfrm>
            <a:off x="733615" y="1036866"/>
            <a:ext cx="3477891" cy="2064249"/>
          </a:xfrm>
          <a:prstGeom prst="rect">
            <a:avLst/>
          </a:prstGeom>
        </p:spPr>
      </p:pic>
      <p:pic>
        <p:nvPicPr>
          <p:cNvPr id="12" name="Image 11">
            <a:extLst>
              <a:ext uri="{FF2B5EF4-FFF2-40B4-BE49-F238E27FC236}">
                <a16:creationId xmlns:a16="http://schemas.microsoft.com/office/drawing/2014/main" id="{D72F8F73-A3EC-4421-613C-E3E79B33C649}"/>
              </a:ext>
            </a:extLst>
          </p:cNvPr>
          <p:cNvPicPr>
            <a:picLocks noChangeAspect="1"/>
          </p:cNvPicPr>
          <p:nvPr/>
        </p:nvPicPr>
        <p:blipFill>
          <a:blip r:embed="rId7"/>
          <a:stretch>
            <a:fillRect/>
          </a:stretch>
        </p:blipFill>
        <p:spPr>
          <a:xfrm>
            <a:off x="714226" y="3650390"/>
            <a:ext cx="3487511" cy="2159216"/>
          </a:xfrm>
          <a:prstGeom prst="rect">
            <a:avLst/>
          </a:prstGeom>
        </p:spPr>
      </p:pic>
      <p:pic>
        <p:nvPicPr>
          <p:cNvPr id="16" name="Image 15">
            <a:extLst>
              <a:ext uri="{FF2B5EF4-FFF2-40B4-BE49-F238E27FC236}">
                <a16:creationId xmlns:a16="http://schemas.microsoft.com/office/drawing/2014/main" id="{05393C9E-4C3E-2535-E9B1-F7BF200CCFCD}"/>
              </a:ext>
            </a:extLst>
          </p:cNvPr>
          <p:cNvPicPr>
            <a:picLocks noChangeAspect="1"/>
          </p:cNvPicPr>
          <p:nvPr/>
        </p:nvPicPr>
        <p:blipFill>
          <a:blip r:embed="rId8"/>
          <a:stretch>
            <a:fillRect/>
          </a:stretch>
        </p:blipFill>
        <p:spPr>
          <a:xfrm>
            <a:off x="5593135" y="1067249"/>
            <a:ext cx="5732956" cy="3869657"/>
          </a:xfrm>
          <a:prstGeom prst="rect">
            <a:avLst/>
          </a:prstGeom>
        </p:spPr>
      </p:pic>
      <p:sp>
        <p:nvSpPr>
          <p:cNvPr id="2" name="ZoneTexte 1">
            <a:extLst>
              <a:ext uri="{FF2B5EF4-FFF2-40B4-BE49-F238E27FC236}">
                <a16:creationId xmlns:a16="http://schemas.microsoft.com/office/drawing/2014/main" id="{B59EA10B-1BF3-A36F-6C26-0FF68D5FD4D5}"/>
              </a:ext>
            </a:extLst>
          </p:cNvPr>
          <p:cNvSpPr txBox="1"/>
          <p:nvPr/>
        </p:nvSpPr>
        <p:spPr>
          <a:xfrm>
            <a:off x="5359879" y="5048269"/>
            <a:ext cx="6805796" cy="1169551"/>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BAD group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completely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outperforms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GOOD group</a:t>
            </a:r>
          </a:p>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Difference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business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models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 turnover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signals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reliance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on high-volume,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low-margin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passengers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 turnover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reflects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 stable model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with</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high-value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coporate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customers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624555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3A04257-5610-13D3-75F3-5BB66ECE99FF}"/>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593A9027-3A33-0867-CF38-E978BF700951}"/>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9E7ABD03-0F08-F644-3AC5-85E0317C1577}"/>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63D8DDEE-1AB3-DA53-4462-3F7708C3FB42}"/>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0FB6CFA9-EEBE-0CD6-7C0F-F2DBD176579A}"/>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ACCOUNTS RECEIVABLE TURNOVER</a:t>
            </a:r>
            <a:endParaRPr dirty="0"/>
          </a:p>
        </p:txBody>
      </p:sp>
      <p:sp>
        <p:nvSpPr>
          <p:cNvPr id="148" name="Google Shape;148;p17">
            <a:extLst>
              <a:ext uri="{FF2B5EF4-FFF2-40B4-BE49-F238E27FC236}">
                <a16:creationId xmlns:a16="http://schemas.microsoft.com/office/drawing/2014/main" id="{D1EEF8B8-802F-A45E-60E6-2079B53C38F3}"/>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1A67E8F2-E46E-0627-1B46-E09CA3928D12}"/>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0134ACC6-026D-549F-C009-BA9B1008B05A}"/>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5" name="Image 4">
            <a:extLst>
              <a:ext uri="{FF2B5EF4-FFF2-40B4-BE49-F238E27FC236}">
                <a16:creationId xmlns:a16="http://schemas.microsoft.com/office/drawing/2014/main" id="{3BD81C32-456C-464B-2D80-EDBD747F5524}"/>
              </a:ext>
            </a:extLst>
          </p:cNvPr>
          <p:cNvPicPr>
            <a:picLocks noChangeAspect="1"/>
          </p:cNvPicPr>
          <p:nvPr/>
        </p:nvPicPr>
        <p:blipFill>
          <a:blip r:embed="rId6"/>
          <a:stretch>
            <a:fillRect/>
          </a:stretch>
        </p:blipFill>
        <p:spPr>
          <a:xfrm>
            <a:off x="733615" y="1036866"/>
            <a:ext cx="3477891" cy="2064249"/>
          </a:xfrm>
          <a:prstGeom prst="rect">
            <a:avLst/>
          </a:prstGeom>
        </p:spPr>
      </p:pic>
      <p:pic>
        <p:nvPicPr>
          <p:cNvPr id="12" name="Image 11">
            <a:extLst>
              <a:ext uri="{FF2B5EF4-FFF2-40B4-BE49-F238E27FC236}">
                <a16:creationId xmlns:a16="http://schemas.microsoft.com/office/drawing/2014/main" id="{078DE348-CC1C-AC25-9133-B1F98936A41A}"/>
              </a:ext>
            </a:extLst>
          </p:cNvPr>
          <p:cNvPicPr>
            <a:picLocks noChangeAspect="1"/>
          </p:cNvPicPr>
          <p:nvPr/>
        </p:nvPicPr>
        <p:blipFill>
          <a:blip r:embed="rId7"/>
          <a:stretch>
            <a:fillRect/>
          </a:stretch>
        </p:blipFill>
        <p:spPr>
          <a:xfrm>
            <a:off x="714226" y="3650390"/>
            <a:ext cx="3487511" cy="2159216"/>
          </a:xfrm>
          <a:prstGeom prst="rect">
            <a:avLst/>
          </a:prstGeom>
        </p:spPr>
      </p:pic>
      <p:pic>
        <p:nvPicPr>
          <p:cNvPr id="4" name="Image 3">
            <a:extLst>
              <a:ext uri="{FF2B5EF4-FFF2-40B4-BE49-F238E27FC236}">
                <a16:creationId xmlns:a16="http://schemas.microsoft.com/office/drawing/2014/main" id="{60F238EC-FB26-F3E1-7BFF-79E2B87DE656}"/>
              </a:ext>
            </a:extLst>
          </p:cNvPr>
          <p:cNvPicPr>
            <a:picLocks noChangeAspect="1"/>
          </p:cNvPicPr>
          <p:nvPr/>
        </p:nvPicPr>
        <p:blipFill>
          <a:blip r:embed="rId8"/>
          <a:stretch>
            <a:fillRect/>
          </a:stretch>
        </p:blipFill>
        <p:spPr>
          <a:xfrm>
            <a:off x="5593135" y="1089126"/>
            <a:ext cx="5660220" cy="3817678"/>
          </a:xfrm>
          <a:prstGeom prst="rect">
            <a:avLst/>
          </a:prstGeom>
        </p:spPr>
      </p:pic>
      <p:sp>
        <p:nvSpPr>
          <p:cNvPr id="2" name="ZoneTexte 1">
            <a:extLst>
              <a:ext uri="{FF2B5EF4-FFF2-40B4-BE49-F238E27FC236}">
                <a16:creationId xmlns:a16="http://schemas.microsoft.com/office/drawing/2014/main" id="{9096C3B8-1147-0154-752E-A2D2B259D0E3}"/>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BAD group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follows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Industry Index</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Extending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credit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is the standard, a driver for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performance</a:t>
            </a:r>
          </a:p>
        </p:txBody>
      </p:sp>
    </p:spTree>
    <p:extLst>
      <p:ext uri="{BB962C8B-B14F-4D97-AF65-F5344CB8AC3E}">
        <p14:creationId xmlns:p14="http://schemas.microsoft.com/office/powerpoint/2010/main" val="3801395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7754735F-1ECF-3A4D-B1D2-AC174C056F63}"/>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EB1C1DAA-749E-C737-063F-7C0873C3E8E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53BA4651-7127-CA38-9B22-96955777E549}"/>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EA4DFD21-71E9-8DB1-44D5-EF8185972BC3}"/>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1F9F6FFE-F2EB-A318-0CB1-27D01ACCAEC3}"/>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AVERAGE COLLECTION PERIOD</a:t>
            </a:r>
            <a:endParaRPr dirty="0"/>
          </a:p>
        </p:txBody>
      </p:sp>
      <p:sp>
        <p:nvSpPr>
          <p:cNvPr id="148" name="Google Shape;148;p17">
            <a:extLst>
              <a:ext uri="{FF2B5EF4-FFF2-40B4-BE49-F238E27FC236}">
                <a16:creationId xmlns:a16="http://schemas.microsoft.com/office/drawing/2014/main" id="{91EBE115-B82A-F8E1-7884-292BEE61FE3D}"/>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070385B1-9E36-A9B4-19F2-B9CF1CF213F8}"/>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2952DDFF-5E17-8563-63DE-E8E4ECEF8495}"/>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0E15946D-8218-BEC3-B3FA-ABE7C5326E23}"/>
              </a:ext>
            </a:extLst>
          </p:cNvPr>
          <p:cNvPicPr>
            <a:picLocks noChangeAspect="1"/>
          </p:cNvPicPr>
          <p:nvPr/>
        </p:nvPicPr>
        <p:blipFill>
          <a:blip r:embed="rId6"/>
          <a:stretch>
            <a:fillRect/>
          </a:stretch>
        </p:blipFill>
        <p:spPr>
          <a:xfrm>
            <a:off x="752366" y="1048394"/>
            <a:ext cx="3449371" cy="2052720"/>
          </a:xfrm>
          <a:prstGeom prst="rect">
            <a:avLst/>
          </a:prstGeom>
        </p:spPr>
      </p:pic>
      <p:pic>
        <p:nvPicPr>
          <p:cNvPr id="10" name="Image 9">
            <a:extLst>
              <a:ext uri="{FF2B5EF4-FFF2-40B4-BE49-F238E27FC236}">
                <a16:creationId xmlns:a16="http://schemas.microsoft.com/office/drawing/2014/main" id="{B05F9672-FF15-0354-99FE-62D83BE39FCC}"/>
              </a:ext>
            </a:extLst>
          </p:cNvPr>
          <p:cNvPicPr>
            <a:picLocks noChangeAspect="1"/>
          </p:cNvPicPr>
          <p:nvPr/>
        </p:nvPicPr>
        <p:blipFill>
          <a:blip r:embed="rId7"/>
          <a:stretch>
            <a:fillRect/>
          </a:stretch>
        </p:blipFill>
        <p:spPr>
          <a:xfrm>
            <a:off x="714227" y="3650391"/>
            <a:ext cx="3497669" cy="2159215"/>
          </a:xfrm>
          <a:prstGeom prst="rect">
            <a:avLst/>
          </a:prstGeom>
        </p:spPr>
      </p:pic>
      <p:pic>
        <p:nvPicPr>
          <p:cNvPr id="16" name="Image 15">
            <a:extLst>
              <a:ext uri="{FF2B5EF4-FFF2-40B4-BE49-F238E27FC236}">
                <a16:creationId xmlns:a16="http://schemas.microsoft.com/office/drawing/2014/main" id="{B12BE571-8A62-0147-24F2-5259D8DF80C9}"/>
              </a:ext>
            </a:extLst>
          </p:cNvPr>
          <p:cNvPicPr>
            <a:picLocks noChangeAspect="1"/>
          </p:cNvPicPr>
          <p:nvPr/>
        </p:nvPicPr>
        <p:blipFill>
          <a:blip r:embed="rId8"/>
          <a:stretch>
            <a:fillRect/>
          </a:stretch>
        </p:blipFill>
        <p:spPr>
          <a:xfrm>
            <a:off x="5593134" y="1089126"/>
            <a:ext cx="5629047" cy="3796651"/>
          </a:xfrm>
          <a:prstGeom prst="rect">
            <a:avLst/>
          </a:prstGeom>
        </p:spPr>
      </p:pic>
      <p:sp>
        <p:nvSpPr>
          <p:cNvPr id="2" name="ZoneTexte 1">
            <a:extLst>
              <a:ext uri="{FF2B5EF4-FFF2-40B4-BE49-F238E27FC236}">
                <a16:creationId xmlns:a16="http://schemas.microsoft.com/office/drawing/2014/main" id="{B5AA443E-EC5C-DE22-1132-DB7F7725F262}"/>
              </a:ext>
            </a:extLst>
          </p:cNvPr>
          <p:cNvSpPr txBox="1"/>
          <p:nvPr/>
        </p:nvSpPr>
        <p:spPr>
          <a:xfrm>
            <a:off x="5359879" y="5048269"/>
            <a:ext cx="6516930" cy="307777"/>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Similar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to AR turnover, but in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days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84002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B894A12-7DAD-7CFF-5DD2-226C0697DB01}"/>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5A3CAF6F-64C1-CD04-BCE3-68A18238511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5E792D31-B5CE-9FA1-2C6D-DFEABB5E1906}"/>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04C3F4F2-7BA6-DB57-B46E-55BBD893A2D3}"/>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05007B0C-ACDC-0E4C-A5FB-66E6234C1C2A}"/>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AVERAGE COLLECTION PERIOD</a:t>
            </a:r>
            <a:endParaRPr dirty="0"/>
          </a:p>
        </p:txBody>
      </p:sp>
      <p:sp>
        <p:nvSpPr>
          <p:cNvPr id="148" name="Google Shape;148;p17">
            <a:extLst>
              <a:ext uri="{FF2B5EF4-FFF2-40B4-BE49-F238E27FC236}">
                <a16:creationId xmlns:a16="http://schemas.microsoft.com/office/drawing/2014/main" id="{A2E5A18C-3835-05B9-C1C0-B4CFF42CF4CC}"/>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57C17FF9-A0CD-9A87-B072-31EE312004CE}"/>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2769BC61-866F-9000-79BA-AB0840943E3F}"/>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30A3D152-DA12-8E12-1225-53FF4BB19389}"/>
              </a:ext>
            </a:extLst>
          </p:cNvPr>
          <p:cNvPicPr>
            <a:picLocks noChangeAspect="1"/>
          </p:cNvPicPr>
          <p:nvPr/>
        </p:nvPicPr>
        <p:blipFill>
          <a:blip r:embed="rId6"/>
          <a:stretch>
            <a:fillRect/>
          </a:stretch>
        </p:blipFill>
        <p:spPr>
          <a:xfrm>
            <a:off x="752366" y="1048394"/>
            <a:ext cx="3449371" cy="2052720"/>
          </a:xfrm>
          <a:prstGeom prst="rect">
            <a:avLst/>
          </a:prstGeom>
        </p:spPr>
      </p:pic>
      <p:pic>
        <p:nvPicPr>
          <p:cNvPr id="10" name="Image 9">
            <a:extLst>
              <a:ext uri="{FF2B5EF4-FFF2-40B4-BE49-F238E27FC236}">
                <a16:creationId xmlns:a16="http://schemas.microsoft.com/office/drawing/2014/main" id="{33D6EC96-AB62-8D18-AC42-48CB65F56DAA}"/>
              </a:ext>
            </a:extLst>
          </p:cNvPr>
          <p:cNvPicPr>
            <a:picLocks noChangeAspect="1"/>
          </p:cNvPicPr>
          <p:nvPr/>
        </p:nvPicPr>
        <p:blipFill>
          <a:blip r:embed="rId7"/>
          <a:stretch>
            <a:fillRect/>
          </a:stretch>
        </p:blipFill>
        <p:spPr>
          <a:xfrm>
            <a:off x="714227" y="3650391"/>
            <a:ext cx="3497669" cy="2159215"/>
          </a:xfrm>
          <a:prstGeom prst="rect">
            <a:avLst/>
          </a:prstGeom>
        </p:spPr>
      </p:pic>
      <p:sp>
        <p:nvSpPr>
          <p:cNvPr id="2" name="ZoneTexte 1">
            <a:extLst>
              <a:ext uri="{FF2B5EF4-FFF2-40B4-BE49-F238E27FC236}">
                <a16:creationId xmlns:a16="http://schemas.microsoft.com/office/drawing/2014/main" id="{5BA50DB3-9FB7-CB93-233E-04D49CA399EF}"/>
              </a:ext>
            </a:extLst>
          </p:cNvPr>
          <p:cNvSpPr txBox="1"/>
          <p:nvPr/>
        </p:nvSpPr>
        <p:spPr>
          <a:xfrm>
            <a:off x="5359879" y="5048269"/>
            <a:ext cx="6516930" cy="307777"/>
          </a:xfrm>
          <a:prstGeom prst="rect">
            <a:avLst/>
          </a:prstGeom>
          <a:noFill/>
        </p:spPr>
        <p:txBody>
          <a:bodyPr wrap="square" rtlCol="0">
            <a:spAutoFit/>
          </a:bodyPr>
          <a:lstStyle/>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Preference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delayed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yet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stable revenues of big carriers</a:t>
            </a:r>
          </a:p>
        </p:txBody>
      </p:sp>
      <p:pic>
        <p:nvPicPr>
          <p:cNvPr id="16" name="Image 15">
            <a:extLst>
              <a:ext uri="{FF2B5EF4-FFF2-40B4-BE49-F238E27FC236}">
                <a16:creationId xmlns:a16="http://schemas.microsoft.com/office/drawing/2014/main" id="{EE3E7510-A05F-C95F-B20B-88C6366423AF}"/>
              </a:ext>
            </a:extLst>
          </p:cNvPr>
          <p:cNvPicPr>
            <a:picLocks noChangeAspect="1"/>
          </p:cNvPicPr>
          <p:nvPr/>
        </p:nvPicPr>
        <p:blipFill>
          <a:blip r:embed="rId8"/>
          <a:stretch>
            <a:fillRect/>
          </a:stretch>
        </p:blipFill>
        <p:spPr>
          <a:xfrm>
            <a:off x="5582977" y="1067250"/>
            <a:ext cx="6239180" cy="3608659"/>
          </a:xfrm>
          <a:prstGeom prst="rect">
            <a:avLst/>
          </a:prstGeom>
        </p:spPr>
      </p:pic>
    </p:spTree>
    <p:extLst>
      <p:ext uri="{BB962C8B-B14F-4D97-AF65-F5344CB8AC3E}">
        <p14:creationId xmlns:p14="http://schemas.microsoft.com/office/powerpoint/2010/main" val="980104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F42EF8D-9460-4F38-E1DF-C5ED230B0A04}"/>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D8C17B9E-6E86-EB26-8DC9-39537420285A}"/>
              </a:ext>
            </a:extLst>
          </p:cNvPr>
          <p:cNvPicPr preferRelativeResize="0"/>
          <p:nvPr/>
        </p:nvPicPr>
        <p:blipFill rotWithShape="1">
          <a:blip r:embed="rId3">
            <a:alphaModFix/>
          </a:blip>
          <a:srcRect/>
          <a:stretch/>
        </p:blipFill>
        <p:spPr>
          <a:xfrm>
            <a:off x="0" y="7257"/>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ED88FC20-F92A-F244-878B-76F79810BC7F}"/>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A0D91177-6E32-EC6A-0D84-FF5603D8F339}"/>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0678541B-6F9D-E342-6863-ED76E8222841}"/>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INVENTORY TURNOVER</a:t>
            </a:r>
            <a:endParaRPr dirty="0"/>
          </a:p>
        </p:txBody>
      </p:sp>
      <p:sp>
        <p:nvSpPr>
          <p:cNvPr id="148" name="Google Shape;148;p17">
            <a:extLst>
              <a:ext uri="{FF2B5EF4-FFF2-40B4-BE49-F238E27FC236}">
                <a16:creationId xmlns:a16="http://schemas.microsoft.com/office/drawing/2014/main" id="{1954C996-377F-6163-A61B-14EB98BB50CD}"/>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4297844D-C3B6-C85B-EEB0-7F8A27E7E470}"/>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6EFC04A0-2D8E-D7F9-5619-6ED1BD83F15F}"/>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AD911AA2-D121-691B-A9C0-BE8093640D17}"/>
              </a:ext>
            </a:extLst>
          </p:cNvPr>
          <p:cNvPicPr>
            <a:picLocks noChangeAspect="1"/>
          </p:cNvPicPr>
          <p:nvPr/>
        </p:nvPicPr>
        <p:blipFill>
          <a:blip r:embed="rId6"/>
          <a:stretch>
            <a:fillRect/>
          </a:stretch>
        </p:blipFill>
        <p:spPr>
          <a:xfrm>
            <a:off x="752367" y="1048395"/>
            <a:ext cx="3459530" cy="2052718"/>
          </a:xfrm>
          <a:prstGeom prst="rect">
            <a:avLst/>
          </a:prstGeom>
        </p:spPr>
      </p:pic>
      <p:pic>
        <p:nvPicPr>
          <p:cNvPr id="11" name="Image 10">
            <a:extLst>
              <a:ext uri="{FF2B5EF4-FFF2-40B4-BE49-F238E27FC236}">
                <a16:creationId xmlns:a16="http://schemas.microsoft.com/office/drawing/2014/main" id="{D1CE1FB4-AE4C-B805-D8F3-139563830BAB}"/>
              </a:ext>
            </a:extLst>
          </p:cNvPr>
          <p:cNvPicPr>
            <a:picLocks noChangeAspect="1"/>
          </p:cNvPicPr>
          <p:nvPr/>
        </p:nvPicPr>
        <p:blipFill>
          <a:blip r:embed="rId7"/>
          <a:stretch>
            <a:fillRect/>
          </a:stretch>
        </p:blipFill>
        <p:spPr>
          <a:xfrm>
            <a:off x="714227" y="3650391"/>
            <a:ext cx="3497669" cy="2159213"/>
          </a:xfrm>
          <a:prstGeom prst="rect">
            <a:avLst/>
          </a:prstGeom>
        </p:spPr>
      </p:pic>
      <p:pic>
        <p:nvPicPr>
          <p:cNvPr id="14" name="Image 13">
            <a:extLst>
              <a:ext uri="{FF2B5EF4-FFF2-40B4-BE49-F238E27FC236}">
                <a16:creationId xmlns:a16="http://schemas.microsoft.com/office/drawing/2014/main" id="{F2657516-6E91-183E-586B-C081EFBDD3ED}"/>
              </a:ext>
            </a:extLst>
          </p:cNvPr>
          <p:cNvPicPr>
            <a:picLocks noChangeAspect="1"/>
          </p:cNvPicPr>
          <p:nvPr/>
        </p:nvPicPr>
        <p:blipFill>
          <a:blip r:embed="rId8"/>
          <a:stretch>
            <a:fillRect/>
          </a:stretch>
        </p:blipFill>
        <p:spPr>
          <a:xfrm>
            <a:off x="5593135" y="1107494"/>
            <a:ext cx="6033220" cy="3765842"/>
          </a:xfrm>
          <a:prstGeom prst="rect">
            <a:avLst/>
          </a:prstGeom>
        </p:spPr>
      </p:pic>
      <p:sp>
        <p:nvSpPr>
          <p:cNvPr id="2" name="ZoneTexte 1">
            <a:extLst>
              <a:ext uri="{FF2B5EF4-FFF2-40B4-BE49-F238E27FC236}">
                <a16:creationId xmlns:a16="http://schemas.microsoft.com/office/drawing/2014/main" id="{CE41BD5F-5425-33BE-6107-E914250C5566}"/>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BAD group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doing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better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than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GOOD group on the long run</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Slower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turnover: a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garantee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smooth</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operations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2288216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E7E5EE0-71B2-BCCC-ECC3-B1BF2721AE25}"/>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6531E56A-766A-446B-4C50-FA899356698C}"/>
              </a:ext>
            </a:extLst>
          </p:cNvPr>
          <p:cNvPicPr preferRelativeResize="0"/>
          <p:nvPr/>
        </p:nvPicPr>
        <p:blipFill rotWithShape="1">
          <a:blip r:embed="rId3">
            <a:alphaModFix/>
          </a:blip>
          <a:srcRect/>
          <a:stretch/>
        </p:blipFill>
        <p:spPr>
          <a:xfrm>
            <a:off x="0" y="7257"/>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8F3236ED-F3D3-4EB5-D108-04FC15372B5A}"/>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1262CAF7-CC84-E375-941F-879F3F8CE122}"/>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D97A918C-6165-9CB1-DC6B-BC56D915919C}"/>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INVENTORY TURNOVER</a:t>
            </a:r>
            <a:endParaRPr dirty="0"/>
          </a:p>
        </p:txBody>
      </p:sp>
      <p:sp>
        <p:nvSpPr>
          <p:cNvPr id="148" name="Google Shape;148;p17">
            <a:extLst>
              <a:ext uri="{FF2B5EF4-FFF2-40B4-BE49-F238E27FC236}">
                <a16:creationId xmlns:a16="http://schemas.microsoft.com/office/drawing/2014/main" id="{FD9B3970-28AC-97EE-329A-B1990E259B11}"/>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918D372C-8E72-A50B-E52D-C03D0B8C9942}"/>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30BFA894-E4B2-8E6A-7DAB-F84888D4AFDC}"/>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ACA175D3-A051-A12C-53EE-06ED5DB02DDC}"/>
              </a:ext>
            </a:extLst>
          </p:cNvPr>
          <p:cNvPicPr>
            <a:picLocks noChangeAspect="1"/>
          </p:cNvPicPr>
          <p:nvPr/>
        </p:nvPicPr>
        <p:blipFill>
          <a:blip r:embed="rId6"/>
          <a:stretch>
            <a:fillRect/>
          </a:stretch>
        </p:blipFill>
        <p:spPr>
          <a:xfrm>
            <a:off x="752367" y="1048395"/>
            <a:ext cx="3459530" cy="2052718"/>
          </a:xfrm>
          <a:prstGeom prst="rect">
            <a:avLst/>
          </a:prstGeom>
        </p:spPr>
      </p:pic>
      <p:pic>
        <p:nvPicPr>
          <p:cNvPr id="11" name="Image 10">
            <a:extLst>
              <a:ext uri="{FF2B5EF4-FFF2-40B4-BE49-F238E27FC236}">
                <a16:creationId xmlns:a16="http://schemas.microsoft.com/office/drawing/2014/main" id="{D9934E2A-D83F-FE9E-B48B-13D6D328A973}"/>
              </a:ext>
            </a:extLst>
          </p:cNvPr>
          <p:cNvPicPr>
            <a:picLocks noChangeAspect="1"/>
          </p:cNvPicPr>
          <p:nvPr/>
        </p:nvPicPr>
        <p:blipFill>
          <a:blip r:embed="rId7"/>
          <a:stretch>
            <a:fillRect/>
          </a:stretch>
        </p:blipFill>
        <p:spPr>
          <a:xfrm>
            <a:off x="714227" y="3650391"/>
            <a:ext cx="3497669" cy="2159213"/>
          </a:xfrm>
          <a:prstGeom prst="rect">
            <a:avLst/>
          </a:prstGeom>
        </p:spPr>
      </p:pic>
      <p:pic>
        <p:nvPicPr>
          <p:cNvPr id="5" name="Image 4">
            <a:extLst>
              <a:ext uri="{FF2B5EF4-FFF2-40B4-BE49-F238E27FC236}">
                <a16:creationId xmlns:a16="http://schemas.microsoft.com/office/drawing/2014/main" id="{2502FF4E-4E53-ED27-0627-9C59A5F2553A}"/>
              </a:ext>
            </a:extLst>
          </p:cNvPr>
          <p:cNvPicPr>
            <a:picLocks noChangeAspect="1"/>
          </p:cNvPicPr>
          <p:nvPr/>
        </p:nvPicPr>
        <p:blipFill>
          <a:blip r:embed="rId8"/>
          <a:stretch>
            <a:fillRect/>
          </a:stretch>
        </p:blipFill>
        <p:spPr>
          <a:xfrm>
            <a:off x="5593133" y="1107493"/>
            <a:ext cx="6027367" cy="3642464"/>
          </a:xfrm>
          <a:prstGeom prst="rect">
            <a:avLst/>
          </a:prstGeom>
        </p:spPr>
      </p:pic>
      <p:sp>
        <p:nvSpPr>
          <p:cNvPr id="2" name="ZoneTexte 1">
            <a:extLst>
              <a:ext uri="{FF2B5EF4-FFF2-40B4-BE49-F238E27FC236}">
                <a16:creationId xmlns:a16="http://schemas.microsoft.com/office/drawing/2014/main" id="{F8E1D8E5-1B9E-D094-1DA5-5698C18440DD}"/>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GOOD and BAD groups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underperforms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index</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Having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optimized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balanced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inventory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management is the key</a:t>
            </a:r>
          </a:p>
        </p:txBody>
      </p:sp>
    </p:spTree>
    <p:extLst>
      <p:ext uri="{BB962C8B-B14F-4D97-AF65-F5344CB8AC3E}">
        <p14:creationId xmlns:p14="http://schemas.microsoft.com/office/powerpoint/2010/main" val="3887976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04BD551-1931-616D-1D1E-CF71346F4E8D}"/>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50819C96-4D4E-3111-E36F-680FE27566F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433BD555-17D4-B2D2-9534-DE620071B9A0}"/>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33D7A714-6EAE-032E-35D4-B98DB5B1DA1E}"/>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B52A1C69-42D7-2336-A93F-B0DE393CB93E}"/>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AVERAGE SALE PERIOD</a:t>
            </a:r>
            <a:endParaRPr dirty="0"/>
          </a:p>
        </p:txBody>
      </p:sp>
      <p:sp>
        <p:nvSpPr>
          <p:cNvPr id="148" name="Google Shape;148;p17">
            <a:extLst>
              <a:ext uri="{FF2B5EF4-FFF2-40B4-BE49-F238E27FC236}">
                <a16:creationId xmlns:a16="http://schemas.microsoft.com/office/drawing/2014/main" id="{FB10D798-6ACE-D441-47B6-F763CF56BEAD}"/>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B6F52B49-FA6A-7EE9-9C4C-A374F628AD12}"/>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3B968138-1E18-7C2B-F2FD-FE24D6ADBB9C}"/>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F769F2CA-F476-8E88-EA28-097A378C680F}"/>
              </a:ext>
            </a:extLst>
          </p:cNvPr>
          <p:cNvPicPr>
            <a:picLocks noChangeAspect="1"/>
          </p:cNvPicPr>
          <p:nvPr/>
        </p:nvPicPr>
        <p:blipFill>
          <a:blip r:embed="rId6"/>
          <a:stretch>
            <a:fillRect/>
          </a:stretch>
        </p:blipFill>
        <p:spPr>
          <a:xfrm>
            <a:off x="752367" y="1055867"/>
            <a:ext cx="3497669" cy="2052717"/>
          </a:xfrm>
          <a:prstGeom prst="rect">
            <a:avLst/>
          </a:prstGeom>
        </p:spPr>
      </p:pic>
      <p:pic>
        <p:nvPicPr>
          <p:cNvPr id="10" name="Image 9">
            <a:extLst>
              <a:ext uri="{FF2B5EF4-FFF2-40B4-BE49-F238E27FC236}">
                <a16:creationId xmlns:a16="http://schemas.microsoft.com/office/drawing/2014/main" id="{2AF29997-E0E0-46FA-2CE2-AB6CB0305756}"/>
              </a:ext>
            </a:extLst>
          </p:cNvPr>
          <p:cNvPicPr>
            <a:picLocks noChangeAspect="1"/>
          </p:cNvPicPr>
          <p:nvPr/>
        </p:nvPicPr>
        <p:blipFill>
          <a:blip r:embed="rId7"/>
          <a:stretch>
            <a:fillRect/>
          </a:stretch>
        </p:blipFill>
        <p:spPr>
          <a:xfrm>
            <a:off x="714078" y="3650391"/>
            <a:ext cx="3525958" cy="2151741"/>
          </a:xfrm>
          <a:prstGeom prst="rect">
            <a:avLst/>
          </a:prstGeom>
        </p:spPr>
      </p:pic>
      <p:pic>
        <p:nvPicPr>
          <p:cNvPr id="8" name="Image 7">
            <a:extLst>
              <a:ext uri="{FF2B5EF4-FFF2-40B4-BE49-F238E27FC236}">
                <a16:creationId xmlns:a16="http://schemas.microsoft.com/office/drawing/2014/main" id="{0C7A25B5-5DFC-D66F-8E21-EDC18E3D33FC}"/>
              </a:ext>
            </a:extLst>
          </p:cNvPr>
          <p:cNvPicPr>
            <a:picLocks noChangeAspect="1"/>
          </p:cNvPicPr>
          <p:nvPr/>
        </p:nvPicPr>
        <p:blipFill>
          <a:blip r:embed="rId8"/>
          <a:stretch>
            <a:fillRect/>
          </a:stretch>
        </p:blipFill>
        <p:spPr>
          <a:xfrm>
            <a:off x="5514413" y="1067250"/>
            <a:ext cx="5790896" cy="3797438"/>
          </a:xfrm>
          <a:prstGeom prst="rect">
            <a:avLst/>
          </a:prstGeom>
        </p:spPr>
      </p:pic>
      <p:sp>
        <p:nvSpPr>
          <p:cNvPr id="2" name="ZoneTexte 1">
            <a:extLst>
              <a:ext uri="{FF2B5EF4-FFF2-40B4-BE49-F238E27FC236}">
                <a16:creationId xmlns:a16="http://schemas.microsoft.com/office/drawing/2014/main" id="{7A9C016B-87F6-EDEC-5636-A48B83286276}"/>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Similar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to Inventory Turnover</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Having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optimized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balanced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inventory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management is the key</a:t>
            </a:r>
          </a:p>
          <a:p>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991553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6243234-4628-A429-6955-AF4DB67C2E31}"/>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E5514273-428B-E422-5CBC-5AE3C6156A3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DDCF134A-30C3-3B8D-F66A-4FFC32C787B3}"/>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6658B216-2D0A-6D81-8CDF-3FB8E3E0EE12}"/>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4C557817-0E9E-E271-BC05-22A9ED923D58}"/>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OPERATING CYCLE</a:t>
            </a:r>
            <a:endParaRPr dirty="0"/>
          </a:p>
        </p:txBody>
      </p:sp>
      <p:sp>
        <p:nvSpPr>
          <p:cNvPr id="148" name="Google Shape;148;p17">
            <a:extLst>
              <a:ext uri="{FF2B5EF4-FFF2-40B4-BE49-F238E27FC236}">
                <a16:creationId xmlns:a16="http://schemas.microsoft.com/office/drawing/2014/main" id="{01AF2218-6E98-F97E-E602-7406DB33D04D}"/>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D178B221-EE5D-3F68-76D1-AE144E623CF8}"/>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DE8100C5-05C1-4D0A-B76F-B3043E5DAE3D}"/>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F019699B-05B6-9088-5377-93EBD7E6F6D5}"/>
              </a:ext>
            </a:extLst>
          </p:cNvPr>
          <p:cNvPicPr>
            <a:picLocks noChangeAspect="1"/>
          </p:cNvPicPr>
          <p:nvPr/>
        </p:nvPicPr>
        <p:blipFill>
          <a:blip r:embed="rId6"/>
          <a:stretch>
            <a:fillRect/>
          </a:stretch>
        </p:blipFill>
        <p:spPr>
          <a:xfrm>
            <a:off x="734540" y="1055868"/>
            <a:ext cx="3525958" cy="2045245"/>
          </a:xfrm>
          <a:prstGeom prst="rect">
            <a:avLst/>
          </a:prstGeom>
        </p:spPr>
      </p:pic>
      <p:pic>
        <p:nvPicPr>
          <p:cNvPr id="11" name="Image 10">
            <a:extLst>
              <a:ext uri="{FF2B5EF4-FFF2-40B4-BE49-F238E27FC236}">
                <a16:creationId xmlns:a16="http://schemas.microsoft.com/office/drawing/2014/main" id="{B7B99FB7-C0B9-E612-C7FA-4D5F9D8DF316}"/>
              </a:ext>
            </a:extLst>
          </p:cNvPr>
          <p:cNvPicPr>
            <a:picLocks noChangeAspect="1"/>
          </p:cNvPicPr>
          <p:nvPr/>
        </p:nvPicPr>
        <p:blipFill>
          <a:blip r:embed="rId7"/>
          <a:stretch>
            <a:fillRect/>
          </a:stretch>
        </p:blipFill>
        <p:spPr>
          <a:xfrm>
            <a:off x="714079" y="3650392"/>
            <a:ext cx="3514504" cy="2151740"/>
          </a:xfrm>
          <a:prstGeom prst="rect">
            <a:avLst/>
          </a:prstGeom>
        </p:spPr>
      </p:pic>
      <p:sp>
        <p:nvSpPr>
          <p:cNvPr id="2" name="ZoneTexte 1">
            <a:extLst>
              <a:ext uri="{FF2B5EF4-FFF2-40B4-BE49-F238E27FC236}">
                <a16:creationId xmlns:a16="http://schemas.microsoft.com/office/drawing/2014/main" id="{7EB47931-4334-6894-0282-720EB4C3E150}"/>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Preference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slower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operating cycle</a:t>
            </a: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Fast operating cycle is a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sign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of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strucural</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vulnerability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Wingdings" panose="05000000000000000000" pitchFamily="2" charset="2"/>
              <a:buChar char="à"/>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Investors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prefer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operational</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resilience</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pic>
        <p:nvPicPr>
          <p:cNvPr id="3" name="Image 2">
            <a:extLst>
              <a:ext uri="{FF2B5EF4-FFF2-40B4-BE49-F238E27FC236}">
                <a16:creationId xmlns:a16="http://schemas.microsoft.com/office/drawing/2014/main" id="{B48737AD-8A64-C92F-6C27-0B34FD65503D}"/>
              </a:ext>
            </a:extLst>
          </p:cNvPr>
          <p:cNvPicPr>
            <a:picLocks noChangeAspect="1"/>
          </p:cNvPicPr>
          <p:nvPr/>
        </p:nvPicPr>
        <p:blipFill>
          <a:blip r:embed="rId8"/>
          <a:stretch>
            <a:fillRect/>
          </a:stretch>
        </p:blipFill>
        <p:spPr>
          <a:xfrm>
            <a:off x="5514412" y="1059993"/>
            <a:ext cx="5943047" cy="3684540"/>
          </a:xfrm>
          <a:prstGeom prst="rect">
            <a:avLst/>
          </a:prstGeom>
        </p:spPr>
      </p:pic>
    </p:spTree>
    <p:extLst>
      <p:ext uri="{BB962C8B-B14F-4D97-AF65-F5344CB8AC3E}">
        <p14:creationId xmlns:p14="http://schemas.microsoft.com/office/powerpoint/2010/main" val="1309099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50EECCC-4BA1-7CF3-CBF3-50179DD05152}"/>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4049BDFA-9F22-D8B5-6E25-D6EB0DE82A6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68925B43-EE9A-A6F3-696D-1B141DF93D1E}"/>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B8D9429C-775E-212D-2A18-DB8C113185E4}"/>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67E0F005-D4E9-C051-203A-31ECC0AB4EA0}"/>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TOTAL ASSET TURNOVER</a:t>
            </a:r>
            <a:endParaRPr dirty="0"/>
          </a:p>
        </p:txBody>
      </p:sp>
      <p:sp>
        <p:nvSpPr>
          <p:cNvPr id="148" name="Google Shape;148;p17">
            <a:extLst>
              <a:ext uri="{FF2B5EF4-FFF2-40B4-BE49-F238E27FC236}">
                <a16:creationId xmlns:a16="http://schemas.microsoft.com/office/drawing/2014/main" id="{A927D93E-F8DD-788B-27AA-2B84793F35E8}"/>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A0B0B581-88D6-D62E-01AE-6FC5D4406C49}"/>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CA17C8D0-1917-D9FB-9423-1646583E6B04}"/>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4858C867-2ACF-413F-4DEA-4BD7931E5E1F}"/>
              </a:ext>
            </a:extLst>
          </p:cNvPr>
          <p:cNvPicPr>
            <a:picLocks noChangeAspect="1"/>
          </p:cNvPicPr>
          <p:nvPr/>
        </p:nvPicPr>
        <p:blipFill>
          <a:blip r:embed="rId6"/>
          <a:stretch>
            <a:fillRect/>
          </a:stretch>
        </p:blipFill>
        <p:spPr>
          <a:xfrm>
            <a:off x="752366" y="1055868"/>
            <a:ext cx="3476217" cy="2045243"/>
          </a:xfrm>
          <a:prstGeom prst="rect">
            <a:avLst/>
          </a:prstGeom>
        </p:spPr>
      </p:pic>
      <p:pic>
        <p:nvPicPr>
          <p:cNvPr id="10" name="Image 9">
            <a:extLst>
              <a:ext uri="{FF2B5EF4-FFF2-40B4-BE49-F238E27FC236}">
                <a16:creationId xmlns:a16="http://schemas.microsoft.com/office/drawing/2014/main" id="{9BB9BCC1-DA44-7BB4-EC15-42EAE42FD1E7}"/>
              </a:ext>
            </a:extLst>
          </p:cNvPr>
          <p:cNvPicPr>
            <a:picLocks noChangeAspect="1"/>
          </p:cNvPicPr>
          <p:nvPr/>
        </p:nvPicPr>
        <p:blipFill>
          <a:blip r:embed="rId7"/>
          <a:stretch>
            <a:fillRect/>
          </a:stretch>
        </p:blipFill>
        <p:spPr>
          <a:xfrm>
            <a:off x="714080" y="3650392"/>
            <a:ext cx="3504070" cy="2151740"/>
          </a:xfrm>
          <a:prstGeom prst="rect">
            <a:avLst/>
          </a:prstGeom>
        </p:spPr>
      </p:pic>
      <p:pic>
        <p:nvPicPr>
          <p:cNvPr id="14" name="Image 13">
            <a:extLst>
              <a:ext uri="{FF2B5EF4-FFF2-40B4-BE49-F238E27FC236}">
                <a16:creationId xmlns:a16="http://schemas.microsoft.com/office/drawing/2014/main" id="{AE6C7420-7981-3F9C-BBEC-8B2E1C523D60}"/>
              </a:ext>
            </a:extLst>
          </p:cNvPr>
          <p:cNvPicPr>
            <a:picLocks noChangeAspect="1"/>
          </p:cNvPicPr>
          <p:nvPr/>
        </p:nvPicPr>
        <p:blipFill>
          <a:blip r:embed="rId8"/>
          <a:stretch>
            <a:fillRect/>
          </a:stretch>
        </p:blipFill>
        <p:spPr>
          <a:xfrm>
            <a:off x="5514414" y="1067250"/>
            <a:ext cx="6052640" cy="3744520"/>
          </a:xfrm>
          <a:prstGeom prst="rect">
            <a:avLst/>
          </a:prstGeom>
        </p:spPr>
      </p:pic>
      <p:sp>
        <p:nvSpPr>
          <p:cNvPr id="2" name="ZoneTexte 1">
            <a:extLst>
              <a:ext uri="{FF2B5EF4-FFF2-40B4-BE49-F238E27FC236}">
                <a16:creationId xmlns:a16="http://schemas.microsoft.com/office/drawing/2014/main" id="{14B9D225-8E1F-08EE-1073-8C7223D12CF5}"/>
              </a:ext>
            </a:extLst>
          </p:cNvPr>
          <p:cNvSpPr txBox="1"/>
          <p:nvPr/>
        </p:nvSpPr>
        <p:spPr>
          <a:xfrm>
            <a:off x="5359879" y="5048269"/>
            <a:ext cx="6516930" cy="954107"/>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Ratio &lt; 1 because it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is a capital-intensive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asset turnover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means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assets are not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used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efficiently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 high asset turnover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might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signal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risk-taking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reducing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inventory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both case,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profitability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suffers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which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explain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negative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retuns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3798250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A660B4C-E88A-6DC5-1225-A5D7A0D1C008}"/>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41AAFB66-48C6-6A6D-FC0C-98735A7D8DE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5F9929EA-BC18-AF13-2086-50565C522753}"/>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76ABF849-A33C-C4A9-05FB-8E8F036EBC38}"/>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7447CA40-6F81-1266-6D6D-66C7C0F776EB}"/>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TOTAL ASSET TURNOVER</a:t>
            </a:r>
            <a:endParaRPr dirty="0"/>
          </a:p>
        </p:txBody>
      </p:sp>
      <p:sp>
        <p:nvSpPr>
          <p:cNvPr id="148" name="Google Shape;148;p17">
            <a:extLst>
              <a:ext uri="{FF2B5EF4-FFF2-40B4-BE49-F238E27FC236}">
                <a16:creationId xmlns:a16="http://schemas.microsoft.com/office/drawing/2014/main" id="{6DE1D269-070D-5556-B1E8-9AA9D8B4AE6E}"/>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33F1524D-924A-0B26-2F4F-E73CF82BABC6}"/>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86CD1ADC-9EF6-07F0-4139-A02B7EFE95FA}"/>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2933032F-C895-BDC1-FC48-9714411527F6}"/>
              </a:ext>
            </a:extLst>
          </p:cNvPr>
          <p:cNvPicPr>
            <a:picLocks noChangeAspect="1"/>
          </p:cNvPicPr>
          <p:nvPr/>
        </p:nvPicPr>
        <p:blipFill>
          <a:blip r:embed="rId6"/>
          <a:stretch>
            <a:fillRect/>
          </a:stretch>
        </p:blipFill>
        <p:spPr>
          <a:xfrm>
            <a:off x="752366" y="1055868"/>
            <a:ext cx="3476217" cy="2045243"/>
          </a:xfrm>
          <a:prstGeom prst="rect">
            <a:avLst/>
          </a:prstGeom>
        </p:spPr>
      </p:pic>
      <p:pic>
        <p:nvPicPr>
          <p:cNvPr id="10" name="Image 9">
            <a:extLst>
              <a:ext uri="{FF2B5EF4-FFF2-40B4-BE49-F238E27FC236}">
                <a16:creationId xmlns:a16="http://schemas.microsoft.com/office/drawing/2014/main" id="{2CCC5821-A7D7-3AB0-C839-D97DA56F6627}"/>
              </a:ext>
            </a:extLst>
          </p:cNvPr>
          <p:cNvPicPr>
            <a:picLocks noChangeAspect="1"/>
          </p:cNvPicPr>
          <p:nvPr/>
        </p:nvPicPr>
        <p:blipFill>
          <a:blip r:embed="rId7"/>
          <a:stretch>
            <a:fillRect/>
          </a:stretch>
        </p:blipFill>
        <p:spPr>
          <a:xfrm>
            <a:off x="714080" y="3650392"/>
            <a:ext cx="3504070" cy="2151740"/>
          </a:xfrm>
          <a:prstGeom prst="rect">
            <a:avLst/>
          </a:prstGeom>
        </p:spPr>
      </p:pic>
      <p:pic>
        <p:nvPicPr>
          <p:cNvPr id="4" name="Image 3">
            <a:extLst>
              <a:ext uri="{FF2B5EF4-FFF2-40B4-BE49-F238E27FC236}">
                <a16:creationId xmlns:a16="http://schemas.microsoft.com/office/drawing/2014/main" id="{6F61FA48-1A03-648A-A535-32571079B8F0}"/>
              </a:ext>
            </a:extLst>
          </p:cNvPr>
          <p:cNvPicPr>
            <a:picLocks noChangeAspect="1"/>
          </p:cNvPicPr>
          <p:nvPr/>
        </p:nvPicPr>
        <p:blipFill>
          <a:blip r:embed="rId8"/>
          <a:stretch>
            <a:fillRect/>
          </a:stretch>
        </p:blipFill>
        <p:spPr>
          <a:xfrm>
            <a:off x="5524846" y="1067249"/>
            <a:ext cx="6073462" cy="3764524"/>
          </a:xfrm>
          <a:prstGeom prst="rect">
            <a:avLst/>
          </a:prstGeom>
        </p:spPr>
      </p:pic>
      <p:sp>
        <p:nvSpPr>
          <p:cNvPr id="2" name="ZoneTexte 1">
            <a:extLst>
              <a:ext uri="{FF2B5EF4-FFF2-40B4-BE49-F238E27FC236}">
                <a16:creationId xmlns:a16="http://schemas.microsoft.com/office/drawing/2014/main" id="{6111B0A3-2C63-E4E9-C5EA-81B53B624AA4}"/>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 high 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too</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asset turnover is not the optimal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strategy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Industry Index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proves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that once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again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better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balance is the key</a:t>
            </a:r>
          </a:p>
        </p:txBody>
      </p:sp>
    </p:spTree>
    <p:extLst>
      <p:ext uri="{BB962C8B-B14F-4D97-AF65-F5344CB8AC3E}">
        <p14:creationId xmlns:p14="http://schemas.microsoft.com/office/powerpoint/2010/main" val="3911561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4B2044C-1304-52D4-E2B8-3FF9F6049039}"/>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FFBD10BF-0C0E-1269-1BB3-36B577EC4F6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73523232-87FF-36FC-B332-EA174858428D}"/>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81FB2D62-C198-EF0C-8020-245ABAF3645B}"/>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5992CA10-4D94-234E-F0AF-4970F2B04C1E}"/>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TIMES INTEREST EARNED </a:t>
            </a:r>
            <a:endParaRPr dirty="0"/>
          </a:p>
        </p:txBody>
      </p:sp>
      <p:sp>
        <p:nvSpPr>
          <p:cNvPr id="148" name="Google Shape;148;p17">
            <a:extLst>
              <a:ext uri="{FF2B5EF4-FFF2-40B4-BE49-F238E27FC236}">
                <a16:creationId xmlns:a16="http://schemas.microsoft.com/office/drawing/2014/main" id="{8C29CD40-E280-BE70-DD67-74AD9B71D72C}"/>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937A4FF8-C72D-7337-279B-787B7994C47A}"/>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C19F9B23-5F91-6992-553F-D2DF58E36A31}"/>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5" name="Image 4">
            <a:extLst>
              <a:ext uri="{FF2B5EF4-FFF2-40B4-BE49-F238E27FC236}">
                <a16:creationId xmlns:a16="http://schemas.microsoft.com/office/drawing/2014/main" id="{D635490D-ECCE-ECE7-4A91-CE47473614EF}"/>
              </a:ext>
            </a:extLst>
          </p:cNvPr>
          <p:cNvPicPr>
            <a:picLocks noChangeAspect="1"/>
          </p:cNvPicPr>
          <p:nvPr/>
        </p:nvPicPr>
        <p:blipFill>
          <a:blip r:embed="rId6"/>
          <a:stretch>
            <a:fillRect/>
          </a:stretch>
        </p:blipFill>
        <p:spPr>
          <a:xfrm>
            <a:off x="777637" y="1066008"/>
            <a:ext cx="3440513" cy="2030301"/>
          </a:xfrm>
          <a:prstGeom prst="rect">
            <a:avLst/>
          </a:prstGeom>
        </p:spPr>
      </p:pic>
      <p:pic>
        <p:nvPicPr>
          <p:cNvPr id="11" name="Image 10">
            <a:extLst>
              <a:ext uri="{FF2B5EF4-FFF2-40B4-BE49-F238E27FC236}">
                <a16:creationId xmlns:a16="http://schemas.microsoft.com/office/drawing/2014/main" id="{D0572DD5-0AE4-F060-76F0-E3CF346FB0BE}"/>
              </a:ext>
            </a:extLst>
          </p:cNvPr>
          <p:cNvPicPr>
            <a:picLocks noChangeAspect="1"/>
          </p:cNvPicPr>
          <p:nvPr/>
        </p:nvPicPr>
        <p:blipFill>
          <a:blip r:embed="rId7"/>
          <a:stretch>
            <a:fillRect/>
          </a:stretch>
        </p:blipFill>
        <p:spPr>
          <a:xfrm>
            <a:off x="712656" y="3650394"/>
            <a:ext cx="3514504" cy="2141598"/>
          </a:xfrm>
          <a:prstGeom prst="rect">
            <a:avLst/>
          </a:prstGeom>
        </p:spPr>
      </p:pic>
      <p:pic>
        <p:nvPicPr>
          <p:cNvPr id="14" name="Image 13">
            <a:extLst>
              <a:ext uri="{FF2B5EF4-FFF2-40B4-BE49-F238E27FC236}">
                <a16:creationId xmlns:a16="http://schemas.microsoft.com/office/drawing/2014/main" id="{4D7D4CB3-32D4-AE24-1CCE-38CDFB0F7334}"/>
              </a:ext>
            </a:extLst>
          </p:cNvPr>
          <p:cNvPicPr>
            <a:picLocks noChangeAspect="1"/>
          </p:cNvPicPr>
          <p:nvPr/>
        </p:nvPicPr>
        <p:blipFill>
          <a:blip r:embed="rId8"/>
          <a:stretch>
            <a:fillRect/>
          </a:stretch>
        </p:blipFill>
        <p:spPr>
          <a:xfrm>
            <a:off x="5533856" y="1066007"/>
            <a:ext cx="5977677" cy="3703419"/>
          </a:xfrm>
          <a:prstGeom prst="rect">
            <a:avLst/>
          </a:prstGeom>
        </p:spPr>
      </p:pic>
      <p:sp>
        <p:nvSpPr>
          <p:cNvPr id="2" name="ZoneTexte 1">
            <a:extLst>
              <a:ext uri="{FF2B5EF4-FFF2-40B4-BE49-F238E27FC236}">
                <a16:creationId xmlns:a16="http://schemas.microsoft.com/office/drawing/2014/main" id="{2D2EB85A-064B-EF98-302C-6D1C37DFC171}"/>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Low-cost model carriers are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failing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generate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positive EBIT</a:t>
            </a: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They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cannot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absorb</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rising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fixed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costs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Solvency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risk</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punished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by the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market</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408670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D3DF89F-20A8-CD6C-CF9C-F39A1AB79799}"/>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E9C2B9D0-C200-3A88-973F-CB4B1EF5339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AA1CAF22-A901-903F-4BE5-4839B7B2627B}"/>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B0E809F3-0C62-B8C7-45C3-9CE821BBFC86}"/>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63067D65-4ADF-549E-4DD4-6EFC6A7ED36A}"/>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DEBT-TO-EQUITY RATIO</a:t>
            </a:r>
            <a:endParaRPr dirty="0"/>
          </a:p>
        </p:txBody>
      </p:sp>
      <p:sp>
        <p:nvSpPr>
          <p:cNvPr id="148" name="Google Shape;148;p17">
            <a:extLst>
              <a:ext uri="{FF2B5EF4-FFF2-40B4-BE49-F238E27FC236}">
                <a16:creationId xmlns:a16="http://schemas.microsoft.com/office/drawing/2014/main" id="{BE096270-8C6C-F7ED-B118-514620DD22AE}"/>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0202564A-7FA6-CB96-74D5-D9D5C409F6E4}"/>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1995E0F6-A4E5-6B3B-12F3-C8E2CDB62FD3}"/>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A75CAED3-E942-25D7-F39B-30ADC4CA70B6}"/>
              </a:ext>
            </a:extLst>
          </p:cNvPr>
          <p:cNvPicPr>
            <a:picLocks noChangeAspect="1"/>
          </p:cNvPicPr>
          <p:nvPr/>
        </p:nvPicPr>
        <p:blipFill>
          <a:blip r:embed="rId6"/>
          <a:stretch>
            <a:fillRect/>
          </a:stretch>
        </p:blipFill>
        <p:spPr>
          <a:xfrm>
            <a:off x="712655" y="1054451"/>
            <a:ext cx="3514503" cy="2040437"/>
          </a:xfrm>
          <a:prstGeom prst="rect">
            <a:avLst/>
          </a:prstGeom>
        </p:spPr>
      </p:pic>
      <p:pic>
        <p:nvPicPr>
          <p:cNvPr id="10" name="Image 9">
            <a:extLst>
              <a:ext uri="{FF2B5EF4-FFF2-40B4-BE49-F238E27FC236}">
                <a16:creationId xmlns:a16="http://schemas.microsoft.com/office/drawing/2014/main" id="{685E490A-3C38-F75A-F696-5E669A164201}"/>
              </a:ext>
            </a:extLst>
          </p:cNvPr>
          <p:cNvPicPr>
            <a:picLocks noChangeAspect="1"/>
          </p:cNvPicPr>
          <p:nvPr/>
        </p:nvPicPr>
        <p:blipFill>
          <a:blip r:embed="rId7"/>
          <a:stretch>
            <a:fillRect/>
          </a:stretch>
        </p:blipFill>
        <p:spPr>
          <a:xfrm>
            <a:off x="712656" y="3650394"/>
            <a:ext cx="3514503" cy="2141598"/>
          </a:xfrm>
          <a:prstGeom prst="rect">
            <a:avLst/>
          </a:prstGeom>
        </p:spPr>
      </p:pic>
      <p:pic>
        <p:nvPicPr>
          <p:cNvPr id="4" name="Image 3">
            <a:extLst>
              <a:ext uri="{FF2B5EF4-FFF2-40B4-BE49-F238E27FC236}">
                <a16:creationId xmlns:a16="http://schemas.microsoft.com/office/drawing/2014/main" id="{50C8D2A0-3989-D595-0C8C-487FA109C58C}"/>
              </a:ext>
            </a:extLst>
          </p:cNvPr>
          <p:cNvPicPr>
            <a:picLocks noChangeAspect="1"/>
          </p:cNvPicPr>
          <p:nvPr/>
        </p:nvPicPr>
        <p:blipFill>
          <a:blip r:embed="rId8"/>
          <a:stretch>
            <a:fillRect/>
          </a:stretch>
        </p:blipFill>
        <p:spPr>
          <a:xfrm>
            <a:off x="5542866" y="1066007"/>
            <a:ext cx="5961981" cy="3682719"/>
          </a:xfrm>
          <a:prstGeom prst="rect">
            <a:avLst/>
          </a:prstGeom>
        </p:spPr>
      </p:pic>
      <p:sp>
        <p:nvSpPr>
          <p:cNvPr id="2" name="ZoneTexte 1">
            <a:extLst>
              <a:ext uri="{FF2B5EF4-FFF2-40B4-BE49-F238E27FC236}">
                <a16:creationId xmlns:a16="http://schemas.microsoft.com/office/drawing/2014/main" id="{1C56DCC1-084C-4D06-6D3B-C86E72FC6A96}"/>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financially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leveraged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rewarded</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GOOD group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profitable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models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like Delta and United</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Investors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envourage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aggressive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asset expansion</a:t>
            </a:r>
          </a:p>
        </p:txBody>
      </p:sp>
    </p:spTree>
    <p:extLst>
      <p:ext uri="{BB962C8B-B14F-4D97-AF65-F5344CB8AC3E}">
        <p14:creationId xmlns:p14="http://schemas.microsoft.com/office/powerpoint/2010/main" val="4251786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3F38A4B-F3C9-E0A3-9381-D8F8AABA162F}"/>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CA7409A7-4974-6071-482A-424ACFCFCE34}"/>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1DDC4F93-2D57-84D1-874E-CFAE2D339172}"/>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A41CC004-B0BF-23CC-40DF-F17F0218F0B4}"/>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FC5A22BB-AB56-B13C-3013-BEF89FEEE18D}"/>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EQUITY MULTIPLIER</a:t>
            </a:r>
            <a:endParaRPr dirty="0"/>
          </a:p>
        </p:txBody>
      </p:sp>
      <p:sp>
        <p:nvSpPr>
          <p:cNvPr id="148" name="Google Shape;148;p17">
            <a:extLst>
              <a:ext uri="{FF2B5EF4-FFF2-40B4-BE49-F238E27FC236}">
                <a16:creationId xmlns:a16="http://schemas.microsoft.com/office/drawing/2014/main" id="{88787776-334C-43EB-D4F8-07889529A5C4}"/>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3E2AEFDC-0849-38D8-03A2-9838F214FC15}"/>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716DF272-DEF7-919E-B91B-3D0F093D4800}"/>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5" name="Image 4">
            <a:extLst>
              <a:ext uri="{FF2B5EF4-FFF2-40B4-BE49-F238E27FC236}">
                <a16:creationId xmlns:a16="http://schemas.microsoft.com/office/drawing/2014/main" id="{0C83AD14-7593-A7AA-1460-14F512969086}"/>
              </a:ext>
            </a:extLst>
          </p:cNvPr>
          <p:cNvPicPr>
            <a:picLocks noChangeAspect="1"/>
          </p:cNvPicPr>
          <p:nvPr/>
        </p:nvPicPr>
        <p:blipFill>
          <a:blip r:embed="rId6"/>
          <a:stretch>
            <a:fillRect/>
          </a:stretch>
        </p:blipFill>
        <p:spPr>
          <a:xfrm>
            <a:off x="712655" y="1066008"/>
            <a:ext cx="3514503" cy="2028880"/>
          </a:xfrm>
          <a:prstGeom prst="rect">
            <a:avLst/>
          </a:prstGeom>
        </p:spPr>
      </p:pic>
      <p:pic>
        <p:nvPicPr>
          <p:cNvPr id="11" name="Image 10">
            <a:extLst>
              <a:ext uri="{FF2B5EF4-FFF2-40B4-BE49-F238E27FC236}">
                <a16:creationId xmlns:a16="http://schemas.microsoft.com/office/drawing/2014/main" id="{E100A0C7-62CD-307A-2136-D0DD24ABA419}"/>
              </a:ext>
            </a:extLst>
          </p:cNvPr>
          <p:cNvPicPr>
            <a:picLocks noChangeAspect="1"/>
          </p:cNvPicPr>
          <p:nvPr/>
        </p:nvPicPr>
        <p:blipFill>
          <a:blip r:embed="rId7"/>
          <a:stretch>
            <a:fillRect/>
          </a:stretch>
        </p:blipFill>
        <p:spPr>
          <a:xfrm>
            <a:off x="720241" y="3650394"/>
            <a:ext cx="3514504" cy="2141598"/>
          </a:xfrm>
          <a:prstGeom prst="rect">
            <a:avLst/>
          </a:prstGeom>
        </p:spPr>
      </p:pic>
      <p:pic>
        <p:nvPicPr>
          <p:cNvPr id="3" name="Image 2">
            <a:extLst>
              <a:ext uri="{FF2B5EF4-FFF2-40B4-BE49-F238E27FC236}">
                <a16:creationId xmlns:a16="http://schemas.microsoft.com/office/drawing/2014/main" id="{2568609B-94AF-B1A1-CD87-441AF452B0E5}"/>
              </a:ext>
            </a:extLst>
          </p:cNvPr>
          <p:cNvPicPr>
            <a:picLocks noChangeAspect="1"/>
          </p:cNvPicPr>
          <p:nvPr/>
        </p:nvPicPr>
        <p:blipFill>
          <a:blip r:embed="rId8"/>
          <a:stretch>
            <a:fillRect/>
          </a:stretch>
        </p:blipFill>
        <p:spPr>
          <a:xfrm>
            <a:off x="5542866" y="1067819"/>
            <a:ext cx="6131325" cy="3504200"/>
          </a:xfrm>
          <a:prstGeom prst="rect">
            <a:avLst/>
          </a:prstGeom>
        </p:spPr>
      </p:pic>
      <p:sp>
        <p:nvSpPr>
          <p:cNvPr id="8" name="ZoneTexte 7">
            <a:extLst>
              <a:ext uri="{FF2B5EF4-FFF2-40B4-BE49-F238E27FC236}">
                <a16:creationId xmlns:a16="http://schemas.microsoft.com/office/drawing/2014/main" id="{6C87BF57-B3D9-9999-123E-9CC4347759C6}"/>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financially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leveraged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rewarded</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GOOD group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profitable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models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like Delta and United</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Investors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envodemand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agressive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leverage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but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require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stable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equity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119843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FD32EF8-514A-E717-0FE3-16140194D3D4}"/>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E984107E-B1E3-C883-D2A3-D168A531D99D}"/>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B83C6A88-D4D3-0357-1412-14E817DCE49E}"/>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FAEFF57E-600A-56B1-A20D-24D2B27BEED3}"/>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86E35B76-1A0F-F0A9-B94E-2C84E61A71C7}"/>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NET PROFIT MARGIN PERCENTAGE</a:t>
            </a:r>
            <a:endParaRPr dirty="0"/>
          </a:p>
        </p:txBody>
      </p:sp>
      <p:sp>
        <p:nvSpPr>
          <p:cNvPr id="148" name="Google Shape;148;p17">
            <a:extLst>
              <a:ext uri="{FF2B5EF4-FFF2-40B4-BE49-F238E27FC236}">
                <a16:creationId xmlns:a16="http://schemas.microsoft.com/office/drawing/2014/main" id="{42684A26-33BD-686F-1755-DF64FA1BB806}"/>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3EE7257B-EA97-E19F-DCF9-AC1600441583}"/>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06D335E5-5FD8-4FC0-40A9-6A5E28F65F85}"/>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6A5FD1A6-CCB9-E3D9-1325-42727EF0DDB7}"/>
              </a:ext>
            </a:extLst>
          </p:cNvPr>
          <p:cNvPicPr>
            <a:picLocks noChangeAspect="1"/>
          </p:cNvPicPr>
          <p:nvPr/>
        </p:nvPicPr>
        <p:blipFill>
          <a:blip r:embed="rId6"/>
          <a:stretch>
            <a:fillRect/>
          </a:stretch>
        </p:blipFill>
        <p:spPr>
          <a:xfrm>
            <a:off x="712655" y="1066008"/>
            <a:ext cx="3514503" cy="2028880"/>
          </a:xfrm>
          <a:prstGeom prst="rect">
            <a:avLst/>
          </a:prstGeom>
        </p:spPr>
      </p:pic>
      <p:pic>
        <p:nvPicPr>
          <p:cNvPr id="10" name="Image 9">
            <a:extLst>
              <a:ext uri="{FF2B5EF4-FFF2-40B4-BE49-F238E27FC236}">
                <a16:creationId xmlns:a16="http://schemas.microsoft.com/office/drawing/2014/main" id="{897F5506-D092-8631-21C6-805551F736EF}"/>
              </a:ext>
            </a:extLst>
          </p:cNvPr>
          <p:cNvPicPr>
            <a:picLocks noChangeAspect="1"/>
          </p:cNvPicPr>
          <p:nvPr/>
        </p:nvPicPr>
        <p:blipFill>
          <a:blip r:embed="rId7"/>
          <a:stretch>
            <a:fillRect/>
          </a:stretch>
        </p:blipFill>
        <p:spPr>
          <a:xfrm>
            <a:off x="735411" y="3650394"/>
            <a:ext cx="3515191" cy="2141597"/>
          </a:xfrm>
          <a:prstGeom prst="rect">
            <a:avLst/>
          </a:prstGeom>
        </p:spPr>
      </p:pic>
      <p:sp>
        <p:nvSpPr>
          <p:cNvPr id="2" name="ZoneTexte 1">
            <a:extLst>
              <a:ext uri="{FF2B5EF4-FFF2-40B4-BE49-F238E27FC236}">
                <a16:creationId xmlns:a16="http://schemas.microsoft.com/office/drawing/2014/main" id="{3C62E5D5-52B7-671C-50FA-967140862FE1}"/>
              </a:ext>
            </a:extLst>
          </p:cNvPr>
          <p:cNvSpPr txBox="1"/>
          <p:nvPr/>
        </p:nvSpPr>
        <p:spPr>
          <a:xfrm>
            <a:off x="5359879" y="5048269"/>
            <a:ext cx="6516930" cy="954107"/>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Most profitable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top carriers</a:t>
            </a: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Low-cost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models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without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profit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cannot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generate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shareholders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returns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capital-</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heavy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sector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strong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margins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essential</a:t>
            </a:r>
          </a:p>
          <a:p>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pic>
        <p:nvPicPr>
          <p:cNvPr id="3" name="Image 2">
            <a:extLst>
              <a:ext uri="{FF2B5EF4-FFF2-40B4-BE49-F238E27FC236}">
                <a16:creationId xmlns:a16="http://schemas.microsoft.com/office/drawing/2014/main" id="{A8F9A7F4-8CDC-FA13-A750-182C8113B545}"/>
              </a:ext>
            </a:extLst>
          </p:cNvPr>
          <p:cNvPicPr>
            <a:picLocks noChangeAspect="1"/>
          </p:cNvPicPr>
          <p:nvPr/>
        </p:nvPicPr>
        <p:blipFill>
          <a:blip r:embed="rId8"/>
          <a:stretch>
            <a:fillRect/>
          </a:stretch>
        </p:blipFill>
        <p:spPr>
          <a:xfrm>
            <a:off x="5420055" y="1116995"/>
            <a:ext cx="5948995" cy="3787514"/>
          </a:xfrm>
          <a:prstGeom prst="rect">
            <a:avLst/>
          </a:prstGeom>
        </p:spPr>
      </p:pic>
    </p:spTree>
    <p:extLst>
      <p:ext uri="{BB962C8B-B14F-4D97-AF65-F5344CB8AC3E}">
        <p14:creationId xmlns:p14="http://schemas.microsoft.com/office/powerpoint/2010/main" val="3737457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A2EA347-0DF0-25C4-4D0E-B77B05F22A2A}"/>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DF01C2E4-43D5-F2CF-EA28-A3810E43C50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C943DB8A-2BEF-53F0-FC01-7C215643E629}"/>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6153AB43-B646-97A9-DA33-A184F380EC4C}"/>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FA3E99BE-F50B-AF13-1FFB-E10B14A85156}"/>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RETURN ON ASSET (ROA)</a:t>
            </a:r>
            <a:endParaRPr dirty="0"/>
          </a:p>
        </p:txBody>
      </p:sp>
      <p:sp>
        <p:nvSpPr>
          <p:cNvPr id="148" name="Google Shape;148;p17">
            <a:extLst>
              <a:ext uri="{FF2B5EF4-FFF2-40B4-BE49-F238E27FC236}">
                <a16:creationId xmlns:a16="http://schemas.microsoft.com/office/drawing/2014/main" id="{DD39B190-884F-2E43-4694-0CB51C606BE2}"/>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5E06CA17-A7B9-DFA9-9956-EB36586AFE22}"/>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6AB8F133-672E-85D0-BBF8-AD9E68F749D7}"/>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2A7F7E5D-93EC-53A7-8E99-A9AD8CD844D7}"/>
              </a:ext>
            </a:extLst>
          </p:cNvPr>
          <p:cNvPicPr>
            <a:picLocks noChangeAspect="1"/>
          </p:cNvPicPr>
          <p:nvPr/>
        </p:nvPicPr>
        <p:blipFill>
          <a:blip r:embed="rId6"/>
          <a:stretch>
            <a:fillRect/>
          </a:stretch>
        </p:blipFill>
        <p:spPr>
          <a:xfrm>
            <a:off x="712655" y="1066008"/>
            <a:ext cx="3514503" cy="2028880"/>
          </a:xfrm>
          <a:prstGeom prst="rect">
            <a:avLst/>
          </a:prstGeom>
        </p:spPr>
      </p:pic>
      <p:pic>
        <p:nvPicPr>
          <p:cNvPr id="10" name="Image 9">
            <a:extLst>
              <a:ext uri="{FF2B5EF4-FFF2-40B4-BE49-F238E27FC236}">
                <a16:creationId xmlns:a16="http://schemas.microsoft.com/office/drawing/2014/main" id="{10747CAF-09F4-5815-5359-A96C81FE7590}"/>
              </a:ext>
            </a:extLst>
          </p:cNvPr>
          <p:cNvPicPr>
            <a:picLocks noChangeAspect="1"/>
          </p:cNvPicPr>
          <p:nvPr/>
        </p:nvPicPr>
        <p:blipFill>
          <a:blip r:embed="rId7"/>
          <a:stretch>
            <a:fillRect/>
          </a:stretch>
        </p:blipFill>
        <p:spPr>
          <a:xfrm>
            <a:off x="735411" y="3650394"/>
            <a:ext cx="3515191" cy="2141597"/>
          </a:xfrm>
          <a:prstGeom prst="rect">
            <a:avLst/>
          </a:prstGeom>
        </p:spPr>
      </p:pic>
      <p:pic>
        <p:nvPicPr>
          <p:cNvPr id="4" name="Image 3">
            <a:extLst>
              <a:ext uri="{FF2B5EF4-FFF2-40B4-BE49-F238E27FC236}">
                <a16:creationId xmlns:a16="http://schemas.microsoft.com/office/drawing/2014/main" id="{F4997FA5-4823-C56D-E373-199323FA8E66}"/>
              </a:ext>
            </a:extLst>
          </p:cNvPr>
          <p:cNvPicPr>
            <a:picLocks noChangeAspect="1"/>
          </p:cNvPicPr>
          <p:nvPr/>
        </p:nvPicPr>
        <p:blipFill>
          <a:blip r:embed="rId8"/>
          <a:stretch>
            <a:fillRect/>
          </a:stretch>
        </p:blipFill>
        <p:spPr>
          <a:xfrm>
            <a:off x="5443501" y="1116995"/>
            <a:ext cx="5786610" cy="3683605"/>
          </a:xfrm>
          <a:prstGeom prst="rect">
            <a:avLst/>
          </a:prstGeom>
        </p:spPr>
      </p:pic>
      <p:sp>
        <p:nvSpPr>
          <p:cNvPr id="2" name="ZoneTexte 1">
            <a:extLst>
              <a:ext uri="{FF2B5EF4-FFF2-40B4-BE49-F238E27FC236}">
                <a16:creationId xmlns:a16="http://schemas.microsoft.com/office/drawing/2014/main" id="{08B3E99A-6251-C45B-9E0D-5A776007C7DD}"/>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GOOD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protfolio</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outpaces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BAD group by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reaching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up to 30% </a:t>
            </a: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Market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favors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greatly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profit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generating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Wingdings" panose="05000000000000000000" pitchFamily="2" charset="2"/>
              <a:buChar char="à"/>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Further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proof that low-cost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models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suffering</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701082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C365BB7-3B82-6FE0-D939-B2B28AD8787B}"/>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FDD7D7E1-916F-BAB0-443A-583530086C6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D637E580-380F-16C4-EECE-2B9933F43863}"/>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4F967DBC-1B3B-FA85-7321-59C439CD8EF8}"/>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FE5F3182-99AF-22A6-B3AB-ABA2814CFC39}"/>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RETURN ON EQUITY (ROE)</a:t>
            </a:r>
            <a:endParaRPr dirty="0"/>
          </a:p>
        </p:txBody>
      </p:sp>
      <p:sp>
        <p:nvSpPr>
          <p:cNvPr id="148" name="Google Shape;148;p17">
            <a:extLst>
              <a:ext uri="{FF2B5EF4-FFF2-40B4-BE49-F238E27FC236}">
                <a16:creationId xmlns:a16="http://schemas.microsoft.com/office/drawing/2014/main" id="{477FC173-2F24-F952-FD84-CA0586AAFE68}"/>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B31E09A3-EE91-DF10-4615-B1BB8EED1F9F}"/>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00AF055E-EC03-5A66-15DC-9F64BFD6B598}"/>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5" name="Image 4">
            <a:extLst>
              <a:ext uri="{FF2B5EF4-FFF2-40B4-BE49-F238E27FC236}">
                <a16:creationId xmlns:a16="http://schemas.microsoft.com/office/drawing/2014/main" id="{C694B158-3CCC-B030-265A-30E3BC7114D5}"/>
              </a:ext>
            </a:extLst>
          </p:cNvPr>
          <p:cNvPicPr>
            <a:picLocks noChangeAspect="1"/>
          </p:cNvPicPr>
          <p:nvPr/>
        </p:nvPicPr>
        <p:blipFill>
          <a:blip r:embed="rId6"/>
          <a:stretch>
            <a:fillRect/>
          </a:stretch>
        </p:blipFill>
        <p:spPr>
          <a:xfrm>
            <a:off x="712655" y="1073996"/>
            <a:ext cx="3514503" cy="2028880"/>
          </a:xfrm>
          <a:prstGeom prst="rect">
            <a:avLst/>
          </a:prstGeom>
        </p:spPr>
      </p:pic>
      <p:pic>
        <p:nvPicPr>
          <p:cNvPr id="7" name="Image 6">
            <a:extLst>
              <a:ext uri="{FF2B5EF4-FFF2-40B4-BE49-F238E27FC236}">
                <a16:creationId xmlns:a16="http://schemas.microsoft.com/office/drawing/2014/main" id="{21D9EA4B-2553-9883-69DD-85034C447083}"/>
              </a:ext>
            </a:extLst>
          </p:cNvPr>
          <p:cNvPicPr>
            <a:picLocks noChangeAspect="1"/>
          </p:cNvPicPr>
          <p:nvPr/>
        </p:nvPicPr>
        <p:blipFill>
          <a:blip r:embed="rId7"/>
          <a:stretch>
            <a:fillRect/>
          </a:stretch>
        </p:blipFill>
        <p:spPr>
          <a:xfrm>
            <a:off x="5450759" y="1067250"/>
            <a:ext cx="5364230" cy="3425255"/>
          </a:xfrm>
          <a:prstGeom prst="rect">
            <a:avLst/>
          </a:prstGeom>
        </p:spPr>
      </p:pic>
      <p:sp>
        <p:nvSpPr>
          <p:cNvPr id="2" name="ZoneTexte 1">
            <a:extLst>
              <a:ext uri="{FF2B5EF4-FFF2-40B4-BE49-F238E27FC236}">
                <a16:creationId xmlns:a16="http://schemas.microsoft.com/office/drawing/2014/main" id="{2E01E17D-2C80-C1ED-01DC-2D069DEACB6A}"/>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 ROE has an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even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greater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impact on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returns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than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high ROA</a:t>
            </a:r>
          </a:p>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Investors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especially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looking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this ratio</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favor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with</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high ROE,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mostly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big carriers</a:t>
            </a:r>
          </a:p>
        </p:txBody>
      </p:sp>
      <p:pic>
        <p:nvPicPr>
          <p:cNvPr id="3" name="Image 2">
            <a:extLst>
              <a:ext uri="{FF2B5EF4-FFF2-40B4-BE49-F238E27FC236}">
                <a16:creationId xmlns:a16="http://schemas.microsoft.com/office/drawing/2014/main" id="{CB168450-B3C7-3123-9E50-88987D191D37}"/>
              </a:ext>
            </a:extLst>
          </p:cNvPr>
          <p:cNvPicPr>
            <a:picLocks noChangeAspect="1"/>
          </p:cNvPicPr>
          <p:nvPr/>
        </p:nvPicPr>
        <p:blipFill>
          <a:blip r:embed="rId8"/>
          <a:stretch>
            <a:fillRect/>
          </a:stretch>
        </p:blipFill>
        <p:spPr>
          <a:xfrm>
            <a:off x="735261" y="3661775"/>
            <a:ext cx="3485629" cy="2258184"/>
          </a:xfrm>
          <a:prstGeom prst="rect">
            <a:avLst/>
          </a:prstGeom>
        </p:spPr>
      </p:pic>
    </p:spTree>
    <p:extLst>
      <p:ext uri="{BB962C8B-B14F-4D97-AF65-F5344CB8AC3E}">
        <p14:creationId xmlns:p14="http://schemas.microsoft.com/office/powerpoint/2010/main" val="1543124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A21B6C2-557A-599E-B6A5-27E2A60452CC}"/>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91BDAA4D-C3E6-816F-A1E2-E9CAFDA0F48D}"/>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DC044189-250F-5012-7B63-2433C98571D2}"/>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6408C7D3-8EDB-AC64-2125-50FF48050136}"/>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EAA7E4A5-7B93-18E2-F9C8-1897D08B8B8E}"/>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RETURN ON EQUITY (ROE)</a:t>
            </a:r>
            <a:endParaRPr dirty="0"/>
          </a:p>
        </p:txBody>
      </p:sp>
      <p:sp>
        <p:nvSpPr>
          <p:cNvPr id="148" name="Google Shape;148;p17">
            <a:extLst>
              <a:ext uri="{FF2B5EF4-FFF2-40B4-BE49-F238E27FC236}">
                <a16:creationId xmlns:a16="http://schemas.microsoft.com/office/drawing/2014/main" id="{19FAF07E-483F-02AB-4312-A5C1376C61BE}"/>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9A6F85E1-D23A-A7F7-963A-891C989D1F9E}"/>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C4A22819-6269-C4CC-1360-BBBCEC3DF950}"/>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E8DB6ADD-E99E-1598-8728-A98EEE0CA3E6}"/>
              </a:ext>
            </a:extLst>
          </p:cNvPr>
          <p:cNvPicPr>
            <a:picLocks noChangeAspect="1"/>
          </p:cNvPicPr>
          <p:nvPr/>
        </p:nvPicPr>
        <p:blipFill>
          <a:blip r:embed="rId6"/>
          <a:stretch>
            <a:fillRect/>
          </a:stretch>
        </p:blipFill>
        <p:spPr>
          <a:xfrm>
            <a:off x="712655" y="1073997"/>
            <a:ext cx="3508235" cy="2015733"/>
          </a:xfrm>
          <a:prstGeom prst="rect">
            <a:avLst/>
          </a:prstGeom>
        </p:spPr>
      </p:pic>
      <p:pic>
        <p:nvPicPr>
          <p:cNvPr id="10" name="Image 9">
            <a:extLst>
              <a:ext uri="{FF2B5EF4-FFF2-40B4-BE49-F238E27FC236}">
                <a16:creationId xmlns:a16="http://schemas.microsoft.com/office/drawing/2014/main" id="{509B45CF-5A06-6495-4517-FCE36CB83919}"/>
              </a:ext>
            </a:extLst>
          </p:cNvPr>
          <p:cNvPicPr>
            <a:picLocks noChangeAspect="1"/>
          </p:cNvPicPr>
          <p:nvPr/>
        </p:nvPicPr>
        <p:blipFill>
          <a:blip r:embed="rId7"/>
          <a:stretch>
            <a:fillRect/>
          </a:stretch>
        </p:blipFill>
        <p:spPr>
          <a:xfrm>
            <a:off x="735261" y="3678918"/>
            <a:ext cx="3485629" cy="2105085"/>
          </a:xfrm>
          <a:prstGeom prst="rect">
            <a:avLst/>
          </a:prstGeom>
        </p:spPr>
      </p:pic>
      <p:pic>
        <p:nvPicPr>
          <p:cNvPr id="14" name="Image 13">
            <a:extLst>
              <a:ext uri="{FF2B5EF4-FFF2-40B4-BE49-F238E27FC236}">
                <a16:creationId xmlns:a16="http://schemas.microsoft.com/office/drawing/2014/main" id="{1ED252A8-6916-5CE8-8D75-BBABFB139395}"/>
              </a:ext>
            </a:extLst>
          </p:cNvPr>
          <p:cNvPicPr>
            <a:picLocks noChangeAspect="1"/>
          </p:cNvPicPr>
          <p:nvPr/>
        </p:nvPicPr>
        <p:blipFill>
          <a:blip r:embed="rId8"/>
          <a:stretch>
            <a:fillRect/>
          </a:stretch>
        </p:blipFill>
        <p:spPr>
          <a:xfrm>
            <a:off x="5450758" y="1073996"/>
            <a:ext cx="5733549" cy="3653867"/>
          </a:xfrm>
          <a:prstGeom prst="rect">
            <a:avLst/>
          </a:prstGeom>
        </p:spPr>
      </p:pic>
      <p:sp>
        <p:nvSpPr>
          <p:cNvPr id="2" name="ZoneTexte 1">
            <a:extLst>
              <a:ext uri="{FF2B5EF4-FFF2-40B4-BE49-F238E27FC236}">
                <a16:creationId xmlns:a16="http://schemas.microsoft.com/office/drawing/2014/main" id="{553BFD8B-91CF-D17C-8425-FBA8FC885A86}"/>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Structural shift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from</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low-cost carriers at the top to big carriers</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EPS a reliable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predictor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strong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stock performance</a:t>
            </a:r>
          </a:p>
        </p:txBody>
      </p:sp>
    </p:spTree>
    <p:extLst>
      <p:ext uri="{BB962C8B-B14F-4D97-AF65-F5344CB8AC3E}">
        <p14:creationId xmlns:p14="http://schemas.microsoft.com/office/powerpoint/2010/main" val="1106434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2B1D8A2-BBC4-CF1A-AF86-5888A257DD38}"/>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67289EA9-7581-10FE-AB74-79A44D441C9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33028616-D1E6-DD1C-DAF3-53EB4F428686}"/>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2E8AA284-7E21-1605-FD24-E7373417684B}"/>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4E67C7E5-73D4-B50C-9201-02D456AAC337}"/>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EARNINGS PER SHARE</a:t>
            </a:r>
            <a:endParaRPr dirty="0"/>
          </a:p>
        </p:txBody>
      </p:sp>
      <p:sp>
        <p:nvSpPr>
          <p:cNvPr id="148" name="Google Shape;148;p17">
            <a:extLst>
              <a:ext uri="{FF2B5EF4-FFF2-40B4-BE49-F238E27FC236}">
                <a16:creationId xmlns:a16="http://schemas.microsoft.com/office/drawing/2014/main" id="{363D37E5-F265-5D14-EDE4-5DBAF1401165}"/>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55980CC4-03E5-540D-4512-A7D31D14B1BA}"/>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D6C4DB3F-EA7D-BB76-84ED-7A9D0E317B62}"/>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45C6174F-5B62-88E9-16D6-C90C0579C527}"/>
              </a:ext>
            </a:extLst>
          </p:cNvPr>
          <p:cNvPicPr>
            <a:picLocks noChangeAspect="1"/>
          </p:cNvPicPr>
          <p:nvPr/>
        </p:nvPicPr>
        <p:blipFill>
          <a:blip r:embed="rId6"/>
          <a:stretch>
            <a:fillRect/>
          </a:stretch>
        </p:blipFill>
        <p:spPr>
          <a:xfrm>
            <a:off x="712655" y="1073997"/>
            <a:ext cx="3508235" cy="2015733"/>
          </a:xfrm>
          <a:prstGeom prst="rect">
            <a:avLst/>
          </a:prstGeom>
        </p:spPr>
      </p:pic>
      <p:pic>
        <p:nvPicPr>
          <p:cNvPr id="10" name="Image 9">
            <a:extLst>
              <a:ext uri="{FF2B5EF4-FFF2-40B4-BE49-F238E27FC236}">
                <a16:creationId xmlns:a16="http://schemas.microsoft.com/office/drawing/2014/main" id="{D1F6046E-5A23-5854-DE1C-252BBA2A5F89}"/>
              </a:ext>
            </a:extLst>
          </p:cNvPr>
          <p:cNvPicPr>
            <a:picLocks noChangeAspect="1"/>
          </p:cNvPicPr>
          <p:nvPr/>
        </p:nvPicPr>
        <p:blipFill>
          <a:blip r:embed="rId7"/>
          <a:stretch>
            <a:fillRect/>
          </a:stretch>
        </p:blipFill>
        <p:spPr>
          <a:xfrm>
            <a:off x="735261" y="3678918"/>
            <a:ext cx="3485629" cy="2105085"/>
          </a:xfrm>
          <a:prstGeom prst="rect">
            <a:avLst/>
          </a:prstGeom>
        </p:spPr>
      </p:pic>
      <p:sp>
        <p:nvSpPr>
          <p:cNvPr id="2" name="ZoneTexte 1">
            <a:extLst>
              <a:ext uri="{FF2B5EF4-FFF2-40B4-BE49-F238E27FC236}">
                <a16:creationId xmlns:a16="http://schemas.microsoft.com/office/drawing/2014/main" id="{49DA1DBE-78C0-62E1-C72C-203B09517F3D}"/>
              </a:ext>
            </a:extLst>
          </p:cNvPr>
          <p:cNvSpPr txBox="1"/>
          <p:nvPr/>
        </p:nvSpPr>
        <p:spPr>
          <a:xfrm>
            <a:off x="5359879" y="5048269"/>
            <a:ext cx="6516930" cy="738664"/>
          </a:xfrm>
          <a:prstGeom prst="rect">
            <a:avLst/>
          </a:prstGeom>
          <a:noFill/>
        </p:spPr>
        <p:txBody>
          <a:bodyPr wrap="square" rtlCol="0">
            <a:spAutoFit/>
          </a:bodyPr>
          <a:lstStyle/>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 EPS Airlines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actually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beat the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market</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They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generate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true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market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alpha</a:t>
            </a: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They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outpace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broader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index by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almot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20%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returns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month</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22</a:t>
            </a:r>
          </a:p>
        </p:txBody>
      </p:sp>
      <p:pic>
        <p:nvPicPr>
          <p:cNvPr id="9" name="Image 8">
            <a:extLst>
              <a:ext uri="{FF2B5EF4-FFF2-40B4-BE49-F238E27FC236}">
                <a16:creationId xmlns:a16="http://schemas.microsoft.com/office/drawing/2014/main" id="{F4ED9C03-5127-9639-665F-5204F7E52C07}"/>
              </a:ext>
            </a:extLst>
          </p:cNvPr>
          <p:cNvPicPr>
            <a:picLocks noChangeAspect="1"/>
          </p:cNvPicPr>
          <p:nvPr/>
        </p:nvPicPr>
        <p:blipFill>
          <a:blip r:embed="rId8"/>
          <a:stretch>
            <a:fillRect/>
          </a:stretch>
        </p:blipFill>
        <p:spPr>
          <a:xfrm>
            <a:off x="5450759" y="1114473"/>
            <a:ext cx="5210314" cy="3826325"/>
          </a:xfrm>
          <a:prstGeom prst="rect">
            <a:avLst/>
          </a:prstGeom>
        </p:spPr>
      </p:pic>
    </p:spTree>
    <p:extLst>
      <p:ext uri="{BB962C8B-B14F-4D97-AF65-F5344CB8AC3E}">
        <p14:creationId xmlns:p14="http://schemas.microsoft.com/office/powerpoint/2010/main" val="1203561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111E36D-40E0-B6A9-EA22-78A7F12FFAC2}"/>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9DBB1281-F158-0EF4-728B-BEF34761AFE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03609B1F-684D-B58E-BBDE-5184ECDE8B57}"/>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F85C2FE3-5446-FB44-1E5D-73D0B2F5A5F9}"/>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71E6FB62-05CB-0F06-141C-50176609F319}"/>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PRICE-EARNINGS RATIO</a:t>
            </a:r>
            <a:endParaRPr dirty="0"/>
          </a:p>
        </p:txBody>
      </p:sp>
      <p:sp>
        <p:nvSpPr>
          <p:cNvPr id="148" name="Google Shape;148;p17">
            <a:extLst>
              <a:ext uri="{FF2B5EF4-FFF2-40B4-BE49-F238E27FC236}">
                <a16:creationId xmlns:a16="http://schemas.microsoft.com/office/drawing/2014/main" id="{2460663D-915C-02E1-24BE-F1C8545004C6}"/>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85B0706A-BFBA-0F2D-A9BB-04A86AB79B46}"/>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33CA9214-8F71-43C7-D45B-281A690C0389}"/>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8054D4F4-F600-932A-F14B-500E87703E67}"/>
              </a:ext>
            </a:extLst>
          </p:cNvPr>
          <p:cNvPicPr>
            <a:picLocks noChangeAspect="1"/>
          </p:cNvPicPr>
          <p:nvPr/>
        </p:nvPicPr>
        <p:blipFill>
          <a:blip r:embed="rId6"/>
          <a:stretch>
            <a:fillRect/>
          </a:stretch>
        </p:blipFill>
        <p:spPr>
          <a:xfrm>
            <a:off x="712655" y="1067250"/>
            <a:ext cx="3508235" cy="2005336"/>
          </a:xfrm>
          <a:prstGeom prst="rect">
            <a:avLst/>
          </a:prstGeom>
        </p:spPr>
      </p:pic>
      <p:pic>
        <p:nvPicPr>
          <p:cNvPr id="11" name="Image 10">
            <a:extLst>
              <a:ext uri="{FF2B5EF4-FFF2-40B4-BE49-F238E27FC236}">
                <a16:creationId xmlns:a16="http://schemas.microsoft.com/office/drawing/2014/main" id="{B9C4FFDB-7A88-4D84-CAEA-828395F81DB8}"/>
              </a:ext>
            </a:extLst>
          </p:cNvPr>
          <p:cNvPicPr>
            <a:picLocks noChangeAspect="1"/>
          </p:cNvPicPr>
          <p:nvPr/>
        </p:nvPicPr>
        <p:blipFill>
          <a:blip r:embed="rId7"/>
          <a:stretch>
            <a:fillRect/>
          </a:stretch>
        </p:blipFill>
        <p:spPr>
          <a:xfrm>
            <a:off x="735261" y="3678919"/>
            <a:ext cx="3485629" cy="2105084"/>
          </a:xfrm>
          <a:prstGeom prst="rect">
            <a:avLst/>
          </a:prstGeom>
        </p:spPr>
      </p:pic>
      <p:pic>
        <p:nvPicPr>
          <p:cNvPr id="4" name="Image 3">
            <a:extLst>
              <a:ext uri="{FF2B5EF4-FFF2-40B4-BE49-F238E27FC236}">
                <a16:creationId xmlns:a16="http://schemas.microsoft.com/office/drawing/2014/main" id="{DCE044AD-ED6A-0BDF-08AD-165816434E1F}"/>
              </a:ext>
            </a:extLst>
          </p:cNvPr>
          <p:cNvPicPr>
            <a:picLocks noChangeAspect="1"/>
          </p:cNvPicPr>
          <p:nvPr/>
        </p:nvPicPr>
        <p:blipFill>
          <a:blip r:embed="rId8"/>
          <a:stretch>
            <a:fillRect/>
          </a:stretch>
        </p:blipFill>
        <p:spPr>
          <a:xfrm>
            <a:off x="5450759" y="1067251"/>
            <a:ext cx="5532432" cy="3762528"/>
          </a:xfrm>
          <a:prstGeom prst="rect">
            <a:avLst/>
          </a:prstGeom>
        </p:spPr>
      </p:pic>
      <p:sp>
        <p:nvSpPr>
          <p:cNvPr id="2" name="ZoneTexte 1">
            <a:extLst>
              <a:ext uri="{FF2B5EF4-FFF2-40B4-BE49-F238E27FC236}">
                <a16:creationId xmlns:a16="http://schemas.microsoft.com/office/drawing/2014/main" id="{77646508-B48A-8DAF-9B27-08C63F7858B6}"/>
              </a:ext>
            </a:extLst>
          </p:cNvPr>
          <p:cNvSpPr txBox="1"/>
          <p:nvPr/>
        </p:nvSpPr>
        <p:spPr>
          <a:xfrm>
            <a:off x="5359879" y="5048269"/>
            <a:ext cx="6516930" cy="954107"/>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 P/E ratios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low-cost carriers</a:t>
            </a: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 P/E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track</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Industry Index</a:t>
            </a: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 P/E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does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not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garangee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better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returns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than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Industry Index</a:t>
            </a:r>
          </a:p>
          <a:p>
            <a:pPr marL="285750" indent="-285750">
              <a:buFont typeface="Wingdings" panose="05000000000000000000" pitchFamily="2" charset="2"/>
              <a:buChar char="à"/>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 P/E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garantee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lower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returns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3970816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93591DE-778F-86FB-2FE6-D7DB98F3D90E}"/>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A73F77AD-956B-A30D-403F-3C31D8CF870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5E17D454-8459-E079-344B-1887E0D7B978}"/>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57521221-72CB-A517-098C-37C76BC1FCC5}"/>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E9E5E3EF-19A2-DC55-ED2D-00D2A8097D8E}"/>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DIVIDEND PAYOUT RATIO</a:t>
            </a:r>
            <a:endParaRPr dirty="0"/>
          </a:p>
        </p:txBody>
      </p:sp>
      <p:sp>
        <p:nvSpPr>
          <p:cNvPr id="148" name="Google Shape;148;p17">
            <a:extLst>
              <a:ext uri="{FF2B5EF4-FFF2-40B4-BE49-F238E27FC236}">
                <a16:creationId xmlns:a16="http://schemas.microsoft.com/office/drawing/2014/main" id="{C4DF218D-5066-8511-F7E6-DC56098E07D8}"/>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CFFD799D-FC70-0CBC-CBFE-26FA7F5672E9}"/>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sp>
        <p:nvSpPr>
          <p:cNvPr id="5" name="Google Shape;147;p17">
            <a:extLst>
              <a:ext uri="{FF2B5EF4-FFF2-40B4-BE49-F238E27FC236}">
                <a16:creationId xmlns:a16="http://schemas.microsoft.com/office/drawing/2014/main" id="{06675336-96AD-F088-3B03-2E5B6722D403}"/>
              </a:ext>
            </a:extLst>
          </p:cNvPr>
          <p:cNvSpPr txBox="1"/>
          <p:nvPr/>
        </p:nvSpPr>
        <p:spPr>
          <a:xfrm>
            <a:off x="6681353" y="476250"/>
            <a:ext cx="6966757"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DIVIDEND YIELD RATIO</a:t>
            </a:r>
            <a:endParaRPr dirty="0"/>
          </a:p>
        </p:txBody>
      </p:sp>
      <p:pic>
        <p:nvPicPr>
          <p:cNvPr id="10" name="Image 9">
            <a:extLst>
              <a:ext uri="{FF2B5EF4-FFF2-40B4-BE49-F238E27FC236}">
                <a16:creationId xmlns:a16="http://schemas.microsoft.com/office/drawing/2014/main" id="{4FA882F5-9DA1-4D79-83C7-4FD3C785A9B7}"/>
              </a:ext>
            </a:extLst>
          </p:cNvPr>
          <p:cNvPicPr>
            <a:picLocks noChangeAspect="1"/>
          </p:cNvPicPr>
          <p:nvPr/>
        </p:nvPicPr>
        <p:blipFill>
          <a:blip r:embed="rId5"/>
          <a:stretch>
            <a:fillRect/>
          </a:stretch>
        </p:blipFill>
        <p:spPr>
          <a:xfrm>
            <a:off x="6968404" y="1140759"/>
            <a:ext cx="3372950" cy="2200412"/>
          </a:xfrm>
          <a:prstGeom prst="rect">
            <a:avLst/>
          </a:prstGeom>
        </p:spPr>
      </p:pic>
      <p:pic>
        <p:nvPicPr>
          <p:cNvPr id="13" name="Image 12">
            <a:extLst>
              <a:ext uri="{FF2B5EF4-FFF2-40B4-BE49-F238E27FC236}">
                <a16:creationId xmlns:a16="http://schemas.microsoft.com/office/drawing/2014/main" id="{7150E611-6D2C-5C62-D122-BD738CF3CD8D}"/>
              </a:ext>
            </a:extLst>
          </p:cNvPr>
          <p:cNvPicPr>
            <a:picLocks noChangeAspect="1"/>
          </p:cNvPicPr>
          <p:nvPr/>
        </p:nvPicPr>
        <p:blipFill>
          <a:blip r:embed="rId6"/>
          <a:stretch>
            <a:fillRect/>
          </a:stretch>
        </p:blipFill>
        <p:spPr>
          <a:xfrm>
            <a:off x="6968404" y="3629026"/>
            <a:ext cx="3485627" cy="2273920"/>
          </a:xfrm>
          <a:prstGeom prst="rect">
            <a:avLst/>
          </a:prstGeom>
        </p:spPr>
      </p:pic>
      <p:pic>
        <p:nvPicPr>
          <p:cNvPr id="16" name="Image 15">
            <a:extLst>
              <a:ext uri="{FF2B5EF4-FFF2-40B4-BE49-F238E27FC236}">
                <a16:creationId xmlns:a16="http://schemas.microsoft.com/office/drawing/2014/main" id="{26F1E9B6-F41A-9294-F832-BDD905752F96}"/>
              </a:ext>
            </a:extLst>
          </p:cNvPr>
          <p:cNvPicPr>
            <a:picLocks noChangeAspect="1"/>
          </p:cNvPicPr>
          <p:nvPr/>
        </p:nvPicPr>
        <p:blipFill>
          <a:blip r:embed="rId7"/>
          <a:stretch>
            <a:fillRect/>
          </a:stretch>
        </p:blipFill>
        <p:spPr>
          <a:xfrm>
            <a:off x="712655" y="1067251"/>
            <a:ext cx="3485629" cy="2273920"/>
          </a:xfrm>
          <a:prstGeom prst="rect">
            <a:avLst/>
          </a:prstGeom>
        </p:spPr>
      </p:pic>
      <p:pic>
        <p:nvPicPr>
          <p:cNvPr id="21" name="Image 20">
            <a:extLst>
              <a:ext uri="{FF2B5EF4-FFF2-40B4-BE49-F238E27FC236}">
                <a16:creationId xmlns:a16="http://schemas.microsoft.com/office/drawing/2014/main" id="{F7D5AE56-FDD8-3F41-C44D-085EBD61F1BE}"/>
              </a:ext>
            </a:extLst>
          </p:cNvPr>
          <p:cNvPicPr>
            <a:picLocks noChangeAspect="1"/>
          </p:cNvPicPr>
          <p:nvPr/>
        </p:nvPicPr>
        <p:blipFill>
          <a:blip r:embed="rId8"/>
          <a:stretch>
            <a:fillRect/>
          </a:stretch>
        </p:blipFill>
        <p:spPr>
          <a:xfrm>
            <a:off x="712656" y="3629026"/>
            <a:ext cx="3485628" cy="2273920"/>
          </a:xfrm>
          <a:prstGeom prst="rect">
            <a:avLst/>
          </a:prstGeom>
        </p:spPr>
      </p:pic>
    </p:spTree>
    <p:extLst>
      <p:ext uri="{BB962C8B-B14F-4D97-AF65-F5344CB8AC3E}">
        <p14:creationId xmlns:p14="http://schemas.microsoft.com/office/powerpoint/2010/main" val="698502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7CCBE008-BABB-D165-C7D8-5B4468DDDE27}"/>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3BE3855D-2484-1608-C649-D0207228F2D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130070FC-C506-1A5E-5456-887E298457A5}"/>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E6BAD21D-652C-52A9-20D0-976EE10DF5BF}"/>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265B26AF-F856-7013-02CB-B41F322D2147}"/>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DIVIDEND YIELD RATIO</a:t>
            </a:r>
            <a:endParaRPr dirty="0"/>
          </a:p>
        </p:txBody>
      </p:sp>
      <p:sp>
        <p:nvSpPr>
          <p:cNvPr id="148" name="Google Shape;148;p17">
            <a:extLst>
              <a:ext uri="{FF2B5EF4-FFF2-40B4-BE49-F238E27FC236}">
                <a16:creationId xmlns:a16="http://schemas.microsoft.com/office/drawing/2014/main" id="{DA4A6B9F-9BDE-4B66-FAA1-CF301EAE4D92}"/>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0F2032AB-A604-AD2B-AA01-DCA7A96E5D51}"/>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FAFE33BE-A13E-C59B-7923-9854EC6AFD99}"/>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85493AA6-C89C-3F38-7227-E2138D266681}"/>
              </a:ext>
            </a:extLst>
          </p:cNvPr>
          <p:cNvPicPr>
            <a:picLocks noChangeAspect="1"/>
          </p:cNvPicPr>
          <p:nvPr/>
        </p:nvPicPr>
        <p:blipFill>
          <a:blip r:embed="rId6"/>
          <a:stretch>
            <a:fillRect/>
          </a:stretch>
        </p:blipFill>
        <p:spPr>
          <a:xfrm>
            <a:off x="712655" y="1067250"/>
            <a:ext cx="3508235" cy="2005336"/>
          </a:xfrm>
          <a:prstGeom prst="rect">
            <a:avLst/>
          </a:prstGeom>
        </p:spPr>
      </p:pic>
      <p:pic>
        <p:nvPicPr>
          <p:cNvPr id="11" name="Image 10">
            <a:extLst>
              <a:ext uri="{FF2B5EF4-FFF2-40B4-BE49-F238E27FC236}">
                <a16:creationId xmlns:a16="http://schemas.microsoft.com/office/drawing/2014/main" id="{082828CA-FF06-5E6A-8459-316523AD4021}"/>
              </a:ext>
            </a:extLst>
          </p:cNvPr>
          <p:cNvPicPr>
            <a:picLocks noChangeAspect="1"/>
          </p:cNvPicPr>
          <p:nvPr/>
        </p:nvPicPr>
        <p:blipFill>
          <a:blip r:embed="rId7"/>
          <a:stretch>
            <a:fillRect/>
          </a:stretch>
        </p:blipFill>
        <p:spPr>
          <a:xfrm>
            <a:off x="735261" y="3678919"/>
            <a:ext cx="3485629" cy="2105084"/>
          </a:xfrm>
          <a:prstGeom prst="rect">
            <a:avLst/>
          </a:prstGeom>
        </p:spPr>
      </p:pic>
    </p:spTree>
    <p:extLst>
      <p:ext uri="{BB962C8B-B14F-4D97-AF65-F5344CB8AC3E}">
        <p14:creationId xmlns:p14="http://schemas.microsoft.com/office/powerpoint/2010/main" val="1821362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3E082E5-7844-24D1-5CED-E47FA22D7020}"/>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E9FA45C1-DFD6-1A18-BA22-1156BF3093C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43B16676-CE8B-3551-1464-CFB9305F838E}"/>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5611D2BB-E21F-2ECC-EC1F-6E08EAB2D819}"/>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563F467C-1B1F-2C06-1D88-38F3D8DD4C1C}"/>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BOOK VALUE PER SHARE</a:t>
            </a:r>
            <a:endParaRPr dirty="0"/>
          </a:p>
        </p:txBody>
      </p:sp>
      <p:sp>
        <p:nvSpPr>
          <p:cNvPr id="148" name="Google Shape;148;p17">
            <a:extLst>
              <a:ext uri="{FF2B5EF4-FFF2-40B4-BE49-F238E27FC236}">
                <a16:creationId xmlns:a16="http://schemas.microsoft.com/office/drawing/2014/main" id="{324400A9-D990-8403-5738-A3BDF6B5144A}"/>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AF35D9CF-860E-7B11-C5B7-666FC414B9BC}"/>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6212010F-AAD4-9732-DB76-78933F170848}"/>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5" name="Image 4">
            <a:extLst>
              <a:ext uri="{FF2B5EF4-FFF2-40B4-BE49-F238E27FC236}">
                <a16:creationId xmlns:a16="http://schemas.microsoft.com/office/drawing/2014/main" id="{03A222C8-9ECC-16C8-2F7A-163F34AFEEBB}"/>
              </a:ext>
            </a:extLst>
          </p:cNvPr>
          <p:cNvPicPr>
            <a:picLocks noChangeAspect="1"/>
          </p:cNvPicPr>
          <p:nvPr/>
        </p:nvPicPr>
        <p:blipFill>
          <a:blip r:embed="rId6"/>
          <a:stretch>
            <a:fillRect/>
          </a:stretch>
        </p:blipFill>
        <p:spPr>
          <a:xfrm>
            <a:off x="712655" y="1051275"/>
            <a:ext cx="3508235" cy="2005336"/>
          </a:xfrm>
          <a:prstGeom prst="rect">
            <a:avLst/>
          </a:prstGeom>
        </p:spPr>
      </p:pic>
      <p:pic>
        <p:nvPicPr>
          <p:cNvPr id="10" name="Image 9">
            <a:extLst>
              <a:ext uri="{FF2B5EF4-FFF2-40B4-BE49-F238E27FC236}">
                <a16:creationId xmlns:a16="http://schemas.microsoft.com/office/drawing/2014/main" id="{C8F7565B-C061-F621-CEEF-F718F327FEFA}"/>
              </a:ext>
            </a:extLst>
          </p:cNvPr>
          <p:cNvPicPr>
            <a:picLocks noChangeAspect="1"/>
          </p:cNvPicPr>
          <p:nvPr/>
        </p:nvPicPr>
        <p:blipFill>
          <a:blip r:embed="rId7"/>
          <a:stretch>
            <a:fillRect/>
          </a:stretch>
        </p:blipFill>
        <p:spPr>
          <a:xfrm>
            <a:off x="712655" y="3678919"/>
            <a:ext cx="3486715" cy="2105084"/>
          </a:xfrm>
          <a:prstGeom prst="rect">
            <a:avLst/>
          </a:prstGeom>
        </p:spPr>
      </p:pic>
      <p:pic>
        <p:nvPicPr>
          <p:cNvPr id="8" name="Image 7">
            <a:extLst>
              <a:ext uri="{FF2B5EF4-FFF2-40B4-BE49-F238E27FC236}">
                <a16:creationId xmlns:a16="http://schemas.microsoft.com/office/drawing/2014/main" id="{8C74D8ED-BD7B-FE1B-E50C-88D0B7559B26}"/>
              </a:ext>
            </a:extLst>
          </p:cNvPr>
          <p:cNvPicPr>
            <a:picLocks noChangeAspect="1"/>
          </p:cNvPicPr>
          <p:nvPr/>
        </p:nvPicPr>
        <p:blipFill>
          <a:blip r:embed="rId8"/>
          <a:stretch>
            <a:fillRect/>
          </a:stretch>
        </p:blipFill>
        <p:spPr>
          <a:xfrm>
            <a:off x="5450759" y="1067250"/>
            <a:ext cx="5034559" cy="3434077"/>
          </a:xfrm>
          <a:prstGeom prst="rect">
            <a:avLst/>
          </a:prstGeom>
        </p:spPr>
      </p:pic>
      <p:sp>
        <p:nvSpPr>
          <p:cNvPr id="2" name="ZoneTexte 1">
            <a:extLst>
              <a:ext uri="{FF2B5EF4-FFF2-40B4-BE49-F238E27FC236}">
                <a16:creationId xmlns:a16="http://schemas.microsoft.com/office/drawing/2014/main" id="{A3826FCC-45A0-D9A5-6BDF-F8D5F46DF2D3}"/>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 BPS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does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not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easily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translate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into</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market-beating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return</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Caution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from</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investors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because high BPS 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irrelevant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aviation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unless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planes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actively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genereate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earnings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1401299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829F975-FA88-C9A8-F344-6423A212A669}"/>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165FBCB5-9F6B-E8CF-2BD2-CF6D757D583F}"/>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06A32B3B-9077-5EB2-47FF-2E4F9540887C}"/>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6073336A-79DC-5C66-B49A-482FFD114DE3}"/>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5A5CBE18-79A6-C392-1847-D28E052E2B29}"/>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CASM-ex</a:t>
            </a:r>
            <a:endParaRPr dirty="0"/>
          </a:p>
        </p:txBody>
      </p:sp>
      <p:sp>
        <p:nvSpPr>
          <p:cNvPr id="148" name="Google Shape;148;p17">
            <a:extLst>
              <a:ext uri="{FF2B5EF4-FFF2-40B4-BE49-F238E27FC236}">
                <a16:creationId xmlns:a16="http://schemas.microsoft.com/office/drawing/2014/main" id="{3914F307-AEDC-D042-B46B-0CDC8D9533FE}"/>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171AC485-ABC0-4B71-19A9-16AAAB517608}"/>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CAF7EDEB-FDC6-013D-06B9-09A8CDE02A0E}"/>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72975075-7167-C826-4B5F-2AE29F63DAFF}"/>
              </a:ext>
            </a:extLst>
          </p:cNvPr>
          <p:cNvPicPr>
            <a:picLocks noChangeAspect="1"/>
          </p:cNvPicPr>
          <p:nvPr/>
        </p:nvPicPr>
        <p:blipFill>
          <a:blip r:embed="rId6"/>
          <a:stretch>
            <a:fillRect/>
          </a:stretch>
        </p:blipFill>
        <p:spPr>
          <a:xfrm>
            <a:off x="712655" y="1051277"/>
            <a:ext cx="3508235" cy="2005334"/>
          </a:xfrm>
          <a:prstGeom prst="rect">
            <a:avLst/>
          </a:prstGeom>
        </p:spPr>
      </p:pic>
      <p:pic>
        <p:nvPicPr>
          <p:cNvPr id="11" name="Image 10">
            <a:extLst>
              <a:ext uri="{FF2B5EF4-FFF2-40B4-BE49-F238E27FC236}">
                <a16:creationId xmlns:a16="http://schemas.microsoft.com/office/drawing/2014/main" id="{469EE631-AEED-DFA8-E389-F502BB490E25}"/>
              </a:ext>
            </a:extLst>
          </p:cNvPr>
          <p:cNvPicPr>
            <a:picLocks noChangeAspect="1"/>
          </p:cNvPicPr>
          <p:nvPr/>
        </p:nvPicPr>
        <p:blipFill>
          <a:blip r:embed="rId7"/>
          <a:stretch>
            <a:fillRect/>
          </a:stretch>
        </p:blipFill>
        <p:spPr>
          <a:xfrm>
            <a:off x="712655" y="3694894"/>
            <a:ext cx="3462229" cy="2111829"/>
          </a:xfrm>
          <a:prstGeom prst="rect">
            <a:avLst/>
          </a:prstGeom>
        </p:spPr>
      </p:pic>
      <p:pic>
        <p:nvPicPr>
          <p:cNvPr id="14" name="Image 13">
            <a:extLst>
              <a:ext uri="{FF2B5EF4-FFF2-40B4-BE49-F238E27FC236}">
                <a16:creationId xmlns:a16="http://schemas.microsoft.com/office/drawing/2014/main" id="{DB94CA5F-368C-9EFB-3F11-B3175FD93331}"/>
              </a:ext>
            </a:extLst>
          </p:cNvPr>
          <p:cNvPicPr>
            <a:picLocks noChangeAspect="1"/>
          </p:cNvPicPr>
          <p:nvPr/>
        </p:nvPicPr>
        <p:blipFill>
          <a:blip r:embed="rId8"/>
          <a:stretch>
            <a:fillRect/>
          </a:stretch>
        </p:blipFill>
        <p:spPr>
          <a:xfrm>
            <a:off x="5450759" y="1051277"/>
            <a:ext cx="5283050" cy="3748649"/>
          </a:xfrm>
          <a:prstGeom prst="rect">
            <a:avLst/>
          </a:prstGeom>
        </p:spPr>
      </p:pic>
      <p:sp>
        <p:nvSpPr>
          <p:cNvPr id="3" name="ZoneTexte 2">
            <a:extLst>
              <a:ext uri="{FF2B5EF4-FFF2-40B4-BE49-F238E27FC236}">
                <a16:creationId xmlns:a16="http://schemas.microsoft.com/office/drawing/2014/main" id="{0CA1A6DE-FE5A-65A3-BE03-D5DF5EB54077}"/>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Reflect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the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difference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between</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business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models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Less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cost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-efficient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are not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legacy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carriers </a:t>
            </a: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Investors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don’t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reward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cost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-efficient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920451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E9C96CC-E308-F134-C4A2-08313A31D317}"/>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BD5E9FF2-A1B3-1663-6A6C-8D65F3C56E0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E5AE2F60-6A8C-02BE-55E5-D89D7F0B884A}"/>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E5718AA9-2327-128B-D8E4-5D56A8A5A0AF}"/>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95F59A28-DC62-D71B-7C93-28E0F9D1C190}"/>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RASM (Revenue per available seat mile)</a:t>
            </a:r>
            <a:endParaRPr dirty="0"/>
          </a:p>
        </p:txBody>
      </p:sp>
      <p:sp>
        <p:nvSpPr>
          <p:cNvPr id="148" name="Google Shape;148;p17">
            <a:extLst>
              <a:ext uri="{FF2B5EF4-FFF2-40B4-BE49-F238E27FC236}">
                <a16:creationId xmlns:a16="http://schemas.microsoft.com/office/drawing/2014/main" id="{F3BC169E-4846-5441-25F7-8197440DD076}"/>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87ECD059-DB05-14FE-D297-28D980F7A3B7}"/>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E64975DD-FE5E-D3E7-C2B3-0071742089FA}"/>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7" name="Image 6">
            <a:extLst>
              <a:ext uri="{FF2B5EF4-FFF2-40B4-BE49-F238E27FC236}">
                <a16:creationId xmlns:a16="http://schemas.microsoft.com/office/drawing/2014/main" id="{A3800D1E-FBBE-97AB-AE37-C23D3CAB4091}"/>
              </a:ext>
            </a:extLst>
          </p:cNvPr>
          <p:cNvPicPr>
            <a:picLocks noChangeAspect="1"/>
          </p:cNvPicPr>
          <p:nvPr/>
        </p:nvPicPr>
        <p:blipFill>
          <a:blip r:embed="rId6"/>
          <a:stretch>
            <a:fillRect/>
          </a:stretch>
        </p:blipFill>
        <p:spPr>
          <a:xfrm>
            <a:off x="713971" y="1051278"/>
            <a:ext cx="3506920" cy="2005332"/>
          </a:xfrm>
          <a:prstGeom prst="rect">
            <a:avLst/>
          </a:prstGeom>
        </p:spPr>
      </p:pic>
      <p:pic>
        <p:nvPicPr>
          <p:cNvPr id="10" name="Image 9">
            <a:extLst>
              <a:ext uri="{FF2B5EF4-FFF2-40B4-BE49-F238E27FC236}">
                <a16:creationId xmlns:a16="http://schemas.microsoft.com/office/drawing/2014/main" id="{59DE6876-3504-DF7E-C98D-DDBCAC92B5F6}"/>
              </a:ext>
            </a:extLst>
          </p:cNvPr>
          <p:cNvPicPr>
            <a:picLocks noChangeAspect="1"/>
          </p:cNvPicPr>
          <p:nvPr/>
        </p:nvPicPr>
        <p:blipFill>
          <a:blip r:embed="rId7"/>
          <a:stretch>
            <a:fillRect/>
          </a:stretch>
        </p:blipFill>
        <p:spPr>
          <a:xfrm>
            <a:off x="712656" y="3694896"/>
            <a:ext cx="3462228" cy="2111826"/>
          </a:xfrm>
          <a:prstGeom prst="rect">
            <a:avLst/>
          </a:prstGeom>
        </p:spPr>
      </p:pic>
      <p:pic>
        <p:nvPicPr>
          <p:cNvPr id="17" name="Image 16">
            <a:extLst>
              <a:ext uri="{FF2B5EF4-FFF2-40B4-BE49-F238E27FC236}">
                <a16:creationId xmlns:a16="http://schemas.microsoft.com/office/drawing/2014/main" id="{1E7C22CB-D2B6-05BF-4826-896DC29FC8B7}"/>
              </a:ext>
            </a:extLst>
          </p:cNvPr>
          <p:cNvPicPr>
            <a:picLocks noChangeAspect="1"/>
          </p:cNvPicPr>
          <p:nvPr/>
        </p:nvPicPr>
        <p:blipFill>
          <a:blip r:embed="rId8"/>
          <a:stretch>
            <a:fillRect/>
          </a:stretch>
        </p:blipFill>
        <p:spPr>
          <a:xfrm>
            <a:off x="5450758" y="1067251"/>
            <a:ext cx="5706123" cy="3641750"/>
          </a:xfrm>
          <a:prstGeom prst="rect">
            <a:avLst/>
          </a:prstGeom>
        </p:spPr>
      </p:pic>
      <p:sp>
        <p:nvSpPr>
          <p:cNvPr id="2" name="ZoneTexte 1">
            <a:extLst>
              <a:ext uri="{FF2B5EF4-FFF2-40B4-BE49-F238E27FC236}">
                <a16:creationId xmlns:a16="http://schemas.microsoft.com/office/drawing/2014/main" id="{4AB278C9-619C-09E7-B22A-2F2F1E572417}"/>
              </a:ext>
            </a:extLst>
          </p:cNvPr>
          <p:cNvSpPr txBox="1"/>
          <p:nvPr/>
        </p:nvSpPr>
        <p:spPr>
          <a:xfrm>
            <a:off x="5359879" y="5048269"/>
            <a:ext cx="6516930" cy="738664"/>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 RASM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outperforms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Primary</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metric</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driving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better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market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returns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in this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industry</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en-US"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ASM is a highly reliable indicator of stock market success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2282111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F95835A-D89E-831B-FCF0-1EFE6CEFB977}"/>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96EC7A2D-2A34-6651-E492-25F5AA20996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5262357B-4895-0DB9-FF8D-C1DC11A73E98}"/>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F12546E6-EC39-0EC3-9257-FF32D84C143F}"/>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4678D2E0-80AE-978C-2AA7-17927243B3C6}"/>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LOAD FACTOR</a:t>
            </a:r>
            <a:endParaRPr dirty="0"/>
          </a:p>
        </p:txBody>
      </p:sp>
      <p:sp>
        <p:nvSpPr>
          <p:cNvPr id="148" name="Google Shape;148;p17">
            <a:extLst>
              <a:ext uri="{FF2B5EF4-FFF2-40B4-BE49-F238E27FC236}">
                <a16:creationId xmlns:a16="http://schemas.microsoft.com/office/drawing/2014/main" id="{19985BC9-128F-5B8C-4DFA-EE85DFE3CEED}"/>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3B5F2C57-5226-230D-0BD3-37DE3863332E}"/>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3FEE3671-F809-F4E2-4AF9-D7B6908FA6BE}"/>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4" name="Image 3">
            <a:extLst>
              <a:ext uri="{FF2B5EF4-FFF2-40B4-BE49-F238E27FC236}">
                <a16:creationId xmlns:a16="http://schemas.microsoft.com/office/drawing/2014/main" id="{4BB4BDA8-B9C8-0E78-50DA-125018C84904}"/>
              </a:ext>
            </a:extLst>
          </p:cNvPr>
          <p:cNvPicPr>
            <a:picLocks noChangeAspect="1"/>
          </p:cNvPicPr>
          <p:nvPr/>
        </p:nvPicPr>
        <p:blipFill>
          <a:blip r:embed="rId6"/>
          <a:stretch>
            <a:fillRect/>
          </a:stretch>
        </p:blipFill>
        <p:spPr>
          <a:xfrm>
            <a:off x="712657" y="1067250"/>
            <a:ext cx="3478260" cy="1989357"/>
          </a:xfrm>
          <a:prstGeom prst="rect">
            <a:avLst/>
          </a:prstGeom>
        </p:spPr>
      </p:pic>
      <p:pic>
        <p:nvPicPr>
          <p:cNvPr id="9" name="Image 8">
            <a:extLst>
              <a:ext uri="{FF2B5EF4-FFF2-40B4-BE49-F238E27FC236}">
                <a16:creationId xmlns:a16="http://schemas.microsoft.com/office/drawing/2014/main" id="{228301D6-ACE6-6374-DE3E-9DB0E273C057}"/>
              </a:ext>
            </a:extLst>
          </p:cNvPr>
          <p:cNvPicPr>
            <a:picLocks noChangeAspect="1"/>
          </p:cNvPicPr>
          <p:nvPr/>
        </p:nvPicPr>
        <p:blipFill>
          <a:blip r:embed="rId7"/>
          <a:stretch>
            <a:fillRect/>
          </a:stretch>
        </p:blipFill>
        <p:spPr>
          <a:xfrm>
            <a:off x="712656" y="3694896"/>
            <a:ext cx="3489943" cy="2095854"/>
          </a:xfrm>
          <a:prstGeom prst="rect">
            <a:avLst/>
          </a:prstGeom>
        </p:spPr>
      </p:pic>
      <p:pic>
        <p:nvPicPr>
          <p:cNvPr id="13" name="Image 12">
            <a:extLst>
              <a:ext uri="{FF2B5EF4-FFF2-40B4-BE49-F238E27FC236}">
                <a16:creationId xmlns:a16="http://schemas.microsoft.com/office/drawing/2014/main" id="{1BB21146-492B-0136-8A8A-34350B28F901}"/>
              </a:ext>
            </a:extLst>
          </p:cNvPr>
          <p:cNvPicPr>
            <a:picLocks noChangeAspect="1"/>
          </p:cNvPicPr>
          <p:nvPr/>
        </p:nvPicPr>
        <p:blipFill>
          <a:blip r:embed="rId8"/>
          <a:stretch>
            <a:fillRect/>
          </a:stretch>
        </p:blipFill>
        <p:spPr>
          <a:xfrm>
            <a:off x="5462440" y="1067250"/>
            <a:ext cx="5674794" cy="3878824"/>
          </a:xfrm>
          <a:prstGeom prst="rect">
            <a:avLst/>
          </a:prstGeom>
        </p:spPr>
      </p:pic>
      <p:sp>
        <p:nvSpPr>
          <p:cNvPr id="2" name="ZoneTexte 1">
            <a:extLst>
              <a:ext uri="{FF2B5EF4-FFF2-40B4-BE49-F238E27FC236}">
                <a16:creationId xmlns:a16="http://schemas.microsoft.com/office/drawing/2014/main" id="{F57127E2-3EE4-C75C-8E3C-0FF55ADB8E2D}"/>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advantage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higher</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load</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factor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pPr marL="285750" indent="-285750">
              <a:buFont typeface="Arial" panose="020B0604020202020204" pitchFamily="34" charset="0"/>
              <a:buChar char="•"/>
            </a:pPr>
            <a:r>
              <a:rPr lang="en-US"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Load Factor alone is an incomplete metric</a:t>
            </a:r>
          </a:p>
        </p:txBody>
      </p:sp>
    </p:spTree>
    <p:extLst>
      <p:ext uri="{BB962C8B-B14F-4D97-AF65-F5344CB8AC3E}">
        <p14:creationId xmlns:p14="http://schemas.microsoft.com/office/powerpoint/2010/main" val="2918221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E06361F-3654-0A76-330A-CF40AA5C34DD}"/>
            </a:ext>
          </a:extLst>
        </p:cNvPr>
        <p:cNvGrpSpPr/>
        <p:nvPr/>
      </p:nvGrpSpPr>
      <p:grpSpPr>
        <a:xfrm>
          <a:off x="0" y="0"/>
          <a:ext cx="0" cy="0"/>
          <a:chOff x="0" y="0"/>
          <a:chExt cx="0" cy="0"/>
        </a:xfrm>
      </p:grpSpPr>
      <p:pic>
        <p:nvPicPr>
          <p:cNvPr id="144" name="Google Shape;144;p17" descr="image.png">
            <a:extLst>
              <a:ext uri="{FF2B5EF4-FFF2-40B4-BE49-F238E27FC236}">
                <a16:creationId xmlns:a16="http://schemas.microsoft.com/office/drawing/2014/main" id="{DA216508-7574-01B0-7A2D-C3721BD198A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17" descr="image.png">
            <a:extLst>
              <a:ext uri="{FF2B5EF4-FFF2-40B4-BE49-F238E27FC236}">
                <a16:creationId xmlns:a16="http://schemas.microsoft.com/office/drawing/2014/main" id="{45E67004-B23B-197E-6F6B-BAF3C1588D73}"/>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146" name="Google Shape;146;p17">
            <a:extLst>
              <a:ext uri="{FF2B5EF4-FFF2-40B4-BE49-F238E27FC236}">
                <a16:creationId xmlns:a16="http://schemas.microsoft.com/office/drawing/2014/main" id="{7AF868B9-1D3D-9119-DA73-C95A8C2658F5}"/>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147" name="Google Shape;147;p17">
            <a:extLst>
              <a:ext uri="{FF2B5EF4-FFF2-40B4-BE49-F238E27FC236}">
                <a16:creationId xmlns:a16="http://schemas.microsoft.com/office/drawing/2014/main" id="{2B713C9C-2FB2-9327-CF51-DCC2FC84E4B7}"/>
              </a:ext>
            </a:extLst>
          </p:cNvPr>
          <p:cNvSpPr txBox="1"/>
          <p:nvPr/>
        </p:nvSpPr>
        <p:spPr>
          <a:xfrm>
            <a:off x="714375" y="476250"/>
            <a:ext cx="114513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0C2340"/>
                </a:solidFill>
                <a:latin typeface="Montserrat"/>
                <a:ea typeface="Montserrat"/>
                <a:cs typeface="Montserrat"/>
                <a:sym typeface="Montserrat"/>
              </a:rPr>
              <a:t>LOAD FACTOR</a:t>
            </a:r>
            <a:endParaRPr dirty="0"/>
          </a:p>
        </p:txBody>
      </p:sp>
      <p:sp>
        <p:nvSpPr>
          <p:cNvPr id="148" name="Google Shape;148;p17">
            <a:extLst>
              <a:ext uri="{FF2B5EF4-FFF2-40B4-BE49-F238E27FC236}">
                <a16:creationId xmlns:a16="http://schemas.microsoft.com/office/drawing/2014/main" id="{5E710A6F-7668-51FD-8729-CE747E863462}"/>
              </a:ext>
            </a:extLst>
          </p:cNvPr>
          <p:cNvSpPr/>
          <p:nvPr/>
        </p:nvSpPr>
        <p:spPr>
          <a:xfrm>
            <a:off x="571500" y="476250"/>
            <a:ext cx="47700" cy="447600"/>
          </a:xfrm>
          <a:prstGeom prst="rect">
            <a:avLst/>
          </a:prstGeom>
          <a:solidFill>
            <a:srgbClr val="E0AA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a:extLst>
              <a:ext uri="{FF2B5EF4-FFF2-40B4-BE49-F238E27FC236}">
                <a16:creationId xmlns:a16="http://schemas.microsoft.com/office/drawing/2014/main" id="{A0F666C9-0B4A-6744-405F-3B319DE1D3C1}"/>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pic>
        <p:nvPicPr>
          <p:cNvPr id="6" name="Image 5">
            <a:extLst>
              <a:ext uri="{FF2B5EF4-FFF2-40B4-BE49-F238E27FC236}">
                <a16:creationId xmlns:a16="http://schemas.microsoft.com/office/drawing/2014/main" id="{94DF9D41-2ED3-9085-B094-DBF1368110CB}"/>
              </a:ext>
            </a:extLst>
          </p:cNvPr>
          <p:cNvPicPr>
            <a:picLocks noChangeAspect="1"/>
          </p:cNvPicPr>
          <p:nvPr/>
        </p:nvPicPr>
        <p:blipFill>
          <a:blip r:embed="rId5"/>
          <a:stretch>
            <a:fillRect/>
          </a:stretch>
        </p:blipFill>
        <p:spPr>
          <a:xfrm>
            <a:off x="714376" y="3242130"/>
            <a:ext cx="1433402" cy="267244"/>
          </a:xfrm>
          <a:prstGeom prst="rect">
            <a:avLst/>
          </a:prstGeom>
        </p:spPr>
      </p:pic>
      <p:pic>
        <p:nvPicPr>
          <p:cNvPr id="5" name="Image 4">
            <a:extLst>
              <a:ext uri="{FF2B5EF4-FFF2-40B4-BE49-F238E27FC236}">
                <a16:creationId xmlns:a16="http://schemas.microsoft.com/office/drawing/2014/main" id="{DA7E7D97-040C-7772-26E1-4FE974239B98}"/>
              </a:ext>
            </a:extLst>
          </p:cNvPr>
          <p:cNvPicPr>
            <a:picLocks noChangeAspect="1"/>
          </p:cNvPicPr>
          <p:nvPr/>
        </p:nvPicPr>
        <p:blipFill>
          <a:blip r:embed="rId6"/>
          <a:stretch>
            <a:fillRect/>
          </a:stretch>
        </p:blipFill>
        <p:spPr>
          <a:xfrm>
            <a:off x="712657" y="1067251"/>
            <a:ext cx="3502738" cy="1989356"/>
          </a:xfrm>
          <a:prstGeom prst="rect">
            <a:avLst/>
          </a:prstGeom>
        </p:spPr>
      </p:pic>
      <p:pic>
        <p:nvPicPr>
          <p:cNvPr id="10" name="Image 9">
            <a:extLst>
              <a:ext uri="{FF2B5EF4-FFF2-40B4-BE49-F238E27FC236}">
                <a16:creationId xmlns:a16="http://schemas.microsoft.com/office/drawing/2014/main" id="{513C37A1-42E2-4910-7A2F-609301465A97}"/>
              </a:ext>
            </a:extLst>
          </p:cNvPr>
          <p:cNvPicPr>
            <a:picLocks noChangeAspect="1"/>
          </p:cNvPicPr>
          <p:nvPr/>
        </p:nvPicPr>
        <p:blipFill>
          <a:blip r:embed="rId7"/>
          <a:stretch>
            <a:fillRect/>
          </a:stretch>
        </p:blipFill>
        <p:spPr>
          <a:xfrm>
            <a:off x="712657" y="3694897"/>
            <a:ext cx="3502738" cy="2095852"/>
          </a:xfrm>
          <a:prstGeom prst="rect">
            <a:avLst/>
          </a:prstGeom>
        </p:spPr>
      </p:pic>
      <p:pic>
        <p:nvPicPr>
          <p:cNvPr id="16" name="Image 15">
            <a:extLst>
              <a:ext uri="{FF2B5EF4-FFF2-40B4-BE49-F238E27FC236}">
                <a16:creationId xmlns:a16="http://schemas.microsoft.com/office/drawing/2014/main" id="{354CECB8-1CF9-F645-4B3A-6A30038501FD}"/>
              </a:ext>
            </a:extLst>
          </p:cNvPr>
          <p:cNvPicPr>
            <a:picLocks noChangeAspect="1"/>
          </p:cNvPicPr>
          <p:nvPr/>
        </p:nvPicPr>
        <p:blipFill>
          <a:blip r:embed="rId8"/>
          <a:stretch>
            <a:fillRect/>
          </a:stretch>
        </p:blipFill>
        <p:spPr>
          <a:xfrm>
            <a:off x="5487557" y="1059432"/>
            <a:ext cx="5427186" cy="3777598"/>
          </a:xfrm>
          <a:prstGeom prst="rect">
            <a:avLst/>
          </a:prstGeom>
        </p:spPr>
      </p:pic>
      <p:sp>
        <p:nvSpPr>
          <p:cNvPr id="2" name="ZoneTexte 1">
            <a:extLst>
              <a:ext uri="{FF2B5EF4-FFF2-40B4-BE49-F238E27FC236}">
                <a16:creationId xmlns:a16="http://schemas.microsoft.com/office/drawing/2014/main" id="{2DCB8D11-79B6-BB6C-6257-5B4C4A935E6B}"/>
              </a:ext>
            </a:extLst>
          </p:cNvPr>
          <p:cNvSpPr txBox="1"/>
          <p:nvPr/>
        </p:nvSpPr>
        <p:spPr>
          <a:xfrm>
            <a:off x="5359879" y="5048269"/>
            <a:ext cx="6516930" cy="523220"/>
          </a:xfrm>
          <a:prstGeom prst="rect">
            <a:avLst/>
          </a:prstGeom>
          <a:noFill/>
        </p:spPr>
        <p:txBody>
          <a:bodyPr wrap="square" rtlCol="0">
            <a:spAutoFit/>
          </a:bodyPr>
          <a:lstStyle/>
          <a:p>
            <a:pPr marL="285750" indent="-285750">
              <a:buFont typeface="Arial" panose="020B0604020202020204" pitchFamily="34" charset="0"/>
              <a:buChar char="•"/>
            </a:pP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Buget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models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airlines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struggle to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secure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best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prices</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a:p>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Better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returns</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when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negociating</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most</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competitive</a:t>
            </a:r>
            <a:r>
              <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 fuel </a:t>
            </a:r>
            <a:r>
              <a:rPr lang="fr-FR" dirty="0" err="1">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rPr>
              <a:t>price</a:t>
            </a:r>
            <a:endParaRPr lang="fr-FR" dirty="0">
              <a:solidFill>
                <a:srgbClr val="0C2340"/>
              </a:solidFill>
              <a:latin typeface="Open Sans SemiBold" panose="020B0706030804020204" pitchFamily="34" charset="0"/>
              <a:ea typeface="Open Sans SemiBold" panose="020B0706030804020204" pitchFamily="34" charset="0"/>
              <a:cs typeface="Open Sans SemiBold" panose="020B0706030804020204" pitchFamily="34" charset="0"/>
              <a:sym typeface="Wingdings" panose="05000000000000000000" pitchFamily="2" charset="2"/>
            </a:endParaRPr>
          </a:p>
        </p:txBody>
      </p:sp>
    </p:spTree>
    <p:extLst>
      <p:ext uri="{BB962C8B-B14F-4D97-AF65-F5344CB8AC3E}">
        <p14:creationId xmlns:p14="http://schemas.microsoft.com/office/powerpoint/2010/main" val="653875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148C7E63-4DBB-7801-F45A-37FA4888D403}"/>
            </a:ext>
          </a:extLst>
        </p:cNvPr>
        <p:cNvGrpSpPr/>
        <p:nvPr/>
      </p:nvGrpSpPr>
      <p:grpSpPr>
        <a:xfrm>
          <a:off x="0" y="0"/>
          <a:ext cx="0" cy="0"/>
          <a:chOff x="0" y="0"/>
          <a:chExt cx="0" cy="0"/>
        </a:xfrm>
      </p:grpSpPr>
      <p:pic>
        <p:nvPicPr>
          <p:cNvPr id="84" name="Google Shape;84;p13" descr="image.png">
            <a:extLst>
              <a:ext uri="{FF2B5EF4-FFF2-40B4-BE49-F238E27FC236}">
                <a16:creationId xmlns:a16="http://schemas.microsoft.com/office/drawing/2014/main" id="{241C7FE0-6F7E-5D96-0E3D-400A8EEE6505}"/>
              </a:ext>
            </a:extLst>
          </p:cNvPr>
          <p:cNvPicPr preferRelativeResize="0"/>
          <p:nvPr/>
        </p:nvPicPr>
        <p:blipFill rotWithShape="1">
          <a:blip r:embed="rId3">
            <a:alphaModFix/>
          </a:blip>
          <a:srcRect/>
          <a:stretch/>
        </p:blipFill>
        <p:spPr>
          <a:xfrm>
            <a:off x="0" y="-7257"/>
            <a:ext cx="12192000" cy="6858000"/>
          </a:xfrm>
          <a:prstGeom prst="rect">
            <a:avLst/>
          </a:prstGeom>
          <a:noFill/>
          <a:ln>
            <a:noFill/>
          </a:ln>
        </p:spPr>
      </p:pic>
      <p:pic>
        <p:nvPicPr>
          <p:cNvPr id="85" name="Google Shape;85;p13" descr="image.png">
            <a:extLst>
              <a:ext uri="{FF2B5EF4-FFF2-40B4-BE49-F238E27FC236}">
                <a16:creationId xmlns:a16="http://schemas.microsoft.com/office/drawing/2014/main" id="{9EDAC777-B602-52A5-043F-F59450038E1F}"/>
              </a:ext>
            </a:extLst>
          </p:cNvPr>
          <p:cNvPicPr preferRelativeResize="0"/>
          <p:nvPr/>
        </p:nvPicPr>
        <p:blipFill rotWithShape="1">
          <a:blip r:embed="rId4">
            <a:alphaModFix/>
          </a:blip>
          <a:srcRect/>
          <a:stretch/>
        </p:blipFill>
        <p:spPr>
          <a:xfrm>
            <a:off x="571500" y="6086475"/>
            <a:ext cx="11049000" cy="295275"/>
          </a:xfrm>
          <a:prstGeom prst="rect">
            <a:avLst/>
          </a:prstGeom>
          <a:noFill/>
          <a:ln>
            <a:noFill/>
          </a:ln>
        </p:spPr>
      </p:pic>
      <p:sp>
        <p:nvSpPr>
          <p:cNvPr id="86" name="Google Shape;86;p13">
            <a:extLst>
              <a:ext uri="{FF2B5EF4-FFF2-40B4-BE49-F238E27FC236}">
                <a16:creationId xmlns:a16="http://schemas.microsoft.com/office/drawing/2014/main" id="{8BBD2938-2847-6FEC-0D25-8929ACDB7415}"/>
              </a:ext>
            </a:extLst>
          </p:cNvPr>
          <p:cNvSpPr txBox="1"/>
          <p:nvPr/>
        </p:nvSpPr>
        <p:spPr>
          <a:xfrm>
            <a:off x="571500" y="6238875"/>
            <a:ext cx="18573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Global Airline Industry</a:t>
            </a:r>
            <a:endParaRPr/>
          </a:p>
        </p:txBody>
      </p:sp>
      <p:sp>
        <p:nvSpPr>
          <p:cNvPr id="87" name="Google Shape;87;p13">
            <a:extLst>
              <a:ext uri="{FF2B5EF4-FFF2-40B4-BE49-F238E27FC236}">
                <a16:creationId xmlns:a16="http://schemas.microsoft.com/office/drawing/2014/main" id="{67D7BDA0-710B-0F7E-C590-36D0C1A1DF60}"/>
              </a:ext>
            </a:extLst>
          </p:cNvPr>
          <p:cNvSpPr txBox="1"/>
          <p:nvPr/>
        </p:nvSpPr>
        <p:spPr>
          <a:xfrm>
            <a:off x="9603450" y="6238875"/>
            <a:ext cx="20172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a:solidFill>
                  <a:srgbClr val="94A3B8"/>
                </a:solidFill>
                <a:latin typeface="Open Sans SemiBold"/>
                <a:ea typeface="Open Sans SemiBold"/>
                <a:cs typeface="Open Sans SemiBold"/>
                <a:sym typeface="Open Sans SemiBold"/>
              </a:rPr>
              <a:t>Financial Statement Analysis - Group 5</a:t>
            </a:r>
            <a:endParaRPr/>
          </a:p>
        </p:txBody>
      </p:sp>
      <p:sp>
        <p:nvSpPr>
          <p:cNvPr id="88" name="Google Shape;88;p13">
            <a:extLst>
              <a:ext uri="{FF2B5EF4-FFF2-40B4-BE49-F238E27FC236}">
                <a16:creationId xmlns:a16="http://schemas.microsoft.com/office/drawing/2014/main" id="{3D413C30-6144-1376-250C-9E90C6DB4825}"/>
              </a:ext>
            </a:extLst>
          </p:cNvPr>
          <p:cNvSpPr txBox="1"/>
          <p:nvPr/>
        </p:nvSpPr>
        <p:spPr>
          <a:xfrm>
            <a:off x="571500" y="2641475"/>
            <a:ext cx="11049000" cy="61555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a:solidFill>
                  <a:srgbClr val="0C2340"/>
                </a:solidFill>
                <a:latin typeface="Montserrat"/>
                <a:ea typeface="Montserrat"/>
                <a:cs typeface="Montserrat"/>
                <a:sym typeface="Montserrat"/>
              </a:rPr>
              <a:t>CONCLUSION</a:t>
            </a:r>
            <a:endParaRPr sz="4000" b="1" dirty="0">
              <a:solidFill>
                <a:srgbClr val="0C2340"/>
              </a:solidFill>
              <a:latin typeface="Montserrat"/>
              <a:ea typeface="Montserrat"/>
              <a:cs typeface="Montserrat"/>
              <a:sym typeface="Montserrat"/>
            </a:endParaRPr>
          </a:p>
        </p:txBody>
      </p:sp>
      <p:sp>
        <p:nvSpPr>
          <p:cNvPr id="89" name="Google Shape;89;p13">
            <a:extLst>
              <a:ext uri="{FF2B5EF4-FFF2-40B4-BE49-F238E27FC236}">
                <a16:creationId xmlns:a16="http://schemas.microsoft.com/office/drawing/2014/main" id="{9B29F98D-BCC2-AF40-6B6B-7DC11DB8D3CD}"/>
              </a:ext>
            </a:extLst>
          </p:cNvPr>
          <p:cNvSpPr txBox="1"/>
          <p:nvPr/>
        </p:nvSpPr>
        <p:spPr>
          <a:xfrm>
            <a:off x="571500" y="5825005"/>
            <a:ext cx="110490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rgbClr val="0C2340"/>
                </a:solidFill>
                <a:latin typeface="Montserrat"/>
                <a:ea typeface="Montserrat"/>
                <a:cs typeface="Montserrat"/>
                <a:sym typeface="Montserrat"/>
              </a:rPr>
              <a:t>GAVOILLE Ilona, PARK Chae Young, Kim Gayoung, LARIBI Sonia</a:t>
            </a:r>
            <a:endParaRPr sz="1200" b="1">
              <a:solidFill>
                <a:srgbClr val="0C2340"/>
              </a:solidFill>
              <a:latin typeface="Montserrat"/>
              <a:ea typeface="Montserrat"/>
              <a:cs typeface="Montserrat"/>
              <a:sym typeface="Montserrat"/>
            </a:endParaRPr>
          </a:p>
        </p:txBody>
      </p:sp>
    </p:spTree>
    <p:extLst>
      <p:ext uri="{BB962C8B-B14F-4D97-AF65-F5344CB8AC3E}">
        <p14:creationId xmlns:p14="http://schemas.microsoft.com/office/powerpoint/2010/main" val="384111923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1747</TotalTime>
  <Words>4914</Words>
  <Application>Microsoft Office PowerPoint</Application>
  <PresentationFormat>Grand écran</PresentationFormat>
  <Paragraphs>397</Paragraphs>
  <Slides>38</Slides>
  <Notes>38</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38</vt:i4>
      </vt:variant>
    </vt:vector>
  </HeadingPairs>
  <TitlesOfParts>
    <vt:vector size="45" baseType="lpstr">
      <vt:lpstr>Arial</vt:lpstr>
      <vt:lpstr>Montserrat</vt:lpstr>
      <vt:lpstr>Calibri</vt:lpstr>
      <vt:lpstr>Wingdings</vt:lpstr>
      <vt:lpstr>Open Sans SemiBold</vt:lpstr>
      <vt:lpstr>Open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Ilona GAVOILLE</dc:creator>
  <cp:lastModifiedBy>Ilona GAVOILLE</cp:lastModifiedBy>
  <cp:revision>37</cp:revision>
  <dcterms:modified xsi:type="dcterms:W3CDTF">2026-06-09T02:09:21Z</dcterms:modified>
</cp:coreProperties>
</file>